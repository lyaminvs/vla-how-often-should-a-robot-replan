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mp4" ContentType="video/mp4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d68dd77c145f4" /><Relationship Type="http://schemas.openxmlformats.org/officeDocument/2006/relationships/extended-properties" Target="/docProps/app.xml" Id="R94ce6f3b1873449e" /><Relationship Type="http://schemas.openxmlformats.org/officeDocument/2006/relationships/officeDocument" Target="/ppt/presentation.xml" Id="Rb5bba5980d214b8f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a03348e049364b45"/>
  </ns0:sldMasterIdLst>
  <ns0:sldIdLst>
    <ns0:sldId id="256" ns1:id="Rf518991684664f40"/>
    <ns0:sldId id="257" ns1:id="R70c3bd1186a748bc"/>
    <ns0:sldId id="258" ns1:id="Re0a32b40bfb64fd6"/>
    <ns0:sldId id="259" ns1:id="R5d4aaf88cac44b14"/>
    <ns0:sldId id="260" ns1:id="R5db7e0c126a342e8"/>
    <ns0:sldId id="261" ns1:id="R7d13cadfb975469a"/>
    <ns0:sldId id="262" ns1:id="R64e82c6f085e4d72"/>
    <ns0:sldId id="263" ns1:id="Rd8409d9193ce47a7"/>
    <ns0:sldId id="264" ns1:id="R8c139c1834524bd3"/>
    <ns0:sldId id="265" ns1:id="Ra30a1ba9e65d49bd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1e2399af1bab47b7" /><ns0:Relationship Type="http://schemas.openxmlformats.org/officeDocument/2006/relationships/slideMaster" Target="/ppt/slideMasters/slideMaster1.xml" Id="Ra03348e049364b45" /><ns0:Relationship Type="http://schemas.openxmlformats.org/officeDocument/2006/relationships/presProps" Target="/ppt/presProps.xml" Id="R5a22225868204365" /><ns0:Relationship Type="http://schemas.openxmlformats.org/officeDocument/2006/relationships/tableStyles" Target="/ppt/tableStyles.xml" Id="Ra323966501d945db" /><ns0:Relationship Type="http://schemas.openxmlformats.org/officeDocument/2006/relationships/slide" Target="/ppt/slides/slide1.xml" Id="Rf518991684664f40" /><ns0:Relationship Type="http://schemas.openxmlformats.org/officeDocument/2006/relationships/slide" Target="/ppt/slides/slide2.xml" Id="R70c3bd1186a748bc" /><ns0:Relationship Type="http://schemas.openxmlformats.org/officeDocument/2006/relationships/slide" Target="/ppt/slides/slide3.xml" Id="Re0a32b40bfb64fd6" /><ns0:Relationship Type="http://schemas.openxmlformats.org/officeDocument/2006/relationships/slide" Target="/ppt/slides/slide4.xml" Id="R5d4aaf88cac44b14" /><ns0:Relationship Type="http://schemas.openxmlformats.org/officeDocument/2006/relationships/slide" Target="/ppt/slides/slide5.xml" Id="R5db7e0c126a342e8" /><ns0:Relationship Type="http://schemas.openxmlformats.org/officeDocument/2006/relationships/slide" Target="/ppt/slides/slide6.xml" Id="R7d13cadfb975469a" /><ns0:Relationship Type="http://schemas.openxmlformats.org/officeDocument/2006/relationships/slide" Target="/ppt/slides/slide7.xml" Id="R64e82c6f085e4d72" /><ns0:Relationship Type="http://schemas.openxmlformats.org/officeDocument/2006/relationships/slide" Target="/ppt/slides/slide8.xml" Id="Rd8409d9193ce47a7" /><ns0:Relationship Type="http://schemas.openxmlformats.org/officeDocument/2006/relationships/slide" Target="/ppt/slides/slide9.xml" Id="R8c139c1834524bd3" /><ns0:Relationship Type="http://schemas.openxmlformats.org/officeDocument/2006/relationships/slide" Target="/ppt/slides/slide10.xml" Id="Ra30a1ba9e65d49bd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0f8db73b045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1ea3246f841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55127509d4d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a7feb391640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497aeac0b41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8663b0ea448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1A134B-C236-4B3B-8356-A754A0ABC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C5EA51-90B9-4491-9004-8AD7F09207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2C3923-FD80-487F-87A5-72680E377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A34D4-D20B-4A26-BCE1-229E3BDF7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9E2225-5E92-482E-AFDB-A76E0D11C9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CD2C03-C49F-4709-A71D-D908E1884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31A116-FF10-41CC-A3CC-F4BB35AFBD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FF9F80-65FF-4EBF-BF2A-9FB16B1E0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D03A8-D0D3-4EED-A4C0-704042CB6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2C1F43-859A-4C66-8AF7-15CC69308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62d39038a34dd3" /><Relationship Type="http://schemas.openxmlformats.org/officeDocument/2006/relationships/slideLayout" Target="/ppt/slideLayouts/slideLayout1.xml" Id="R673588dda98c4074" /><Relationship Type="http://schemas.openxmlformats.org/officeDocument/2006/relationships/slideLayout" Target="/ppt/slideLayouts/slideLayout2.xml" Id="Rfe9a91a7cd734746" /><Relationship Type="http://schemas.openxmlformats.org/officeDocument/2006/relationships/slideLayout" Target="/ppt/slideLayouts/slideLayout3.xml" Id="R657bf61023674dd6" /><Relationship Type="http://schemas.openxmlformats.org/officeDocument/2006/relationships/slideLayout" Target="/ppt/slideLayouts/slideLayout4.xml" Id="R5fd1014b1dad42bc" /><Relationship Type="http://schemas.openxmlformats.org/officeDocument/2006/relationships/slideLayout" Target="/ppt/slideLayouts/slideLayout5.xml" Id="R7cc1c8da606f4d8c" /><Relationship Type="http://schemas.openxmlformats.org/officeDocument/2006/relationships/slideLayout" Target="/ppt/slideLayouts/slideLayout6.xml" Id="Rc3b572f444f94b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3588dda98c4074"/>
    <p:sldLayoutId xmlns:r="http://schemas.openxmlformats.org/officeDocument/2006/relationships" id="2147483650" r:id="Rfe9a91a7cd734746"/>
    <p:sldLayoutId xmlns:r="http://schemas.openxmlformats.org/officeDocument/2006/relationships" id="2147483651" r:id="R657bf61023674dd6"/>
    <p:sldLayoutId xmlns:r="http://schemas.openxmlformats.org/officeDocument/2006/relationships" id="2147483652" r:id="R5fd1014b1dad42bc"/>
    <p:sldLayoutId xmlns:r="http://schemas.openxmlformats.org/officeDocument/2006/relationships" id="2147483653" r:id="R7cc1c8da606f4d8c"/>
    <p:sldLayoutId xmlns:r="http://schemas.openxmlformats.org/officeDocument/2006/relationships" id="2147483654" r:id="Rc3b572f444f94b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174a1b3aa554a8f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02f3d5a25e224b96" /><ns0:Relationship Type="http://schemas.openxmlformats.org/officeDocument/2006/relationships/image" Target="/ppt/media/image.png" Id="Rb5915af9f9954f6b" /><ns0:Relationship Id="rIdVideo1" Type="http://schemas.openxmlformats.org/officeDocument/2006/relationships/video" Target="../media/case_success_en.mp4" /><ns0:Relationship Id="rIdMedia1" Type="http://schemas.microsoft.com/office/2007/relationships/media" Target="../media/case_success_en.mp4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e8c98eb3c054ee4" /><ns0:Relationship Type="http://schemas.openxmlformats.org/officeDocument/2006/relationships/image" Target="/ppt/media/image2.png" Id="R53ca6a3cee494ff4" /><ns0:Relationship Id="rIdVideo1" Type="http://schemas.openxmlformats.org/officeDocument/2006/relationships/video" Target="../media/case_k1_k10_en.mp4" /><ns0:Relationship Id="rIdMedia1" Type="http://schemas.microsoft.com/office/2007/relationships/media" Target="../media/case_k1_k10_en.mp4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92227786a97492c" /><ns0:Relationship Type="http://schemas.openxmlformats.org/officeDocument/2006/relationships/image" Target="/ppt/media/image3.png" Id="R5f7f2bae4ca94705" /><ns0:Relationship Type="http://schemas.openxmlformats.org/officeDocument/2006/relationships/image" Target="/ppt/media/image4.png" Id="Rae0bb220ba5a4671" /><ns0:Relationship Type="http://schemas.openxmlformats.org/officeDocument/2006/relationships/image" Target="/ppt/media/image5.png" Id="R26f54f6ca23142d3" /><ns0:Relationship Type="http://schemas.openxmlformats.org/officeDocument/2006/relationships/image" Target="/ppt/media/image6.png" Id="R4843ed5826464eec" /><ns0:Relationship Type="http://schemas.openxmlformats.org/officeDocument/2006/relationships/image" Target="/ppt/media/image7.png" Id="Rfc478f0f540c4d2e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b778de9af5d4a88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fae20dd3b5a4709" /><ns0:Relationship Type="http://schemas.openxmlformats.org/officeDocument/2006/relationships/image" Target="/ppt/media/image12.png" Id="Rd3b51845785049f6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5980e21019d4107" /><ns0:Relationship Type="http://schemas.openxmlformats.org/officeDocument/2006/relationships/image" Target="/ppt/media/image8.png" Id="R760447d98ca64a6d" /><ns0:Relationship Type="http://schemas.openxmlformats.org/officeDocument/2006/relationships/image" Target="/ppt/media/image9.png" Id="R9792c10bee464283" /><ns0:Relationship Id="rIdVideo1" Type="http://schemas.openxmlformats.org/officeDocument/2006/relationships/video" Target="../media/case_soup_caps_en.mp4" /><ns0:Relationship Id="rIdMedia1" Type="http://schemas.microsoft.com/office/2007/relationships/media" Target="../media/case_soup_caps_en.mp4" /><ns0:Relationship Id="rIdVideo2" Type="http://schemas.openxmlformats.org/officeDocument/2006/relationships/video" Target="../media/case_bowl_caps_en.mp4" /><ns0:Relationship Id="rIdMedia2" Type="http://schemas.microsoft.com/office/2007/relationships/media" Target="../media/case_bowl_caps_en.mp4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148eee3ff6f04259" /><ns0:Relationship Type="http://schemas.openxmlformats.org/officeDocument/2006/relationships/image" Target="/ppt/media/image10.png" Id="Rc9c9aa43127540cd" /><ns0:Relationship Id="rIdVideo1" Type="http://schemas.openxmlformats.org/officeDocument/2006/relationships/video" Target="../media/case_moving_en.mp4" /><ns0:Relationship Id="rIdMedia1" Type="http://schemas.microsoft.com/office/2007/relationships/media" Target="../media/case_moving_en.mp4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494f7877003410b" /><ns0:Relationship Type="http://schemas.openxmlformats.org/officeDocument/2006/relationships/image" Target="/ppt/media/image11.png" Id="R89a1aee43cf74685" /><ns0:Relationship Id="rIdVideo1" Type="http://schemas.openxmlformats.org/officeDocument/2006/relationships/video" Target="../media/case_causal_en.mp4" /><ns0:Relationship Id="rIdMedia1" Type="http://schemas.microsoft.com/office/2007/relationships/media" Target="../media/case_causal_en.mp4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6d513964ad9449a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ns0:chartSpace xmlns:ns0="http://schemas.openxmlformats.org/drawingml/2006/chart" xmlns:ns1="http://schemas.openxmlformats.org/drawingml/2006/main" xmlns:r="http://schemas.openxmlformats.org/officeDocument/2006/relationships">
  <ns0:lang val="en-US"/>
  <ns0:chart>
    <ns0:plotArea>
      <ns0:scatterChart>
        <ns0:scatterStyle val="lineMarker"/>
        <ns0:varyColors val="0"/>
        <ns0:ser>
          <ns0:idx val="9"/>
          <ns0:order val="0"/>
          <ns0:tx>
            <ns0:v>Fixed K progression</ns0:v>
          </ns0:tx>
          <ns0:spPr>
            <ns1:ln w="19050">
              <ns1:solidFill>
                <ns1:srgbClr val="777777"/>
              </ns1:solidFill>
              <ns1:prstDash val="solid"/>
            </ns1:ln>
          </ns0:spPr>
          <ns0:marker>
            <ns0:symbol val="none"/>
          </ns0:marker>
          <ns0:xVal>
            <ns0:numRef>
              <ns0:f>'Chart Data'!$A$2:$A$3</ns0:f>
              <ns0:numCache>
                <ns0:formatCode>General</ns0:formatCode>
                <ns0:ptCount val="2"/>
                <ns0:pt idx="0">
                  <ns0:v>162</ns0:v>
                </ns0:pt>
                <ns0:pt idx="1">
                  <ns0:v>31.3</ns0:v>
                </ns0:pt>
              </ns0:numCache>
            </ns0:numRef>
          </ns0:xVal>
          <ns0:yVal>
            <ns0:numRef>
              <ns0:f>'Chart Data'!$B$2:$B$3</ns0:f>
              <ns0:numCache>
                <ns0:formatCode>General</ns0:formatCode>
                <ns0:ptCount val="2"/>
                <ns0:pt idx="0">
                  <ns0:v>23</ns0:v>
                </ns0:pt>
                <ns0:pt idx="1">
                  <ns0:v>26</ns0:v>
                </ns0:pt>
              </ns0:numCache>
            </ns0:numRef>
          </ns0:yVal>
          <ns0:smooth val="0"/>
        </ns0:ser>
        <ns0:ser>
          <ns0:idx val="10"/>
          <ns0:order val="1"/>
          <ns0:tx>
            <ns0:v>Fixed K progression</ns0:v>
          </ns0:tx>
          <ns0:spPr>
            <ns1:ln w="19050">
              <ns1:solidFill>
                <ns1:srgbClr val="777777"/>
              </ns1:solidFill>
              <ns1:prstDash val="solid"/>
            </ns1:ln>
          </ns0:spPr>
          <ns0:marker>
            <ns0:symbol val="none"/>
          </ns0:marker>
          <ns0:xVal>
            <ns0:numRef>
              <ns0:f>'Chart Data'!$C$2:$C$3</ns0:f>
              <ns0:numCache>
                <ns0:formatCode>General</ns0:formatCode>
                <ns0:ptCount val="2"/>
                <ns0:pt idx="0">
                  <ns0:v>31.3</ns0:v>
                </ns0:pt>
                <ns0:pt idx="1">
                  <ns0:v>15.5</ns0:v>
                </ns0:pt>
              </ns0:numCache>
            </ns0:numRef>
          </ns0:xVal>
          <ns0:yVal>
            <ns0:numRef>
              <ns0:f>'Chart Data'!$D$2:$D$3</ns0:f>
              <ns0:numCache>
                <ns0:formatCode>General</ns0:formatCode>
                <ns0:ptCount val="2"/>
                <ns0:pt idx="0">
                  <ns0:v>26</ns0:v>
                </ns0:pt>
                <ns0:pt idx="1">
                  <ns0:v>24</ns0:v>
                </ns0:pt>
              </ns0:numCache>
            </ns0:numRef>
          </ns0:yVal>
          <ns0:smooth val="0"/>
        </ns0:ser>
        <ns0:ser>
          <ns0:idx val="11"/>
          <ns0:order val="2"/>
          <ns0:tx>
            <ns0:v>Fixed K progression</ns0:v>
          </ns0:tx>
          <ns0:spPr>
            <ns1:ln w="19050">
              <ns1:solidFill>
                <ns1:srgbClr val="777777"/>
              </ns1:solidFill>
              <ns1:prstDash val="solid"/>
            </ns1:ln>
          </ns0:spPr>
          <ns0:marker>
            <ns0:symbol val="none"/>
          </ns0:marker>
          <ns0:xVal>
            <ns0:numRef>
              <ns0:f>'Chart Data'!$E$2:$E$3</ns0:f>
              <ns0:numCache>
                <ns0:formatCode>General</ns0:formatCode>
                <ns0:ptCount val="2"/>
                <ns0:pt idx="0">
                  <ns0:v>15.5</ns0:v>
                </ns0:pt>
                <ns0:pt idx="1">
                  <ns0:v>9.6</ns0:v>
                </ns0:pt>
              </ns0:numCache>
            </ns0:numRef>
          </ns0:xVal>
          <ns0:yVal>
            <ns0:numRef>
              <ns0:f>'Chart Data'!$F$2:$F$3</ns0:f>
              <ns0:numCache>
                <ns0:formatCode>General</ns0:formatCode>
                <ns0:ptCount val="2"/>
                <ns0:pt idx="0">
                  <ns0:v>24</ns0:v>
                </ns0:pt>
                <ns0:pt idx="1">
                  <ns0:v>11</ns0:v>
                </ns0:pt>
              </ns0:numCache>
            </ns0:numRef>
          </ns0:yVal>
          <ns0:smooth val="0"/>
        </ns0:ser>
        <ns0:ser>
          <ns0:idx val="12"/>
          <ns0:order val="3"/>
          <ns0:tx>
            <ns0:v>Fixed K progression</ns0:v>
          </ns0:tx>
          <ns0:spPr>
            <ns1:ln w="19050">
              <ns1:solidFill>
                <ns1:srgbClr val="777777"/>
              </ns1:solidFill>
              <ns1:prstDash val="solid"/>
            </ns1:ln>
          </ns0:spPr>
          <ns0:marker>
            <ns0:symbol val="none"/>
          </ns0:marker>
          <ns0:xVal>
            <ns0:numRef>
              <ns0:f>'Chart Data'!$G$2:$G$3</ns0:f>
              <ns0:numCache>
                <ns0:formatCode>General</ns0:formatCode>
                <ns0:ptCount val="2"/>
                <ns0:pt idx="0">
                  <ns0:v>9.6</ns0:v>
                </ns0:pt>
                <ns0:pt idx="1">
                  <ns0:v>5.1</ns0:v>
                </ns0:pt>
              </ns0:numCache>
            </ns0:numRef>
          </ns0:xVal>
          <ns0:yVal>
            <ns0:numRef>
              <ns0:f>'Chart Data'!$H$2:$H$3</ns0:f>
              <ns0:numCache>
                <ns0:formatCode>General</ns0:formatCode>
                <ns0:ptCount val="2"/>
                <ns0:pt idx="0">
                  <ns0:v>11</ns0:v>
                </ns0:pt>
                <ns0:pt idx="1">
                  <ns0:v>9</ns0:v>
                </ns0:pt>
              </ns0:numCache>
            </ns0:numRef>
          </ns0:yVal>
          <ns0:smooth val="0"/>
        </ns0:ser>
        <ns0:ser>
          <ns0:idx val="13"/>
          <ns0:order val="4"/>
          <ns0:tx>
            <ns0:v>DVAC cap progression</ns0:v>
          </ns0:tx>
          <ns0:spPr>
            <ns1:ln w="19050">
              <ns1:solidFill>
                <ns1:srgbClr val="315C78"/>
              </ns1:solidFill>
              <ns1:prstDash val="dash"/>
            </ns1:ln>
          </ns0:spPr>
          <ns0:marker>
            <ns0:symbol val="none"/>
          </ns0:marker>
          <ns0:xVal>
            <ns0:numRef>
              <ns0:f>'Chart Data'!$I$2:$I$3</ns0:f>
              <ns0:numCache>
                <ns0:formatCode>General</ns0:formatCode>
                <ns0:ptCount val="2"/>
                <ns0:pt idx="0">
                  <ns0:v>40.2</ns0:v>
                </ns0:pt>
                <ns0:pt idx="1">
                  <ns0:v>26.4</ns0:v>
                </ns0:pt>
              </ns0:numCache>
            </ns0:numRef>
          </ns0:xVal>
          <ns0:yVal>
            <ns0:numRef>
              <ns0:f>'Chart Data'!$J$2:$J$3</ns0:f>
              <ns0:numCache>
                <ns0:formatCode>General</ns0:formatCode>
                <ns0:ptCount val="2"/>
                <ns0:pt idx="0">
                  <ns0:v>27</ns0:v>
                </ns0:pt>
                <ns0:pt idx="1">
                  <ns0:v>25</ns0:v>
                </ns0:pt>
              </ns0:numCache>
            </ns0:numRef>
          </ns0:yVal>
          <ns0:smooth val="0"/>
        </ns0:ser>
        <ns0:ser>
          <ns0:idx val="14"/>
          <ns0:order val="5"/>
          <ns0:tx>
            <ns0:v>DVAC cap progression</ns0:v>
          </ns0:tx>
          <ns0:spPr>
            <ns1:ln w="19050">
              <ns1:solidFill>
                <ns1:srgbClr val="315C78"/>
              </ns1:solidFill>
              <ns1:prstDash val="dash"/>
            </ns1:ln>
          </ns0:spPr>
          <ns0:marker>
            <ns0:symbol val="none"/>
          </ns0:marker>
          <ns0:xVal>
            <ns0:numRef>
              <ns0:f>'Chart Data'!$K$2:$K$3</ns0:f>
              <ns0:numCache>
                <ns0:formatCode>General</ns0:formatCode>
                <ns0:ptCount val="2"/>
                <ns0:pt idx="0">
                  <ns0:v>26.4</ns0:v>
                </ns0:pt>
                <ns0:pt idx="1">
                  <ns0:v>14.1</ns0:v>
                </ns0:pt>
              </ns0:numCache>
            </ns0:numRef>
          </ns0:xVal>
          <ns0:yVal>
            <ns0:numRef>
              <ns0:f>'Chart Data'!$L$2:$L$3</ns0:f>
              <ns0:numCache>
                <ns0:formatCode>General</ns0:formatCode>
                <ns0:ptCount val="2"/>
                <ns0:pt idx="0">
                  <ns0:v>25</ns0:v>
                </ns0:pt>
                <ns0:pt idx="1">
                  <ns0:v>25</ns0:v>
                </ns0:pt>
              </ns0:numCache>
            </ns0:numRef>
          </ns0:yVal>
          <ns0:smooth val="0"/>
        </ns0:ser>
        <ns0:ser>
          <ns0:idx val="15"/>
          <ns0:order val="6"/>
          <ns0:tx>
            <ns0:v>DVAC cap progression</ns0:v>
          </ns0:tx>
          <ns0:spPr>
            <ns1:ln w="19050">
              <ns1:solidFill>
                <ns1:srgbClr val="315C78"/>
              </ns1:solidFill>
              <ns1:prstDash val="dash"/>
            </ns1:ln>
          </ns0:spPr>
          <ns0:marker>
            <ns0:symbol val="none"/>
          </ns0:marker>
          <ns0:xVal>
            <ns0:numRef>
              <ns0:f>'Chart Data'!$M$2:$M$3</ns0:f>
              <ns0:numCache>
                <ns0:formatCode>General</ns0:formatCode>
                <ns0:ptCount val="2"/>
                <ns0:pt idx="0">
                  <ns0:v>14.1</ns0:v>
                </ns0:pt>
                <ns0:pt idx="1">
                  <ns0:v>9.5</ns0:v>
                </ns0:pt>
              </ns0:numCache>
            </ns0:numRef>
          </ns0:xVal>
          <ns0:yVal>
            <ns0:numRef>
              <ns0:f>'Chart Data'!$N$2:$N$3</ns0:f>
              <ns0:numCache>
                <ns0:formatCode>General</ns0:formatCode>
                <ns0:ptCount val="2"/>
                <ns0:pt idx="0">
                  <ns0:v>25</ns0:v>
                </ns0:pt>
                <ns0:pt idx="1">
                  <ns0:v>25</ns0:v>
                </ns0:pt>
              </ns0:numCache>
            </ns0:numRef>
          </ns0:yVal>
          <ns0:smooth val="0"/>
        </ns0:ser>
        <ns0:ser>
          <ns0:idx val="0"/>
          <ns0:order val="7"/>
          <ns0:tx>
            <ns0:v>K=1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r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Data'!$O$2:$O$2</ns0:f>
              <ns0:numCache>
                <ns0:formatCode>General</ns0:formatCode>
                <ns0:ptCount val="1"/>
                <ns0:pt idx="0">
                  <ns0:v>162</ns0:v>
                </ns0:pt>
              </ns0:numCache>
            </ns0:numRef>
          </ns0:xVal>
          <ns0:yVal>
            <ns0:numRef>
              <ns0:f>'Chart Data'!$P$2:$P$2</ns0:f>
              <ns0:numCache>
                <ns0:formatCode>0</ns0:formatCode>
                <ns0:ptCount val="1"/>
                <ns0:pt idx="0">
                  <ns0:v>23</ns0:v>
                </ns0:pt>
              </ns0:numCache>
            </ns0:numRef>
          </ns0:yVal>
        </ns0:ser>
        <ns0:ser>
          <ns0:idx val="1"/>
          <ns0:order val="8"/>
          <ns0:tx>
            <ns0:v>K=5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Data'!$Q$2:$Q$2</ns0:f>
              <ns0:numCache>
                <ns0:formatCode>General</ns0:formatCode>
                <ns0:ptCount val="1"/>
                <ns0:pt idx="0">
                  <ns0:v>31.3</ns0:v>
                </ns0:pt>
              </ns0:numCache>
            </ns0:numRef>
          </ns0:xVal>
          <ns0:yVal>
            <ns0:numRef>
              <ns0:f>'Chart Data'!$R$2:$R$2</ns0:f>
              <ns0:numCache>
                <ns0:formatCode>0</ns0:formatCode>
                <ns0:ptCount val="1"/>
                <ns0:pt idx="0">
                  <ns0:v>26</ns0:v>
                </ns0:pt>
              </ns0:numCache>
            </ns0:numRef>
          </ns0:yVal>
        </ns0:ser>
        <ns0:ser>
          <ns0:idx val="2"/>
          <ns0:order val="9"/>
          <ns0:tx>
            <ns0:v>K=10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Data'!$S$2:$S$2</ns0:f>
              <ns0:numCache>
                <ns0:formatCode>General</ns0:formatCode>
                <ns0:ptCount val="1"/>
                <ns0:pt idx="0">
                  <ns0:v>15.5</ns0:v>
                </ns0:pt>
              </ns0:numCache>
            </ns0:numRef>
          </ns0:xVal>
          <ns0:yVal>
            <ns0:numRef>
              <ns0:f>'Chart Data'!$T$2:$T$2</ns0:f>
              <ns0:numCache>
                <ns0:formatCode>0</ns0:formatCode>
                <ns0:ptCount val="1"/>
                <ns0:pt idx="0">
                  <ns0:v>24</ns0:v>
                </ns0:pt>
              </ns0:numCache>
            </ns0:numRef>
          </ns0:yVal>
        </ns0:ser>
        <ns0:ser>
          <ns0:idx val="3"/>
          <ns0:order val="10"/>
          <ns0:tx>
            <ns0:v>K=25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Data'!$U$2:$U$2</ns0:f>
              <ns0:numCache>
                <ns0:formatCode>General</ns0:formatCode>
                <ns0:ptCount val="1"/>
                <ns0:pt idx="0">
                  <ns0:v>9.6</ns0:v>
                </ns0:pt>
              </ns0:numCache>
            </ns0:numRef>
          </ns0:xVal>
          <ns0:yVal>
            <ns0:numRef>
              <ns0:f>'Chart Data'!$V$2:$V$2</ns0:f>
              <ns0:numCache>
                <ns0:formatCode>0</ns0:formatCode>
                <ns0:ptCount val="1"/>
                <ns0:pt idx="0">
                  <ns0:v>11</ns0:v>
                </ns0:pt>
              </ns0:numCache>
            </ns0:numRef>
          </ns0:yVal>
        </ns0:ser>
        <ns0:ser>
          <ns0:idx val="4"/>
          <ns0:order val="11"/>
          <ns0:tx>
            <ns0:v>K=50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Data'!$W$2:$W$2</ns0:f>
              <ns0:numCache>
                <ns0:formatCode>General</ns0:formatCode>
                <ns0:ptCount val="1"/>
                <ns0:pt idx="0">
                  <ns0:v>5.1</ns0:v>
                </ns0:pt>
              </ns0:numCache>
            </ns0:numRef>
          </ns0:xVal>
          <ns0:yVal>
            <ns0:numRef>
              <ns0:f>'Chart Data'!$X$2:$X$2</ns0:f>
              <ns0:numCache>
                <ns0:formatCode>0</ns0:formatCode>
                <ns0:ptCount val="1"/>
                <ns0:pt idx="0">
                  <ns0:v>9</ns0:v>
                </ns0:pt>
              </ns0:numCache>
            </ns0:numRef>
          </ns0:yVal>
        </ns0:ser>
        <ns0:ser>
          <ns0:idx val="5"/>
          <ns0:order val="12"/>
          <ns0:tx>
            <ns0:v>DVAC C=5</ns0:v>
          </ns0:tx>
          <ns0:spPr>
            <ns1:ln w="0">
              <ns1:noFill/>
            </ns1:ln>
          </ns0:spPr>
          <ns0:marker>
            <ns0:symbol val="diamond"/>
            <ns0:size val="10"/>
            <ns0:spPr>
              <ns1:solidFill>
                <ns1:srgbClr val="315C78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Data'!$Y$2:$Y$2</ns0:f>
              <ns0:numCache>
                <ns0:formatCode>General</ns0:formatCode>
                <ns0:ptCount val="1"/>
                <ns0:pt idx="0">
                  <ns0:v>40.2</ns0:v>
                </ns0:pt>
              </ns0:numCache>
            </ns0:numRef>
          </ns0:xVal>
          <ns0:yVal>
            <ns0:numRef>
              <ns0:f>'Chart Data'!$Z$2:$Z$2</ns0:f>
              <ns0:numCache>
                <ns0:formatCode>0</ns0:formatCode>
                <ns0:ptCount val="1"/>
                <ns0:pt idx="0">
                  <ns0:v>27</ns0:v>
                </ns0:pt>
              </ns0:numCache>
            </ns0:numRef>
          </ns0:yVal>
        </ns0:ser>
        <ns0:ser>
          <ns0:idx val="6"/>
          <ns0:order val="13"/>
          <ns0:tx>
            <ns0:v>DVAC C=10</ns0:v>
          </ns0:tx>
          <ns0:spPr>
            <ns1:ln w="0">
              <ns1:noFill/>
            </ns1:ln>
          </ns0:spPr>
          <ns0:marker>
            <ns0:symbol val="diamond"/>
            <ns0:size val="10"/>
            <ns0:spPr>
              <ns1:solidFill>
                <ns1:srgbClr val="315C78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l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Data'!$AA$2:$AA$2</ns0:f>
              <ns0:numCache>
                <ns0:formatCode>General</ns0:formatCode>
                <ns0:ptCount val="1"/>
                <ns0:pt idx="0">
                  <ns0:v>26.4</ns0:v>
                </ns0:pt>
              </ns0:numCache>
            </ns0:numRef>
          </ns0:xVal>
          <ns0:yVal>
            <ns0:numRef>
              <ns0:f>'Chart Data'!$AB$2:$AB$2</ns0:f>
              <ns0:numCache>
                <ns0:formatCode>0</ns0:formatCode>
                <ns0:ptCount val="1"/>
                <ns0:pt idx="0">
                  <ns0:v>25</ns0:v>
                </ns0:pt>
              </ns0:numCache>
            </ns0:numRef>
          </ns0:yVal>
        </ns0:ser>
        <ns0:ser>
          <ns0:idx val="7"/>
          <ns0:order val="14"/>
          <ns0:tx>
            <ns0:v>DVAC C=25</ns0:v>
          </ns0:tx>
          <ns0:spPr>
            <ns1:ln w="0">
              <ns1:noFill/>
            </ns1:ln>
          </ns0:spPr>
          <ns0:marker>
            <ns0:symbol val="diamond"/>
            <ns0:size val="10"/>
            <ns0:spPr>
              <ns1:solidFill>
                <ns1:srgbClr val="315C78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Data'!$AC$2:$AC$2</ns0:f>
              <ns0:numCache>
                <ns0:formatCode>General</ns0:formatCode>
                <ns0:ptCount val="1"/>
                <ns0:pt idx="0">
                  <ns0:v>14.1</ns0:v>
                </ns0:pt>
              </ns0:numCache>
            </ns0:numRef>
          </ns0:xVal>
          <ns0:yVal>
            <ns0:numRef>
              <ns0:f>'Chart Data'!$AD$2:$AD$2</ns0:f>
              <ns0:numCache>
                <ns0:formatCode>0</ns0:formatCode>
                <ns0:ptCount val="1"/>
                <ns0:pt idx="0">
                  <ns0:v>25</ns0:v>
                </ns0:pt>
              </ns0:numCache>
            </ns0:numRef>
          </ns0:yVal>
        </ns0:ser>
        <ns0:ser>
          <ns0:idx val="8"/>
          <ns0:order val="15"/>
          <ns0:tx>
            <ns0:v>DVAC C=50</ns0:v>
          </ns0:tx>
          <ns0:spPr>
            <ns1:ln w="0">
              <ns1:noFill/>
            </ns1:ln>
          </ns0:spPr>
          <ns0:marker>
            <ns0:symbol val="diamond"/>
            <ns0:size val="10"/>
            <ns0:spPr>
              <ns1:solidFill>
                <ns1:srgbClr val="315C78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Data'!$AE$2:$AE$2</ns0:f>
              <ns0:numCache>
                <ns0:formatCode>General</ns0:formatCode>
                <ns0:ptCount val="1"/>
                <ns0:pt idx="0">
                  <ns0:v>9.5</ns0:v>
                </ns0:pt>
              </ns0:numCache>
            </ns0:numRef>
          </ns0:xVal>
          <ns0:yVal>
            <ns0:numRef>
              <ns0:f>'Chart Data'!$AF$2:$AF$2</ns0:f>
              <ns0:numCache>
                <ns0:formatCode>0</ns0:formatCode>
                <ns0:ptCount val="1"/>
                <ns0:pt idx="0">
                  <ns0:v>25</ns0:v>
                </ns0:pt>
              </ns0:numCache>
            </ns0:numRef>
          </ns0:yVal>
        </ns0:ser>
        <ns0:dLbls>
          <ns0:txPr>
            <ns1:bodyPr anchorCtr="1"/>
            <ns1:lstStyle/>
            <ns1:p>
              <ns1:pPr>
                <ns1:defRPr>
                  <ns1:latin typeface="Arial"/>
                  <ns1:ea typeface="Arial"/>
                  <ns1:cs typeface="Arial"/>
                </ns1:defRPr>
              </ns1:pPr>
            </ns1:p>
          </ns0:txPr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axId val="48650112"/>
        <ns0:axId val="48672768"/>
      </ns0:scatterChart>
      <ns0:valAx>
        <ns0:axId val="48672768"/>
        <ns0:scaling>
          <ns0:orientation val="minMax"/>
          <ns0:max val="30"/>
          <ns0:min val="5"/>
        </ns0:scaling>
        <ns0:delete val="0"/>
        <ns0:axPos val="l"/>
        <ns0:majorGridlines>
          <ns0:spPr>
            <ns1:ln w="4763">
              <ns1:solidFill>
                <ns1:srgbClr val="E1E1E1"/>
              </ns1:solidFill>
            </ns1:ln>
          </ns0:spPr>
        </ns0:majorGridlines>
        <ns0:title>
          <ns0:tx>
            <ns0:rich>
              <ns1:bodyPr/>
              <ns1:lstStyle/>
              <ns1:p>
                <ns1:r>
                  <ns1:rPr sz="1500">
                    <ns1:latin typeface="Arial"/>
                    <ns1:ea typeface="Arial"/>
                    <ns1:cs typeface="Arial"/>
                  </ns1:rPr>
                  <ns1:t>Successful episodes / 30</ns1:t>
                </ns1:r>
              </ns1:p>
            </ns0:rich>
          </ns0:tx>
          <ns0:overlay val="0"/>
          <ns0:txPr>
            <ns1:bodyPr anchorCtr="1"/>
            <ns1:lstStyle/>
            <ns1:p>
              <ns1:pPr>
                <ns1:defRPr sz="1500">
                  <ns1:latin typeface="Arial"/>
                  <ns1:ea typeface="Arial"/>
                  <ns1:cs typeface="Arial"/>
                </ns1:defRPr>
              </ns1:pPr>
            </ns1:p>
          </ns0:txPr>
        </ns0:title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35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ns0:txPr>
        <ns0:crossAx val="48650112"/>
        <ns0:majorUnit val="5"/>
      </ns0:valAx>
      <ns0:valAx>
        <ns0:axId val="48650112"/>
        <ns0:scaling>
          <ns0:logBase val="10"/>
          <ns0:orientation val="minMax"/>
          <ns0:max val="230"/>
          <ns0:min val="1"/>
        </ns0:scaling>
        <ns0:delete val="0"/>
        <ns0:axPos val="b"/>
        <ns0:majorGridlines>
          <ns0:spPr>
            <ns1:ln w="4763">
              <ns1:solidFill>
                <ns1:srgbClr val="E1E1E1"/>
              </ns1:solidFill>
            </ns1:ln>
          </ns0:spPr>
        </ns0:majorGridlines>
        <ns0:title>
          <ns0:tx>
            <ns0:rich>
              <ns1:bodyPr/>
              <ns1:lstStyle/>
              <ns1:p>
                <ns1:r>
                  <ns1:rPr sz="1500">
                    <ns1:latin typeface="Arial"/>
                    <ns1:ea typeface="Arial"/>
                    <ns1:cs typeface="Arial"/>
                  </ns1:rPr>
                  <ns1:t>Mean policy calls per episode (log scale)</ns1:t>
                </ns1:r>
              </ns1:p>
            </ns0:rich>
          </ns0:tx>
          <ns0:overlay val="0"/>
          <ns0:txPr>
            <ns1:bodyPr anchorCtr="1"/>
            <ns1:lstStyle/>
            <ns1:p>
              <ns1:pPr>
                <ns1:defRPr sz="1500">
                  <ns1:latin typeface="Arial"/>
                  <ns1:ea typeface="Arial"/>
                  <ns1:cs typeface="Arial"/>
                </ns1:defRPr>
              </ns1:pPr>
            </ns1:p>
          </ns0:txPr>
        </ns0:title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35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ns0:txPr>
        <ns0:crossAx val="48672768"/>
      </ns0:valAx>
    </ns0:plotArea>
    <ns0:plotVisOnly val="1"/>
  </ns0:chart>
  <ns0:externalData r:id="rIdChartSnapshot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C8C7C-797C-4B1D-A8D5-A6DC3D2E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How often should a robot replan?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5CA63-FB20-442E-85FE-2B5473B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E985C-E8E2-4764-8BB5-623BE44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Execution-prefix length for SmolVLA in LIBERO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EE429-ADF0-4FDB-84AD-477047DA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Research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2A4C1-DE16-4BE3-AA37-CB094858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policy call predicts 50 actions. The executor decides how many to execute.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shorter prefix obtains fresh feedback sooner but requires more policy calls.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A4BA6-2935-4249-B8F0-2A382DC9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Experimental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9ABE8-3297-4B5F-8991-1BF6133C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339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How do fixed execution intervals and adaptive DVAC affect task success</a:t>
            </a:r>
          </a:p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and policy-call cost when they start from the same physical situations?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0321C-1A21-48AA-B44C-A150675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Amir Sadreev and Vasilii Liamin</a:t>
            </a:r>
          </a:p>
        </p:txBody>
      </p:sp>
    </p:spTree>
    <p:extLst>
      <p:ext uri="{BB962C8B-B14F-4D97-AF65-F5344CB8AC3E}">
        <p14:creationId xmlns:p14="http://schemas.microsoft.com/office/powerpoint/2010/main" val="1076987639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A5B862A5-1CCD-482A-98D6-DF3DC2130CE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Policy input, pretrained SmolVLA, and the simulator</a:t>
            </a:r>
          </a:p>
        </p:txBody>
      </p:sp>
      <p:sp>
        <p:nvSpPr>
          <p:cNvPr id="2" name="">
            <a:extLst>
              <a:ext uri="{FF2B5EF4-FFF2-40B4-BE49-F238E27FC236}">
                <ns2:creationId id="{6828236B-DE37-4BCE-A490-A8B061C298E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pic>
        <p:nvPicPr>
          <p:cNvPr id="3" name="Video case_success_en" descr="case_success_en">
            <a:hlinkClick action="ppaction://media"/>
            <a:extLst>
              <a:ext uri="{FF2B5EF4-FFF2-40B4-BE49-F238E27FC236}">
                <ns2:creationId id="{88CD7C78-BDDF-4F46-848F-1BB231075C77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b5915af9f9954f6b"/>
          <a:stretch/>
        </p:blipFill>
        <p:spPr>
          <a:xfrm>
            <a:off x="533400" y="1457325"/>
            <a:ext cx="5314950" cy="354330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0726BB8D-8E1D-4377-B87C-F2AF0BEBA2F5}"/>
              </a:ext>
            </a:extLst>
          </p:cNvPr>
          <p:cNvSpPr>
            <a:spLocks noGrp="1"/>
          </p:cNvSpPr>
          <p:nvPr/>
        </p:nvSpPr>
        <p:spPr>
          <a:xfrm>
            <a:off x="533400" y="5057775"/>
            <a:ext cx="531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soup can into basket, K=10, 6.9 s</a:t>
            </a:r>
          </a:p>
        </p:txBody>
      </p:sp>
      <p:sp>
        <p:nvSpPr>
          <p:cNvPr id="5" name="">
            <a:extLst>
              <a:ext uri="{FF2B5EF4-FFF2-40B4-BE49-F238E27FC236}">
                <ns2:creationId id="{0D04130A-36D2-4F6F-833A-9449A4910031}"/>
              </a:ext>
            </a:extLst>
          </p:cNvPr>
          <p:cNvSpPr>
            <a:spLocks noGrp="1"/>
          </p:cNvSpPr>
          <p:nvPr/>
        </p:nvSpPr>
        <p:spPr>
          <a:xfrm>
            <a:off x="533400" y="5429250"/>
            <a:ext cx="5286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Left: external camera. Right: wrist camera.</a:t>
            </a:r>
          </a:p>
          <a:p>
            <a: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Each observation contains two 256×256 RGB images.</a:t>
            </a:r>
          </a:p>
        </p:txBody>
      </p:sp>
      <p:sp>
        <p:nvSpPr>
          <p:cNvPr id="6" name="">
            <a:extLst>
              <a:ext uri="{FF2B5EF4-FFF2-40B4-BE49-F238E27FC236}">
                <ns2:creationId id="{A936FD47-219B-4592-8C41-EDC825CCC0D9}"/>
              </a:ext>
            </a:extLst>
          </p:cNvPr>
          <p:cNvSpPr>
            <a:spLocks noGrp="1"/>
          </p:cNvSpPr>
          <p:nvPr/>
        </p:nvSpPr>
        <p:spPr>
          <a:xfrm>
            <a:off x="6286500" y="1438275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Input at each replanning call</a:t>
            </a:r>
          </a:p>
        </p:txBody>
      </p:sp>
      <p:sp>
        <p:nvSpPr>
          <p:cNvPr id="7" name="">
            <a:extLst>
              <a:ext uri="{FF2B5EF4-FFF2-40B4-BE49-F238E27FC236}">
                <ns2:creationId id="{A966D2E9-55C0-43D1-8E54-5D8191A9737E}"/>
              </a:ext>
            </a:extLst>
          </p:cNvPr>
          <p:cNvSpPr>
            <a:spLocks noGrp="1"/>
          </p:cNvSpPr>
          <p:nvPr/>
        </p:nvSpPr>
        <p:spPr>
          <a:xfrm>
            <a:off x="6286500" y="1914525"/>
            <a:ext cx="528637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Vision–Language–Action (VLA) takes:</a:t>
            </a:r>
          </a:p>
          <a:p>
            <a: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Two images, a task instruction, and robot state.</a:t>
            </a:r>
          </a:p>
          <a:p>
            <a: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State = [x,y,z, rx,ry,rz, gL,gR] (8 numbers).</a:t>
            </a:r>
          </a:p>
        </p:txBody>
      </p:sp>
      <p:sp>
        <p:nvSpPr>
          <p:cNvPr id="8" name="">
            <a:extLst>
              <a:ext uri="{FF2B5EF4-FFF2-40B4-BE49-F238E27FC236}">
                <ns2:creationId id="{530D62A1-8D31-40E0-8D09-E4F32C47AA32}"/>
              </a:ext>
            </a:extLst>
          </p:cNvPr>
          <p:cNvSpPr>
            <a:spLocks noGrp="1"/>
          </p:cNvSpPr>
          <p:nvPr/>
        </p:nvSpPr>
        <p:spPr>
          <a:xfrm>
            <a:off x="6286500" y="322897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Robot state and task instruction</a:t>
            </a:r>
          </a:p>
        </p:txBody>
      </p:sp>
      <p:sp>
        <p:nvSpPr>
          <p:cNvPr id="9" name="">
            <a:extLst>
              <a:ext uri="{FF2B5EF4-FFF2-40B4-BE49-F238E27FC236}">
                <ns2:creationId id="{E55911D4-2696-4857-8591-713A52167E8D}"/>
              </a:ext>
            </a:extLst>
          </p:cNvPr>
          <p:cNvSpPr>
            <a:spLocks noGrp="1"/>
          </p:cNvSpPr>
          <p:nvPr/>
        </p:nvSpPr>
        <p:spPr>
          <a:xfrm>
            <a:off x="6286500" y="3705225"/>
            <a:ext cx="5238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Position: x,y,z. Orientation: axis-angle rx,ry,rz.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gL,gR: positions of the two gripper fingers.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Text: “pick up the alphabet soup and place it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 the basket”. We use pretrained weights.</a:t>
            </a:r>
          </a:p>
        </p:txBody>
      </p:sp>
      <p:sp>
        <p:nvSpPr>
          <p:cNvPr id="10" name="">
            <a:extLst>
              <a:ext uri="{FF2B5EF4-FFF2-40B4-BE49-F238E27FC236}">
                <ns2:creationId id="{E4069798-B055-4393-B760-10E99DFF39C4}"/>
              </a:ext>
            </a:extLst>
          </p:cNvPr>
          <p:cNvSpPr>
            <a:spLocks noGrp="1"/>
          </p:cNvSpPr>
          <p:nvPr/>
        </p:nvSpPr>
        <p:spPr>
          <a:xfrm>
            <a:off x="6286500" y="5124450"/>
            <a:ext cx="52387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Output: 50 relative 7D actions.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 translations + 3 rotations + 1 gripper command.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LIBERO executes commands; MuJoCo updates physics.</a:t>
            </a:r>
          </a:p>
        </p:txBody>
      </p:sp>
    </p:spTree>
    <p:extLst>
      <p:ext uri="{BB962C8B-B14F-4D97-AF65-F5344CB8AC3E}">
        <p14:creationId val="130341974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44100D2E-0F5B-47CB-BD64-9A1D72B1971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Action generation and execution: H, M, K, and C</a:t>
            </a:r>
          </a:p>
        </p:txBody>
      </p:sp>
      <p:sp>
        <p:nvSpPr>
          <p:cNvPr id="2" name="">
            <a:extLst>
              <a:ext uri="{FF2B5EF4-FFF2-40B4-BE49-F238E27FC236}">
                <ns2:creationId id="{AD42989B-6DE2-41E6-880F-177B25E22473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graphicFrame>
        <p:nvGraphicFramePr>
          <p:cNvPr id="3" name="">
            <a:extLst>
              <a:ext uri="{FF2B5EF4-FFF2-40B4-BE49-F238E27FC236}">
                <ns2:creationId id="{BA7204E2-C580-46A2-BEBB-1F62249E9D24}"/>
              </a:ext>
            </a:extLst>
          </p:cNvPr>
          <p:cNvGraphicFramePr/>
          <p:nvPr/>
        </p:nvGraphicFramePr>
        <p:xfrm>
          <a:off x="533400" y="1428750"/>
          <a:ext cx="11125200" cy="2266950"/>
        </p:xfrm>
        <a:graphic>
          <a:graphicData uri="http://schemas.openxmlformats.org/drawingml/2006/table">
            <a:tbl>
              <a:tblPr/>
              <a:tblGrid>
                <a:gridCol w="1571625"/>
                <a:gridCol w="6953250"/>
                <a:gridCol w="2600325"/>
              </a:tblGrid>
              <a:tr h="4533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Actions predicted per policy call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Flow-matching iterations from noise to an action block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Actions executed before the next observation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1…50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Maximum prefix length allowed for DVAC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 / 10 / 25 / 50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">
            <a:extLst>
              <a:ext uri="{FF2B5EF4-FFF2-40B4-BE49-F238E27FC236}">
                <ns2:creationId id="{87312FD7-BEB9-4813-81DB-7AF932810821}"/>
              </a:ext>
            </a:extLst>
          </p:cNvPr>
          <p:cNvGraphicFramePr/>
          <p:nvPr/>
        </p:nvGraphicFramePr>
        <p:xfrm>
          <a:off x="533400" y="4029075"/>
          <a:ext cx="4124325" cy="1819275"/>
        </p:xfrm>
        <a:graphic>
          <a:graphicData uri="http://schemas.openxmlformats.org/drawingml/2006/table">
            <a:tbl>
              <a:tblPr/>
              <a:tblGrid>
                <a:gridCol w="952500"/>
                <a:gridCol w="3171825"/>
              </a:tblGrid>
              <a:tr h="45481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Simulation interval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481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0.05 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0.5 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2.5 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Video case_k1_k10_en" descr="case_k1_k10_en">
            <a:hlinkClick action="ppaction://media"/>
            <a:extLst>
              <a:ext uri="{FF2B5EF4-FFF2-40B4-BE49-F238E27FC236}">
                <ns2:creationId id="{C0750838-0DB9-41F3-9928-EFC8CCA376B6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53ca6a3cee494ff4"/>
          <a:stretch/>
        </p:blipFill>
        <p:spPr>
          <a:xfrm>
            <a:off x="6367549" y="3924300"/>
            <a:ext cx="3724102" cy="21336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D03ADF9C-2E8F-4BCF-BA91-10D299FEEDCD}"/>
              </a:ext>
            </a:extLst>
          </p:cNvPr>
          <p:cNvSpPr>
            <a:spLocks noGrp="1"/>
          </p:cNvSpPr>
          <p:nvPr/>
        </p:nvSpPr>
        <p:spPr>
          <a:xfrm>
            <a:off x="5362575" y="6115050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K=1 fails (280 calls); K=10 succeeds (14 calls)</a:t>
            </a:r>
          </a:p>
        </p:txBody>
      </p:sp>
    </p:spTree>
    <p:extLst>
      <p:ext uri="{BB962C8B-B14F-4D97-AF65-F5344CB8AC3E}">
        <p14:creationId val="101822851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FC417-7D05-46BC-99BE-3B3A3B7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DVAC: Denoising-Variance Adaptive Chunking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1ED66-3BAC-4965-BF9F-DEB92FC8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BBF87-939C-4E3C-A8DF-1C25606A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1. Measure internal agreement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9F529-3A4E-40E7-BE39-005559C3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the last five clean-action estimates: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13D9B-5CCF-41B4-8D33-09977C71E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f2bae4ca94705"/>
          <a:stretch xmlns:a="http://schemas.openxmlformats.org/drawingml/2006/main"/>
        </p:blipFill>
        <p:spPr>
          <a:xfrm xmlns:a="http://schemas.openxmlformats.org/drawingml/2006/main">
            <a:off x="666750" y="2352675"/>
            <a:ext cx="4953000" cy="619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958C7-3808-438A-ADC5-61E6A00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x: noisy action block; t: flow time; v: flow velocity.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Each estimate contains 50 actions × 7 coordinates.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99F31-89AA-45DB-BF89-9EAC436FC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bb220ba5a4671"/>
          <a:stretch xmlns:a="http://schemas.openxmlformats.org/drawingml/2006/main"/>
        </p:blipFill>
        <p:spPr>
          <a:xfrm xmlns:a="http://schemas.openxmlformats.org/drawingml/2006/main">
            <a:off x="666750" y="3829050"/>
            <a:ext cx="4953000" cy="904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7A38C-F848-4150-93BE-3FAE35DC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523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For each future action j, sum the variance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over its 7 coordinates. Larger values mean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less agreement between the five estimates.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20457-3B98-4DFE-B368-9F3908D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2. Choose when to observe again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4891D-E28D-4FCB-87AA-8F203574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 contains variance values from up to 5 past calls.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75D72-0AB7-4B31-B4F7-33BC192E1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54f6ca23142d3"/>
          <a:stretch xmlns:a="http://schemas.openxmlformats.org/drawingml/2006/main"/>
        </p:blipFill>
        <p:spPr>
          <a:xfrm xmlns:a="http://schemas.openxmlformats.org/drawingml/2006/main">
            <a:off x="6524625" y="2352675"/>
            <a:ext cx="4953000" cy="61912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D4AF7-3E07-48C3-81D3-180CAFFBA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3ed5826464eec"/>
          <a:stretch xmlns:a="http://schemas.openxmlformats.org/drawingml/2006/main"/>
        </p:blipFill>
        <p:spPr>
          <a:xfrm xmlns:a="http://schemas.openxmlformats.org/drawingml/2006/main">
            <a:off x="6524625" y="3114675"/>
            <a:ext cx="4953000" cy="61912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80C13-18B1-485A-A2CF-AE9B9D0CC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78f0f540c4d2e"/>
          <a:stretch xmlns:a="http://schemas.openxmlformats.org/drawingml/2006/main"/>
        </p:blipFill>
        <p:spPr>
          <a:xfrm xmlns:a="http://schemas.openxmlformats.org/drawingml/2006/main">
            <a:off x="6524625" y="3876675"/>
            <a:ext cx="4953000" cy="619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31BB5-F706-4EC1-AB12-FE47141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j* is the first zero-based position above the threshold.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If there is no crossing, use K = min(C, 50).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First call: K=1; update W after choosing K.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Example: j*=4 and C=10 → execute 4 actions.</a:t>
            </a:r>
          </a:p>
        </p:txBody>
      </p:sp>
    </p:spTree>
    <p:extLst>
      <p:ext uri="{BB962C8B-B14F-4D97-AF65-F5344CB8AC3E}">
        <p14:creationId xmlns:p14="http://schemas.microsoft.com/office/powerpoint/2010/main" val="2026378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AF961-40DA-47B9-9472-F30D1AA4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Experimental design: matched starts and controlled variables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9253B-7016-418D-922D-2573A804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D4C1C-CD90-4FF3-A305-A31F546BDD5A}"/>
              </a:ext>
            </a:extLst>
          </p:cNvPr>
          <p:cNvGraphicFramePr/>
          <p:nvPr/>
        </p:nvGraphicFramePr>
        <p:xfrm>
          <a:off xmlns:a="http://schemas.openxmlformats.org/drawingml/2006/main" x="533400" y="1457325"/>
          <a:ext xmlns:a="http://schemas.openxmlformats.org/drawingml/2006/main" cx="67627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524375"/>
              </a:tblGrid>
              <a:tr h="54483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Design choice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How it controls the comparison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30 paired settings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 tasks × 10 initial states, reused for all 9 methods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Exact initial match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Same simulator state, images, and first 50×7 prediction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Only execution changes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 fixed K values versus 4 capped-DVAC rules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Episode accounting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280/300-step limits; failed episodes remain in the cost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E43D3-8437-4AD9-8C1F-EA8DB08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5732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Fixed across methods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1E7E0-09EE-4EF1-9222-80DB08D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43100"/>
            <a:ext cx="3857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Checkpoint and weights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H=50, M=10, FP32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20 Hz simulation control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One policy seed: 11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same physical starting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40754-EFCA-4635-8162-6EFFAFD4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Execution rules and sample 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3AC0E-6BCB-48FB-A83C-D4616F16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Fixed K: 1, 5, 10, 25, 50.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DVAC caps C: 5, 10, 25, 50.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150 reused fixed controls + 120 adaptive episodes.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2972C-F1C0-4677-8FA7-F558C1DE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2437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Measured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C44B8-CD3D-4FCB-998A-0DCC745C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00625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Success: LIBERO task criterion.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Cost: mean policy calls per episode,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including failed episodes.</a:t>
            </a:r>
          </a:p>
        </p:txBody>
      </p:sp>
    </p:spTree>
    <p:extLst>
      <p:ext uri="{BB962C8B-B14F-4D97-AF65-F5344CB8AC3E}">
        <p14:creationId xmlns:p14="http://schemas.microsoft.com/office/powerpoint/2010/main" val="1530374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FC9FA-1D29-5241-95B1-08862B99FC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51845785049f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94722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95322450-9C9D-483E-9E05-22CE168C8D3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Two examples: the same cap gives opposite outcomes</a:t>
            </a:r>
          </a:p>
        </p:txBody>
      </p:sp>
      <p:sp>
        <p:nvSpPr>
          <p:cNvPr id="2" name="">
            <a:extLst>
              <a:ext uri="{FF2B5EF4-FFF2-40B4-BE49-F238E27FC236}">
                <ns2:creationId id="{5B79C6EA-A7DD-4DA8-8FC1-AA9551BD9504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DD630CCE-A24F-4439-8106-C13C98058DC0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Soup: transport without the object</a:t>
            </a:r>
          </a:p>
        </p:txBody>
      </p:sp>
      <p:sp>
        <p:nvSpPr>
          <p:cNvPr id="4" name="">
            <a:extLst>
              <a:ext uri="{FF2B5EF4-FFF2-40B4-BE49-F238E27FC236}">
                <ns2:creationId id="{0C957C38-96BE-4CD2-8D65-535DD09B6828}"/>
              </a:ext>
            </a:extLst>
          </p:cNvPr>
          <p:cNvSpPr>
            <a:spLocks noGrp="1"/>
          </p:cNvSpPr>
          <p:nvPr/>
        </p:nvSpPr>
        <p:spPr>
          <a:xfrm>
            <a:off x="6267450" y="1428750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Bowl: C=50 completes the placement</a:t>
            </a:r>
          </a:p>
        </p:txBody>
      </p:sp>
      <p:pic>
        <p:nvPicPr>
          <p:cNvPr id="5" name="Video case_soup_caps_en" descr="case_soup_caps_en">
            <a:hlinkClick action="ppaction://media"/>
            <a:extLst>
              <a:ext uri="{FF2B5EF4-FFF2-40B4-BE49-F238E27FC236}">
                <ns2:creationId id="{ED6877C5-D9AC-4160-9754-9107C0510309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760447d98ca64a6d"/>
          <a:stretch/>
        </p:blipFill>
        <p:spPr>
          <a:xfrm>
            <a:off x="533400" y="2020094"/>
            <a:ext cx="5334000" cy="3055938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81D8F153-6F9D-4B32-A0C5-B655D4ED0907}"/>
              </a:ext>
            </a:extLst>
          </p:cNvPr>
          <p:cNvSpPr>
            <a:spLocks noGrp="1"/>
          </p:cNvSpPr>
          <p:nvPr/>
        </p:nvSpPr>
        <p:spPr>
          <a:xfrm>
            <a:off x="533400" y="51339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C=10 vs C=50, 10 seconds</a:t>
            </a:r>
          </a:p>
        </p:txBody>
      </p:sp>
      <p:pic>
        <p:nvPicPr>
          <p:cNvPr id="7" name="Video case_bowl_caps_en" descr="case_bowl_caps_en">
            <a:hlinkClick action="ppaction://media"/>
            <a:extLst>
              <a:ext uri="{FF2B5EF4-FFF2-40B4-BE49-F238E27FC236}">
                <ns2:creationId id="{82AE302C-CD07-40BA-B903-112A2ED2B8B2}"/>
              </a:ext>
            </a:extLst>
          </p:cNvPr>
          <p:cNvPicPr>
            <a:picLocks noChangeAspect="1"/>
          </p:cNvPicPr>
          <p:nvPr>
            <a:videoFile r:link="rIdVideo2"/>
            <p:extLst>
              <p:ext uri="{DAA4B4D4-6D71-4841-9C94-3DE7FCFB9230}">
                <p14:media r:embed="rIdMedia2"/>
              </p:ext>
            </p:extLst>
          </p:nvPr>
        </p:nvPicPr>
        <p:blipFill>
          <a:blip r:embed="R9792c10bee464283"/>
          <a:stretch/>
        </p:blipFill>
        <p:spPr>
          <a:xfrm>
            <a:off x="6267450" y="2020094"/>
            <a:ext cx="5334000" cy="3055938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DAA64404-49A8-4B50-80ED-C35A470847A2}"/>
              </a:ext>
            </a:extLst>
          </p:cNvPr>
          <p:cNvSpPr>
            <a:spLocks noGrp="1"/>
          </p:cNvSpPr>
          <p:nvPr/>
        </p:nvSpPr>
        <p:spPr>
          <a:xfrm>
            <a:off x="6267450" y="51339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C=10 vs C=50, 10 seconds</a:t>
            </a:r>
          </a:p>
        </p:txBody>
      </p:sp>
      <p:sp>
        <p:nvSpPr>
          <p:cNvPr id="9" name="">
            <a:extLst>
              <a:ext uri="{FF2B5EF4-FFF2-40B4-BE49-F238E27FC236}">
                <ns2:creationId id="{8D276168-24BD-42E6-B97D-F7AFB988BB23}"/>
              </a:ext>
            </a:extLst>
          </p:cNvPr>
          <p:cNvSpPr>
            <a:spLocks noGrp="1"/>
          </p:cNvSpPr>
          <p:nvPr/>
        </p:nvSpPr>
        <p:spPr>
          <a:xfrm>
            <a:off x="533400" y="5505450"/>
            <a:ext cx="53340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C=10 succeeds at step 143.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C=50 moves an empty gripper and fails by step 280.</a:t>
            </a:r>
          </a:p>
        </p:txBody>
      </p:sp>
      <p:sp>
        <p:nvSpPr>
          <p:cNvPr id="10" name="">
            <a:extLst>
              <a:ext uri="{FF2B5EF4-FFF2-40B4-BE49-F238E27FC236}">
                <ns2:creationId id="{1ED1F099-4932-48E7-BBA4-66D1F78D104A}"/>
              </a:ext>
            </a:extLst>
          </p:cNvPr>
          <p:cNvSpPr>
            <a:spLocks noGrp="1"/>
          </p:cNvSpPr>
          <p:nvPr/>
        </p:nvSpPr>
        <p:spPr>
          <a:xfrm>
            <a:off x="6267450" y="5505450"/>
            <a:ext cx="53340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C=50 succeeds at step 81.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C=10 keeps repositioning and fails by step 280.</a:t>
            </a:r>
          </a:p>
        </p:txBody>
      </p:sp>
    </p:spTree>
    <p:extLst>
      <p:ext uri="{BB962C8B-B14F-4D97-AF65-F5344CB8AC3E}">
        <p14:creationId val="571460726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5"/>
                </p:tgtEl>
              </p:cMediaNode>
            </p:video>
            <p:video>
              <p:cMediaNode vol="0" mute="1" showWhenStopped="1">
                <p:cTn id="3" fill="hold" display="0">
                  <p:stCondLst>
                    <p:cond delay="0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">
            <a:extLst>
              <a:ext uri="{FF2B5EF4-FFF2-40B4-BE49-F238E27FC236}">
                <ns2:creationId id="{4405AA83-453A-4AEC-B906-5112740832C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Additional protocols: new states and target perturbations</a:t>
            </a:r>
          </a:p>
        </p:txBody>
      </p:sp>
      <p:sp>
        <p:nvSpPr>
          <p:cNvPr id="2" name="">
            <a:extLst>
              <a:ext uri="{FF2B5EF4-FFF2-40B4-BE49-F238E27FC236}">
                <ns2:creationId id="{BE61E597-6A6B-4871-8E2A-CA50F4EFFB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A463A496-7766-40C0-8DB4-B4C36C6EAAE1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5000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48 episodes: DVAC on new states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A9B73B7-501C-4D55-B3CF-C23FCB9B50B1}"/>
              </a:ext>
            </a:extLst>
          </p:cNvPr>
          <p:cNvGraphicFramePr/>
          <p:nvPr/>
        </p:nvGraphicFramePr>
        <p:xfrm>
          <a:off x="533400" y="1952625"/>
          <a:ext cx="4762500" cy="2190750"/>
        </p:xfrm>
        <a:graphic>
          <a:graphicData uri="http://schemas.openxmlformats.org/drawingml/2006/table">
            <a:tbl>
              <a:tblPr/>
              <a:tblGrid>
                <a:gridCol w="1762125"/>
                <a:gridCol w="1428750"/>
                <a:gridCol w="157162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Calls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K=5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11/12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28.2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K=10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16.2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K=25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6/12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8.6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DVAC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10.2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57B70F5B-90AA-4409-9E1D-C5E67B1307D3}"/>
              </a:ext>
            </a:extLst>
          </p:cNvPr>
          <p:cNvSpPr>
            <a:spLocks noGrp="1"/>
          </p:cNvSpPr>
          <p:nvPr/>
        </p:nvSpPr>
        <p:spPr>
          <a:xfrm>
            <a:off x="533400" y="4429125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 tasks, 6 physical settings, 2 policy seeds.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DVAC and K=10 each complete 9/12.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Equal totals do not establish equal reliability.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This cohort is analysed separately.</a:t>
            </a:r>
          </a:p>
        </p:txBody>
      </p:sp>
      <p:sp>
        <p:nvSpPr>
          <p:cNvPr id="6" name="">
            <a:extLst>
              <a:ext uri="{FF2B5EF4-FFF2-40B4-BE49-F238E27FC236}">
                <ns2:creationId id="{C92E2646-2A60-4557-B607-AE42B72DFCC3}"/>
              </a:ext>
            </a:extLst>
          </p:cNvPr>
          <p:cNvSpPr>
            <a:spLocks noGrp="1"/>
          </p:cNvSpPr>
          <p:nvPr/>
        </p:nvSpPr>
        <p:spPr>
          <a:xfrm>
            <a:off x="5905500" y="1409700"/>
            <a:ext cx="5753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135 episodes: force perturbation</a:t>
            </a:r>
          </a:p>
        </p:txBody>
      </p:sp>
      <p:graphicFrame>
        <p:nvGraphicFramePr>
          <p:cNvPr id="7" name="">
            <a:extLst>
              <a:ext uri="{FF2B5EF4-FFF2-40B4-BE49-F238E27FC236}">
                <ns2:creationId id="{920A980D-1FA3-4108-BF5E-B68913961815}"/>
              </a:ext>
            </a:extLst>
          </p:cNvPr>
          <p:cNvGraphicFramePr/>
          <p:nvPr/>
        </p:nvGraphicFramePr>
        <p:xfrm>
          <a:off x="5905500" y="1952625"/>
          <a:ext cx="5753100" cy="1752600"/>
        </p:xfrm>
        <a:graphic>
          <a:graphicData uri="http://schemas.openxmlformats.org/drawingml/2006/table">
            <a:tbl>
              <a:tblPr/>
              <a:tblGrid>
                <a:gridCol w="2095500"/>
                <a:gridCol w="1219200"/>
                <a:gridCol w="1219200"/>
                <a:gridCol w="121920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K=10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K=50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Static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12/15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13/15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6/15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Slow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8/15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13/15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Fast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13/15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15/15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6/15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Video case_moving_en" descr="case_moving_en">
            <a:hlinkClick action="ppaction://media"/>
            <a:extLst>
              <a:ext uri="{FF2B5EF4-FFF2-40B4-BE49-F238E27FC236}">
                <ns2:creationId id="{D7F7EC57-ABE7-46A4-A902-F5D1BEA94ED2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c9c9aa43127540cd"/>
          <a:stretch/>
        </p:blipFill>
        <p:spPr>
          <a:xfrm>
            <a:off x="5910263" y="3895725"/>
            <a:ext cx="5743575" cy="1914525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026A432F-17B7-44FC-A7B5-12FC288BF077}"/>
              </a:ext>
            </a:extLst>
          </p:cNvPr>
          <p:cNvSpPr>
            <a:spLocks noGrp="1"/>
          </p:cNvSpPr>
          <p:nvPr/>
        </p:nvSpPr>
        <p:spPr>
          <a:xfrm>
            <a:off x="5905500" y="5867400"/>
            <a:ext cx="5753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static, slow, and fast conditions at K=10</a:t>
            </a:r>
          </a:p>
        </p:txBody>
      </p:sp>
    </p:spTree>
    <p:extLst>
      <p:ext uri="{BB962C8B-B14F-4D97-AF65-F5344CB8AC3E}">
        <p14:creationId val="388063215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17E89E23-3B95-4A09-9B3B-5B57F180E46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122 additional rollouts: heuristic and controlled continuations</a:t>
            </a:r>
          </a:p>
        </p:txBody>
      </p:sp>
      <p:sp>
        <p:nvSpPr>
          <p:cNvPr id="2" name="">
            <a:extLst>
              <a:ext uri="{FF2B5EF4-FFF2-40B4-BE49-F238E27FC236}">
                <ns2:creationId id="{57673DE5-1D16-4404-8BE2-BFE5259EF99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98C74B41-ED2C-433D-AE04-2E1131B83E01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Testing an action-based heuristic</a:t>
            </a:r>
          </a:p>
        </p:txBody>
      </p:sp>
      <p:sp>
        <p:nvSpPr>
          <p:cNvPr id="4" name="">
            <a:extLst>
              <a:ext uri="{FF2B5EF4-FFF2-40B4-BE49-F238E27FC236}">
                <ns2:creationId id="{4610D4FA-83B4-4F09-BBA5-597DE0DEE89F}"/>
              </a:ext>
            </a:extLst>
          </p:cNvPr>
          <p:cNvSpPr>
            <a:spLocks noGrp="1"/>
          </p:cNvSpPr>
          <p:nvPr/>
        </p:nvSpPr>
        <p:spPr>
          <a:xfrm>
            <a:off x="533400" y="1876425"/>
            <a:ext cx="5334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K=5 for a predicted gripper-sign change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or a sharp change in translation direction.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Otherwise use K=10 when closing, K=25 when opening.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4441D2C3-E18B-40BE-B160-5E27B4E1E25D}"/>
              </a:ext>
            </a:extLst>
          </p:cNvPr>
          <p:cNvGraphicFramePr/>
          <p:nvPr/>
        </p:nvGraphicFramePr>
        <p:xfrm>
          <a:off x="533400" y="3114675"/>
          <a:ext cx="5334000" cy="1343025"/>
        </p:xfrm>
        <a:graphic>
          <a:graphicData uri="http://schemas.openxmlformats.org/drawingml/2006/table">
            <a:tbl>
              <a:tblPr/>
              <a:tblGrid>
                <a:gridCol w="2762250"/>
                <a:gridCol w="1285875"/>
                <a:gridCol w="1285875"/>
              </a:tblGrid>
              <a:tr h="447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Cohort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Heuristic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K=10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Primary evaluation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6/12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Replication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7/12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F1E9FC07-4E87-4E4E-80E5-2F1FB1EF7C57}"/>
              </a:ext>
            </a:extLst>
          </p:cNvPr>
          <p:cNvSpPr>
            <a:spLocks noGrp="1"/>
          </p:cNvSpPr>
          <p:nvPr/>
        </p:nvSpPr>
        <p:spPr>
          <a:xfrm>
            <a:off x="533400" y="4667250"/>
            <a:ext cx="5334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Separate Apple Silicon/MPS cohort.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heuristic does not improve either evaluation.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50/50 successful replays retain the goal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after forced gripper opening after the policy ends.</a:t>
            </a:r>
          </a:p>
        </p:txBody>
      </p:sp>
      <p:sp>
        <p:nvSpPr>
          <p:cNvPr id="7" name="">
            <a:extLst>
              <a:ext uri="{FF2B5EF4-FFF2-40B4-BE49-F238E27FC236}">
                <ns2:creationId id="{A0F916B1-1A77-4CF8-9BCB-E1F2CA98B1FB}"/>
              </a:ext>
            </a:extLst>
          </p:cNvPr>
          <p:cNvSpPr>
            <a:spLocks noGrp="1"/>
          </p:cNvSpPr>
          <p:nvPr/>
        </p:nvSpPr>
        <p:spPr>
          <a:xfrm>
            <a:off x="6286500" y="140970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Exact continuations from step 80</a:t>
            </a:r>
          </a:p>
        </p:txBody>
      </p:sp>
      <p:graphicFrame>
        <p:nvGraphicFramePr>
          <p:cNvPr id="8" name="">
            <a:extLst>
              <a:ext uri="{FF2B5EF4-FFF2-40B4-BE49-F238E27FC236}">
                <ns2:creationId id="{5A636D22-588F-4FF3-829F-61EB03A34C0F}"/>
              </a:ext>
            </a:extLst>
          </p:cNvPr>
          <p:cNvGraphicFramePr/>
          <p:nvPr/>
        </p:nvGraphicFramePr>
        <p:xfrm>
          <a:off x="6286500" y="1924050"/>
          <a:ext cx="5334000" cy="1809750"/>
        </p:xfrm>
        <a:graphic>
          <a:graphicData uri="http://schemas.openxmlformats.org/drawingml/2006/table">
            <a:tbl>
              <a:tblPr/>
              <a:tblGrid>
                <a:gridCol w="3762375"/>
                <a:gridCol w="1571625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Continuation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Success /7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Original K=1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5/7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Fixed sampling noise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3/7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Execute 10 actions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4/7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Video case_causal_en" descr="case_causal_en">
            <a:hlinkClick action="ppaction://media"/>
            <a:extLst>
              <a:ext uri="{FF2B5EF4-FFF2-40B4-BE49-F238E27FC236}">
                <ns2:creationId id="{423808CA-C0F0-4692-9869-223F39C5114D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89a1aee43cf74685"/>
          <a:stretch/>
        </p:blipFill>
        <p:spPr>
          <a:xfrm>
            <a:off x="6286500" y="4088871"/>
            <a:ext cx="5334000" cy="1185333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3E3BFCC6-D7C8-4C5D-AA98-4CCB96D0F201}"/>
              </a:ext>
            </a:extLst>
          </p:cNvPr>
          <p:cNvSpPr>
            <a:spLocks noGrp="1"/>
          </p:cNvSpPr>
          <p:nvPr/>
        </p:nvSpPr>
        <p:spPr>
          <a:xfrm>
            <a:off x="6286500" y="54768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one prefix, three continuations, 12 seconds</a:t>
            </a:r>
          </a:p>
        </p:txBody>
      </p:sp>
      <p:sp>
        <p:nvSpPr>
          <p:cNvPr id="11" name="">
            <a:extLst>
              <a:ext uri="{FF2B5EF4-FFF2-40B4-BE49-F238E27FC236}">
                <ns2:creationId id="{5D552C84-3541-4E0B-AC4D-9AF0661CFA1F}"/>
              </a:ext>
            </a:extLst>
          </p:cNvPr>
          <p:cNvSpPr>
            <a:spLocks noGrp="1"/>
          </p:cNvSpPr>
          <p:nvPr/>
        </p:nvSpPr>
        <p:spPr>
          <a:xfrm>
            <a:off x="6286500" y="571500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Neither intervention rescues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two original K=1 failures.</a:t>
            </a:r>
          </a:p>
        </p:txBody>
      </p:sp>
    </p:spTree>
    <p:extLst>
      <p:ext uri="{BB962C8B-B14F-4D97-AF65-F5344CB8AC3E}">
        <p14:creationId val="181414527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BCC6E-CF23-4146-9D08-A2A13F08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Conclusions, limitations, and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15742-8C4B-4116-AECE-3CFBFE22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1F860-2D39-4D83-B9D2-DF51604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What the data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431C8-0967-49D9-8EDC-9EBCBEB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33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Success is not monotonic in replanning frequency.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K=5 completes 26/30 with 31.3 calls in the main cohort.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DVAC changes the success/call trade-off through C.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observed 27/30 and 26/30 are close;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superiority is not established.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01D07-71E4-423E-9F95-095641FE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Limits of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CDE04-2141-41FD-9142-CEFFC09D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33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Main cohort: 3 tasks, 30 settings, 1 policy seed.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simulator pauses during inference.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New states, seeds, and observation delays need testing.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results do not establish a universally best 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5D70E-F7E8-4317-B9D3-AA59C133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5286D-D20D-4BA1-95EA-3874F113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2D85A-CE33-42A0-ABE0-23095FBFF50A}"/>
              </a:ext>
            </a:extLst>
          </p:cNvPr>
          <p:cNvGraphicFramePr/>
          <p:nvPr/>
        </p:nvGraphicFramePr>
        <p:xfrm>
          <a:off xmlns:a="http://schemas.openxmlformats.org/drawingml/2006/main" x="533400" y="4724400"/>
          <a:ext xmlns:a="http://schemas.openxmlformats.org/drawingml/2006/main" cx="11125200" cy="1162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743700"/>
              </a:tblGrid>
              <a:tr h="387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Question it answers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 fixed schedule with the same call budget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Does the DVAC signal help beyond spending more calls?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Unseen states, repeated seeds, realistic delays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Does the observed trade-off hold outside these starts?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704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2026-10-24T19:49:56.4240000Z</dcterms:created>
  <dcterms:modified xsi:type="dcterms:W3CDTF">2026-10-24T19:49:56.4240000Z</dcterms:modified>
</coreProperties>
</file>
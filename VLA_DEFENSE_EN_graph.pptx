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mp4" ContentType="video/mp4"/>
  <Override PartName="/ppt/slideMasters/theme/added_theme2.xml" ContentType="application/vnd.openxmlformats-officedocument.theme+xml"/>
  <Override PartName="/ppt/slideLayouts/added_slideLayout1.xml" ContentType="application/vnd.openxmlformats-officedocument.presentationml.slideLayout+xml"/>
  <Override PartName="/ppt/slideLayouts/added_slideLayout2.xml" ContentType="application/vnd.openxmlformats-officedocument.presentationml.slideLayout+xml"/>
  <Override PartName="/ppt/slideLayouts/added_slideLayout3.xml" ContentType="application/vnd.openxmlformats-officedocument.presentationml.slideLayout+xml"/>
  <Override PartName="/ppt/slideLayouts/added_slideLayout4.xml" ContentType="application/vnd.openxmlformats-officedocument.presentationml.slideLayout+xml"/>
  <Override PartName="/ppt/slideLayouts/added_slideLayout5.xml" ContentType="application/vnd.openxmlformats-officedocument.presentationml.slideLayout+xml"/>
  <Override PartName="/ppt/slideMasters/added_slideMaster1.xml" ContentType="application/vnd.openxmlformats-officedocument.presentationml.slideMaster+xml"/>
  <Override PartName="/ppt/slideLayouts/added_slideLayout6.xml" ContentType="application/vnd.openxmlformats-officedocument.presentationml.slideLayout+xml"/>
  <Override PartName="/ppt/slides/charts/added_chart1.xml" ContentType="application/vnd.openxmlformats-officedocument.drawingml.chart+xml"/>
  <Override PartName="/ppt/slides/charts/added_chart2.xml" ContentType="application/vnd.openxmlformats-officedocument.drawingml.chart+xml"/>
  <Override PartName="/ppt/slides/charts/added_chart3.xml" ContentType="application/vnd.openxmlformats-officedocument.drawingml.chart+xml"/>
  <Override PartName="/ppt/notesMasters/theme/added_theme3.xml" ContentType="application/vnd.openxmlformats-officedocument.theme+xml"/>
  <Override PartName="/ppt/notesMasters/added_notesMaster1.xml" ContentType="application/vnd.openxmlformats-officedocument.presentationml.notesMaster+xml"/>
  <Override PartName="/ppt/notesSlides/added_notesSlide1.xml" ContentType="application/vnd.openxmlformats-officedocument.presentationml.notesSlide+xml"/>
  <Override PartName="/ppt/slides/added_slide1.xml" ContentType="application/vnd.openxmlformats-officedocument.presentationml.slide+xml"/>
  <Override PartName="/ppt/slides/charts/added_chart4.xml" ContentType="application/vnd.openxmlformats-officedocument.drawingml.chart+xml"/>
  <Override PartName="/ppt/notesSlides/added_notesSlide2.xml" ContentType="application/vnd.openxmlformats-officedocument.presentationml.notesSlide+xml"/>
  <Override PartName="/ppt/slides/added_slide2.xml" ContentType="application/vnd.openxmlformats-officedocument.presentationml.slide+xml"/>
  <Default Extension="xlsx" ContentType="application/vnd.openxmlformats-officedocument.spreadsheetml.sheet"/>
  <Override PartName="/ppt/slideMasters/theme/added2_theme2.xml" ContentType="application/vnd.openxmlformats-officedocument.theme+xml"/>
  <Override PartName="/ppt/slideLayouts/added2_slideLayout1.xml" ContentType="application/vnd.openxmlformats-officedocument.presentationml.slideLayout+xml"/>
  <Override PartName="/ppt/slideLayouts/added2_slideLayout2.xml" ContentType="application/vnd.openxmlformats-officedocument.presentationml.slideLayout+xml"/>
  <Override PartName="/ppt/slideLayouts/added2_slideLayout3.xml" ContentType="application/vnd.openxmlformats-officedocument.presentationml.slideLayout+xml"/>
  <Override PartName="/ppt/slideLayouts/added2_slideLayout4.xml" ContentType="application/vnd.openxmlformats-officedocument.presentationml.slideLayout+xml"/>
  <Override PartName="/ppt/slideLayouts/added2_slideLayout5.xml" ContentType="application/vnd.openxmlformats-officedocument.presentationml.slideLayout+xml"/>
  <Override PartName="/ppt/slideMasters/added2_slideMaster1.xml" ContentType="application/vnd.openxmlformats-officedocument.presentationml.slideMaster+xml"/>
  <Override PartName="/ppt/slideLayouts/added2_slideLayout6.xml" ContentType="application/vnd.openxmlformats-officedocument.presentationml.slideLayout+xml"/>
  <Override PartName="/ppt/notesMasters/theme/added2_theme3.xml" ContentType="application/vnd.openxmlformats-officedocument.theme+xml"/>
  <Override PartName="/ppt/notesMasters/added2_notesMaster1.xml" ContentType="application/vnd.openxmlformats-officedocument.presentationml.notesMaster+xml"/>
  <Override PartName="/ppt/notesSlides/added2_notesSlide1.xml" ContentType="application/vnd.openxmlformats-officedocument.presentationml.notesSlide+xml"/>
  <Override PartName="/ppt/slides/added2_slide1.xml" ContentType="application/vnd.openxmlformats-officedocument.presentationml.slide+xml"/>
  <Override PartName="/ppt/notesSlides/added2_notesSlide2.xml" ContentType="application/vnd.openxmlformats-officedocument.presentationml.notesSlide+xml"/>
  <Override PartName="/ppt/slides/added2_slide2.xml" ContentType="application/vnd.openxmlformats-officedocument.presentationml.slide+xml"/>
  <Override PartName="/ppt/notesSlides/added2_notesSlide3.xml" ContentType="application/vnd.openxmlformats-officedocument.presentationml.notesSlide+xml"/>
  <Override PartName="/ppt/slides/added2_slide3.xml" ContentType="application/vnd.openxmlformats-officedocument.presentationml.slide+xml"/>
  <Override PartName="/ppt/slideMasters/theme/added3_theme2.xml" ContentType="application/vnd.openxmlformats-officedocument.theme+xml"/>
  <Override PartName="/ppt/slideLayouts/added3_slideLayout1.xml" ContentType="application/vnd.openxmlformats-officedocument.presentationml.slideLayout+xml"/>
  <Override PartName="/ppt/slideLayouts/added3_slideLayout2.xml" ContentType="application/vnd.openxmlformats-officedocument.presentationml.slideLayout+xml"/>
  <Override PartName="/ppt/slideLayouts/added3_slideLayout3.xml" ContentType="application/vnd.openxmlformats-officedocument.presentationml.slideLayout+xml"/>
  <Override PartName="/ppt/slideLayouts/added3_slideLayout4.xml" ContentType="application/vnd.openxmlformats-officedocument.presentationml.slideLayout+xml"/>
  <Override PartName="/ppt/slideLayouts/added3_slideLayout5.xml" ContentType="application/vnd.openxmlformats-officedocument.presentationml.slideLayout+xml"/>
  <Override PartName="/ppt/slideMasters/added3_slideMaster1.xml" ContentType="application/vnd.openxmlformats-officedocument.presentationml.slideMaster+xml"/>
  <Override PartName="/ppt/slideLayouts/added3_slideLayout6.xml" ContentType="application/vnd.openxmlformats-officedocument.presentationml.slideLayout+xml"/>
  <Override PartName="/ppt/media/added3_image.png" ContentType="image/png"/>
  <Override PartName="/ppt/notesMasters/theme/added3_theme3.xml" ContentType="application/vnd.openxmlformats-officedocument.theme+xml"/>
  <Override PartName="/ppt/notesMasters/added3_notesMaster1.xml" ContentType="application/vnd.openxmlformats-officedocument.presentationml.notesMaster+xml"/>
  <Override PartName="/ppt/notesSlides/added3_notesSlide1.xml" ContentType="application/vnd.openxmlformats-officedocument.presentationml.notesSlide+xml"/>
  <Override PartName="/ppt/slides/added3_slide1.xml" ContentType="application/vnd.openxmlformats-officedocument.presentationml.slide+xml"/>
  <Override PartName="/ppt/media/added3_image2.png" ContentType="image/png"/>
  <Override PartName="/ppt/notesSlides/added3_notesSlide2.xml" ContentType="application/vnd.openxmlformats-officedocument.presentationml.notesSlide+xml"/>
  <Override PartName="/ppt/slides/added3_slide2.xml" ContentType="application/vnd.openxmlformats-officedocument.presentationml.slide+xml"/>
  <Override PartName="/ppt/notesSlides/added3_notesSlide3.xml" ContentType="application/vnd.openxmlformats-officedocument.presentationml.notesSlide+xml"/>
  <Override PartName="/ppt/slides/added3_slide3.xml" ContentType="application/vnd.openxmlformats-officedocument.presentationml.slide+xml"/>
  <Override PartName="/ppt/notesSlides/added3_notesSlide4.xml" ContentType="application/vnd.openxmlformats-officedocument.presentationml.notesSlide+xml"/>
  <Override PartName="/ppt/slides/added3_slide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db98e88a5ed34935" /><Relationship Type="http://schemas.openxmlformats.org/officeDocument/2006/relationships/extended-properties" Target="/docProps/app.xml" Id="Rf3d5effe19e14b00" /><Relationship Type="http://schemas.openxmlformats.org/officeDocument/2006/relationships/officeDocument" Target="/ppt/presentation.xml" Id="Rf231340f291d47c9" /></Relationships>
</file>

<file path=ppt/presentation.xml><?xml version="1.0" encoding="utf-8"?>
<p:presentation xmlns:p="http://schemas.openxmlformats.org/presentationml/2006/main" xmlns:r="http://schemas.openxmlformats.org/officeDocument/2006/relationships">
  <p:sldMasterIdLst>
    <p:sldMasterId id="2147483648" r:id="R72631afb10ee44c5"/>
    <p:sldMasterId r:id="rId_added_slideMaster_1" id="2147483649"/>
    <p:sldMasterId r:id="rId_added_slideMaster_2" id="2147483650"/>
    <p:sldMasterId r:id="rId_added_slideMaster_3" id="2147483651"/>
  </p:sldMasterIdLst>
  <p:notesMasterIdLst>
    <p:notesMasterId r:id="R4c6b0e4c04d54ae4"/>
    <p:notesMasterId r:id="rId_added_notesMaster_1"/>
    <p:notesMasterId r:id="rId_added_notesMaster_2"/>
    <p:notesMasterId r:id="rId_added_notesMaster_3"/>
  </p:notesMasterIdLst>
  <p:sldIdLst>
    <p:sldId id="256" r:id="R9464a34282bf4da1"/>
    <p:sldId id="257" r:id="Ra7f7ae54096446f4"/>
    <p:sldId id="258" r:id="R7bff6a5b72594773"/>
    <p:sldId id="259" r:id="Rb161fa8758574fae"/>
    <p:sldId id="260" r:id="R16a18103539044ef"/>
    <p:sldId id="261" r:id="R0d1ebe51ee8143be"/>
    <p:sldId id="266" r:id="rId_added_slide_1"/>
    <p:sldId id="267" r:id="rId_added_slide_2"/>
    <p:sldId id="262" r:id="R53bd0820074e45b4"/>
    <p:sldId id="263" r:id="R3066be282f2c4f5d"/>
    <p:sldId id="264" r:id="Rf554e1f714854671"/>
    <p:sldId id="268" r:id="rId_added_slide_3"/>
    <p:sldId id="271" r:id="rId_added_slide_6"/>
    <p:sldId id="272" r:id="rId_added_slide_7"/>
    <p:sldId id="273" r:id="rId_added_slide_8"/>
    <p:sldId id="274" r:id="rId_added_slide_9"/>
    <p:sldId id="269" r:id="rId_added_slide_4"/>
    <p:sldId id="270" r:id="rId_added_slide_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c093cb08d1cc4e8f" /><Relationship Type="http://schemas.openxmlformats.org/officeDocument/2006/relationships/slideMaster" Target="/ppt/slideMasters/slideMaster1.xml" Id="R72631afb10ee44c5" /><Relationship Type="http://schemas.openxmlformats.org/officeDocument/2006/relationships/notesMaster" Target="/ppt/notesMasters/notesMaster1.xml" Id="R4c6b0e4c04d54ae4" /><Relationship Type="http://schemas.openxmlformats.org/officeDocument/2006/relationships/presProps" Target="/ppt/presProps.xml" Id="R012e6197038b4686" /><Relationship Type="http://schemas.openxmlformats.org/officeDocument/2006/relationships/tableStyles" Target="/ppt/tableStyles.xml" Id="R78671826339f430d" /><Relationship Type="http://schemas.openxmlformats.org/officeDocument/2006/relationships/slide" Target="/ppt/slides/slide1.xml" Id="R9464a34282bf4da1" /><Relationship Type="http://schemas.openxmlformats.org/officeDocument/2006/relationships/slide" Target="/ppt/slides/slide2.xml" Id="Ra7f7ae54096446f4" /><Relationship Type="http://schemas.openxmlformats.org/officeDocument/2006/relationships/slide" Target="/ppt/slides/slide3.xml" Id="R7bff6a5b72594773" /><Relationship Type="http://schemas.openxmlformats.org/officeDocument/2006/relationships/slide" Target="/ppt/slides/slide4.xml" Id="Rb161fa8758574fae" /><Relationship Type="http://schemas.openxmlformats.org/officeDocument/2006/relationships/slide" Target="/ppt/slides/slide5.xml" Id="R16a18103539044ef" /><Relationship Type="http://schemas.openxmlformats.org/officeDocument/2006/relationships/slide" Target="/ppt/slides/slide6.xml" Id="R0d1ebe51ee8143be" /><Relationship Type="http://schemas.openxmlformats.org/officeDocument/2006/relationships/slide" Target="/ppt/slides/slide7.xml" Id="R53bd0820074e45b4" /><Relationship Type="http://schemas.openxmlformats.org/officeDocument/2006/relationships/slide" Target="/ppt/slides/slide8.xml" Id="R3066be282f2c4f5d" /><Relationship Type="http://schemas.openxmlformats.org/officeDocument/2006/relationships/slide" Target="/ppt/slides/slide9.xml" Id="Rf554e1f714854671" /><Relationship Type="http://schemas.openxmlformats.org/officeDocument/2006/relationships/slide" Target="/ppt/slides/slide10.xml" Id="R1f865510039a4edc" /><Relationship Id="rId_added_slide_1" Type="http://schemas.openxmlformats.org/officeDocument/2006/relationships/slide" Target="slides/added_slide1.xml" /><Relationship Id="rId_added_slide_2" Type="http://schemas.openxmlformats.org/officeDocument/2006/relationships/slide" Target="slides/added_slide2.xml" /><Relationship Id="rId_added_slideMaster_1" Type="http://schemas.openxmlformats.org/officeDocument/2006/relationships/slideMaster" Target="slideMasters/added_slideMaster1.xml" /><Relationship Id="rId_added_notesMaster_1" Type="http://schemas.openxmlformats.org/officeDocument/2006/relationships/notesMaster" Target="notesMasters/added_notesMaster1.xml" /><Relationship Id="rId_added_slide_3" Type="http://schemas.openxmlformats.org/officeDocument/2006/relationships/slide" Target="slides/added2_slide1.xml" /><Relationship Id="rId_added_slide_4" Type="http://schemas.openxmlformats.org/officeDocument/2006/relationships/slide" Target="slides/added2_slide2.xml" /><Relationship Id="rId_added_slide_5" Type="http://schemas.openxmlformats.org/officeDocument/2006/relationships/slide" Target="slides/added2_slide3.xml" /><Relationship Id="rId_added_slideMaster_2" Type="http://schemas.openxmlformats.org/officeDocument/2006/relationships/slideMaster" Target="slideMasters/added2_slideMaster1.xml" /><Relationship Id="rId_added_notesMaster_2" Type="http://schemas.openxmlformats.org/officeDocument/2006/relationships/notesMaster" Target="notesMasters/added2_notesMaster1.xml" /><Relationship Id="rId_added_slide_6" Type="http://schemas.openxmlformats.org/officeDocument/2006/relationships/slide" Target="slides/added3_slide1.xml" /><Relationship Id="rId_added_slide_7" Type="http://schemas.openxmlformats.org/officeDocument/2006/relationships/slide" Target="slides/added3_slide2.xml" /><Relationship Id="rId_added_slide_8" Type="http://schemas.openxmlformats.org/officeDocument/2006/relationships/slide" Target="slides/added3_slide3.xml" /><Relationship Id="rId_added_slide_9" Type="http://schemas.openxmlformats.org/officeDocument/2006/relationships/slide" Target="slides/added3_slide4.xml" /><Relationship Id="rId_added_slideMaster_3" Type="http://schemas.openxmlformats.org/officeDocument/2006/relationships/slideMaster" Target="slideMasters/added3_slideMaster1.xml" /><Relationship Id="rId_added_notesMaster_3" Type="http://schemas.openxmlformats.org/officeDocument/2006/relationships/notesMaster" Target="notesMasters/added3_notesMaster1.xml" /></Relationships>
</file>

<file path=ppt/notesMasters/_rels/added2_notesMaster1.xml.rels><?xml version='1.0' encoding='utf-8'?>
<Relationships xmlns="http://schemas.openxmlformats.org/package/2006/relationships"><Relationship Type="http://schemas.openxmlformats.org/officeDocument/2006/relationships/theme" Target="theme/added2_theme3.xml" Id="R62c7bed9a4b34cd3" /></Relationships>
</file>

<file path=ppt/notesMasters/_rels/added3_notesMaster1.xml.rels><?xml version='1.0' encoding='utf-8'?>
<Relationships xmlns="http://schemas.openxmlformats.org/package/2006/relationships"><Relationship Type="http://schemas.openxmlformats.org/officeDocument/2006/relationships/theme" Target="theme/added3_theme3.xml" Id="Re68a6811ed1f4965" /></Relationships>
</file>

<file path=ppt/notesMasters/_rels/added_notesMaster1.xml.rels><?xml version='1.0' encoding='utf-8'?>
<Relationships xmlns="http://schemas.openxmlformats.org/package/2006/relationships"><Relationship Type="http://schemas.openxmlformats.org/officeDocument/2006/relationships/theme" Target="theme/added_theme3.xml" Id="R22020622d3c649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8a0d711da04687" /></Relationships>
</file>

<file path=ppt/notesMasters/added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added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added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added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added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adde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added2_notesSlide1.xml.rels><?xml version='1.0' encoding='utf-8'?>
<Relationships xmlns="http://schemas.openxmlformats.org/package/2006/relationships"><Relationship Type="http://schemas.openxmlformats.org/officeDocument/2006/relationships/slide" Target="../slides/added2_slide1.xml" Id="Rd9273b466b15406e" /><Relationship Type="http://schemas.openxmlformats.org/officeDocument/2006/relationships/notesMaster" Target="../notesMasters/added2_notesMaster1.xml" Id="R91822e58d5fd4da5" /></Relationships>
</file>

<file path=ppt/notesSlides/_rels/added2_notesSlide2.xml.rels><?xml version='1.0' encoding='utf-8'?>
<Relationships xmlns="http://schemas.openxmlformats.org/package/2006/relationships"><Relationship Type="http://schemas.openxmlformats.org/officeDocument/2006/relationships/slide" Target="../slides/added2_slide2.xml" Id="Rb9d790ccf0104739" /><Relationship Type="http://schemas.openxmlformats.org/officeDocument/2006/relationships/notesMaster" Target="../notesMasters/added2_notesMaster1.xml" Id="Ra79ace3d94134098" /></Relationships>
</file>

<file path=ppt/notesSlides/_rels/added2_notesSlide3.xml.rels><?xml version='1.0' encoding='utf-8'?>
<Relationships xmlns="http://schemas.openxmlformats.org/package/2006/relationships"><Relationship Type="http://schemas.openxmlformats.org/officeDocument/2006/relationships/slide" Target="../slides/added2_slide3.xml" Id="R42e4fcb155084e20" /><Relationship Type="http://schemas.openxmlformats.org/officeDocument/2006/relationships/notesMaster" Target="../notesMasters/added2_notesMaster1.xml" Id="R2186fde7483343b6" /></Relationships>
</file>

<file path=ppt/notesSlides/_rels/added3_notesSlide1.xml.rels><?xml version='1.0' encoding='utf-8'?>
<Relationships xmlns="http://schemas.openxmlformats.org/package/2006/relationships"><Relationship Type="http://schemas.openxmlformats.org/officeDocument/2006/relationships/slide" Target="../slides/added3_slide1.xml" Id="R9e11fadbc94e4ee8" /><Relationship Type="http://schemas.openxmlformats.org/officeDocument/2006/relationships/notesMaster" Target="../notesMasters/added3_notesMaster1.xml" Id="R9ea49282eb5147dc" /></Relationships>
</file>

<file path=ppt/notesSlides/_rels/added3_notesSlide2.xml.rels><?xml version='1.0' encoding='utf-8'?>
<Relationships xmlns="http://schemas.openxmlformats.org/package/2006/relationships"><Relationship Type="http://schemas.openxmlformats.org/officeDocument/2006/relationships/slide" Target="../slides/added3_slide2.xml" Id="R4bcf5dcd99564306" /><Relationship Type="http://schemas.openxmlformats.org/officeDocument/2006/relationships/notesMaster" Target="../notesMasters/added3_notesMaster1.xml" Id="R860d1538acba44bf" /></Relationships>
</file>

<file path=ppt/notesSlides/_rels/added3_notesSlide3.xml.rels><?xml version='1.0' encoding='utf-8'?>
<Relationships xmlns="http://schemas.openxmlformats.org/package/2006/relationships"><Relationship Type="http://schemas.openxmlformats.org/officeDocument/2006/relationships/slide" Target="../slides/added3_slide3.xml" Id="R6a1b7c517ff74c5a" /><Relationship Type="http://schemas.openxmlformats.org/officeDocument/2006/relationships/notesMaster" Target="../notesMasters/added3_notesMaster1.xml" Id="R0feb20654a304819" /></Relationships>
</file>

<file path=ppt/notesSlides/_rels/added3_notesSlide4.xml.rels><?xml version='1.0' encoding='utf-8'?>
<Relationships xmlns="http://schemas.openxmlformats.org/package/2006/relationships"><Relationship Type="http://schemas.openxmlformats.org/officeDocument/2006/relationships/slide" Target="../slides/added3_slide4.xml" Id="Rad1c2d4862684aea" /><Relationship Type="http://schemas.openxmlformats.org/officeDocument/2006/relationships/notesMaster" Target="../notesMasters/added3_notesMaster1.xml" Id="R1f2946cf99754ef0" /></Relationships>
</file>

<file path=ppt/notesSlides/_rels/added_notesSlide1.xml.rels><?xml version='1.0' encoding='utf-8'?>
<Relationships xmlns="http://schemas.openxmlformats.org/package/2006/relationships"><Relationship Type="http://schemas.openxmlformats.org/officeDocument/2006/relationships/slide" Target="../slides/added_slide1.xml" Id="Rb5bd93fc7c404241" /><Relationship Type="http://schemas.openxmlformats.org/officeDocument/2006/relationships/notesMaster" Target="../notesMasters/added_notesMaster1.xml" Id="Ra14012f25c7e4626" /></Relationships>
</file>

<file path=ppt/notesSlides/_rels/added_notesSlide2.xml.rels><?xml version='1.0' encoding='utf-8'?>
<Relationships xmlns="http://schemas.openxmlformats.org/package/2006/relationships"><Relationship Type="http://schemas.openxmlformats.org/officeDocument/2006/relationships/slide" Target="../slides/added_slide2.xml" Id="R9f972babfcf5482e" /><Relationship Type="http://schemas.openxmlformats.org/officeDocument/2006/relationships/notesMaster" Target="../notesMasters/added_notesMaster1.xml" Id="Re7fc25a3ac2742d3" /></Relationships>
</file>

<file path=ppt/notesSlides/_rels/notesSlide1.xml.rels>&#65279;<?xml version="1.0" encoding="utf-8"?><Relationships xmlns="http://schemas.openxmlformats.org/package/2006/relationships"><Relationship Type="http://schemas.openxmlformats.org/officeDocument/2006/relationships/slide" Target="/ppt/slides/slide1.xml" Id="R4fb2ded11b8b4767" /><Relationship Type="http://schemas.openxmlformats.org/officeDocument/2006/relationships/notesMaster" Target="/ppt/notesMasters/notesMaster1.xml" Id="R89d0651402f246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ad205a3d3f40a4" /><Relationship Type="http://schemas.openxmlformats.org/officeDocument/2006/relationships/notesMaster" Target="/ppt/notesMasters/notesMaster1.xml" Id="Rdd2db177a4264c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d0a3fe0d1f486b" /><Relationship Type="http://schemas.openxmlformats.org/officeDocument/2006/relationships/notesMaster" Target="/ppt/notesMasters/notesMaster1.xml" Id="R760e45d1eee94e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a3b655bbfc482a" /><Relationship Type="http://schemas.openxmlformats.org/officeDocument/2006/relationships/notesMaster" Target="/ppt/notesMasters/notesMaster1.xml" Id="R0b1e8410ae4a43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b85b75d27f487d" /><Relationship Type="http://schemas.openxmlformats.org/officeDocument/2006/relationships/notesMaster" Target="/ppt/notesMasters/notesMaster1.xml" Id="R6fb7df1a44ff46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3949dac8384a20" /><Relationship Type="http://schemas.openxmlformats.org/officeDocument/2006/relationships/notesMaster" Target="/ppt/notesMasters/notesMaster1.xml" Id="Rf1c6ad1041114d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ef7be0c6d94766" /><Relationship Type="http://schemas.openxmlformats.org/officeDocument/2006/relationships/notesMaster" Target="/ppt/notesMasters/notesMaster1.xml" Id="R7bcc75f0d6c749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bbe76d07204067" /><Relationship Type="http://schemas.openxmlformats.org/officeDocument/2006/relationships/notesMaster" Target="/ppt/notesMasters/notesMaster1.xml" Id="Rfc1e2c18569148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e61b5acc4441c8" /><Relationship Type="http://schemas.openxmlformats.org/officeDocument/2006/relationships/notesMaster" Target="/ppt/notesMasters/notesMaster1.xml" Id="R889b2893dd4f4b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1e9770773c429f" /><Relationship Type="http://schemas.openxmlformats.org/officeDocument/2006/relationships/notesMaster" Target="/ppt/notesMasters/notesMaster1.xml" Id="Rb30cde1228b14d47" /></Relationships>
</file>

<file path=ppt/notesSlides/added2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experiment tests whether unreliable translation commands change the useful replanning interval or the success-versus-call trade-off. At each policy-controlled 20 Hz step, the wrapper applies a Bernoulli dropout mask to the clipped XYZ command only. The 7D action is (translation,rotation,gripper); applied action is ((1-b_t)translation,rotation,gripper). The simulation step still runs. The policy receives no extra failure flag and sees the true state only at its next scheduled observation. Settling steps are unperturbed. A private counter-based disturbance stream depends on matched start,disturbance seed20261025 and control-step index,not method or policy call count. The same uniforms generate nested masks across probabilities. The target is30starts for each of9methods and each probability. The historical p0 reference is the main270-episode RTX2060 cohort. Home collects p0.1 and0.3 for the eight methods excludingK1. Separate Kaggle notebooks collectK1 at0.1/0.3 and all9methods at0.2. Short p0 wrapper checks on Kaggle are not a new30-episode same-GPU baseline. The working hypothesis is conditional,not an established result. Source: configs/action-dropout.json,action_dropout/core.py,action_dropout/config.py,scripts/build_action_dropout_kaggle_bundle.py.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2_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Illustrative data. This slide uses the current user-supplied JSON summaries, including manually edited values. It was rebuilt without checking experimental logs and should not be interpreted as verified experimental evidence. Sources: input/analysis.json, input/baseline.json and input/k1/k1_results.json in the private build snapshot. Success rate is the supplied successes divided by episodes. Model calls use the supplied mean across all episodes. The shared K=1/C=1 point is one displayed value, not a separate run. p=0.2 has no supplied data.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added2_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Illustrative data. This slide uses the current user-supplied JSON summaries, including manually edited values. It was rebuilt without checking experimental logs and should not be interpreted as verified experimental evidence. Sources: input/analysis.json, input/baseline.json and input/k1/k1_results.json in the private build snapshot. Success rate is the supplied successes divided by episodes. Model calls use the supplied mean across all episodes. The shared K=1/C=1 point is one displayed value, not a separate run. p=0.2 has no supplied data.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added3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data. This slide uses the current user-supplied JSON summaries, including manually edited values. It was rebuilt without checking experimental logs and should not be interpreted as verified experimental evidence. Sources: input/analysis.json, input/baseline.json and input/k1/k1_results.json in the private build snapshot. Success rate is the supplied successes divided by episodes. Model calls use the supplied mean across all episodes. The shared K=1/C=1 point is one displayed value, not a separate run. p=0.2 has no supplied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3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data. This slide uses the current user-supplied JSON summaries, including manually edited values. It was rebuilt without checking experimental logs and should not be interpreted as verified experimental evidence. Sources: input/analysis.json, input/baseline.json and input/k1/k1_results.json in the private build snapshot. Success rate is the supplied successes divided by episodes. Model calls use the supplied mean across all episodes. The shared K=1/C=1 point is one displayed value, not a separate run. p=0.2 has no supplied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3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descriptive conclusions for the tested configurations. At p=0.3, K=1 has the highest observed task success,23/30, but requires187.8 calls versus K=10 with19/30 and21.9 calls. The claim that DVAC suffers more is an average comparison over the same four limits5,10,25,50, not every individual cap. At p=0, DVAC totals102/120 and fixed K totals70/120. At p=0.3, these totals are58/120 and50/120. Thus the average success-rate loss is36.7 percentage points for DVAC and16.7 for fixed K. C=5 is an exception: its decline is smaller than fixed K=5. The conclusion does not establish a universal optimum or statistical superiority. The original clean-execution result remains K=5:26/30 with31.3 mean calls versus K=1:23/30 with162.0. One policy seed and three tasks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3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main-comparison table reconstructed from outputs/capped-report/episodes.csv, 270 unique episodes across nine rules. Each task contributes the same 10 initial states and policy seed 11. Soup, bowl and drawer counts sum to the Total /30 column. Model calls are arithmetic means across all 30 episodes including failures, rounded to one decimal. The original main success-versus-calls graph is preserved in the main 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panel shows the observed success rate over the same ten initial states of one task, for fixed K=1,5,10,25,50. Soup successes:6,9,10,6,3. Bowl:8,7,4,4,3. Drawer:9,10,10,1,3. Soup reaches10/10 atK10, drawer10/10 atK5andK10, bowl peaks8/10 atK1. These task-specific results explain why the aggregate success curve does not imply a universal bestK. Each cell has only ten episodes with one policyseed, so rankings are descriptive. Source: outputs/capped-report/episodes.csv and analysis.json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ded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simple cost view of the fixed-interval experiment. X: numberK of actions executed before observing and replanning. Y: mean model calls per episode. Values:K1=162.0333333333,K5=31.3333333333,K10=15.5,K25=9.6,K50=5.1. All30episodes per setting contribute, including failures. The calls for one fixed-K episode are ceil(steps/K). The observed mean is not simply a common constant divided byK because success and early termination change episode length. Lower calls alone do not establish a better method: compare success on the preceding results slides. Source: outputs/capped-report/episodes.csv and analysis.json. No new simulation episodes were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study the number of actions a pretrained VLA executes before receiving a new observation. Each SmolVLA call predicts a block of 50 actions. We compare five fixed execution intervals with four DVAC caps on the same 30 starting settings. The research question is how the execution interval changes observed task success and model-call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Vision–Language–Action model receives an external image, a wrist image, the language instruction and robot state [x,y,z,rx,ry,rz,gL,gR]. Orientation uses axis-angle coordinates. gL and gR are finger positions. The output is 50 relative 7D actions. The demonstration uses fixed K=10. LIBERO defines the task and MuJoCo simulates physics. We use pretrained weights without 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SmolVLA always predicts H=50 actions using M=10 flow-matching iterations. The executor consumes only the first K actions, obtains a new observation and discards the unused suffix. DVAC selects K with a maximum C. H is not the execution interval. Fixed K values are 1,5,10,25,50 and DVAC caps are 5,10,25,50. The video shows soup state 0. This single episode illustrates behavior, but is not evidence of aggregate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clean estimates come from the final five flow-matching solver iterations inside the same model call. z_i = x_i − t_i v_i. For each future action index j, V_j = sum_d Var_i(z_i,j,d). W contains variance values from up to five previous policy calls. tau = mean(W) + 2 std(W). j* is the first zero-based index with V_j greater than tau. K=min(C,max(1,j*)). If no index crosses, K=min(C,50). Bootstrap K=1 for the first call. Update W only after choosing K. This is internal disagreement, not calibrated confidence. The main comparison does not isolate the variance signal from the schedule or call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30 paired settings comprise three tasks with ten initial states each. All nine methods reuse each physical start. We verify equal initial simulator state, camera images and first 50×7 prediction. We hold checkpoint, weights, H=50, M=10, FP32 precision, policy seed 11 and 20 Hz control fixed. There are 150 fixed-rule episodes and 120 DVAC episodes, totaling 270. The episode caps are 280 or 300 steps depending on the task. Failures remain in cost averages. The tasks involve soup transfer, bowl placement and opening a drawer.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method uses the same 30 starting settings. Fixed results: K1 23/30,162.033 mean calls; K5 26/30,31.333; K10 24/30,15.5; K25 11/30,9.6; K50 9/30,5.1. DVAC results: C5 27/30,40.233; C10 25/30,26.367; C25 25/30,14.1; C50 25/30,9.5. The x-axis is logarithmic. Lines guide the eye, without interpolated measurements. C=1 executes exactly one action before each observation and shares the measured K=1 baseline, with no separate run. Calls include both successes and failures. C50 and K25 have similar mean calls but very different observed success. C50 uses about 70% fewer calls than K5 with 25 versus 26 observed successes. The sample does not establish equal reliability. Vertical bars show the recorded descriptive 95% task-stratified state-bootstrap intervals for success rate. The analysis uses 10,000 paired resamples of initial states within each task, seed 20261024, with equal task weights. The endpoints are the 2.5th and 97.5th percentiles. There are no horizontal intervals. The shared K=1/C=1 point uses the K=1 interval once. These intervals describe variation across the observed starting states with one policy seed, and interval overlap is not a test of paired method differences. Source: outputs/capped-report/analysis.json, methods[].success_ci_low/high, generated by scripts/analyze_capped.py.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video: soup state 3, C10 on the left and C50 on the right. C10 succeeds after 143 steps, while C50 transports an empty gripper and reaches the 280-step limit. Right video: bowl state 0, C10 left and C50 right. C50 succeeds after 81 steps while C10 keeps repositioning until the 280-step limit. These examples describe visible behavior. They do not establish a causal mechanism or a universal optimal cap.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additional cohorts are analyzed separately from the main 270-episode comparison. New-state cohort: three tasks, six physical settings and two policy seeds, twelve episodes per method and 48 total. DVAC and K10 each solve 9/12, but equal totals do not prove equal reliability. Target-force experiment: five states × three seeds × three K values × three conditions =135 episodes. Static/slow/fast are separate force-disturbance conditions. The video shows K10 under all three conditions. These results are not action-dropout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122 additional rollouts across the controls shown. The action-based heuristic uses K5 near predicted gripper-sign changes or sharp translation-direction changes, otherwise K10 for a closing gripper and K25 for opening. The heuristic evaluation runs in a separate Apple Silicon/MPS cohort, with 6/12 versus K10 9/12 in the primary evaluation and 7/12 versus 10/12 in replication. Exact continuations branch from saved step-80 simulator and policy state. Original K1 succeeds in5/7, fixed sampling noise3/7, execute10actions4/7. Neither intervention rescues the two original failures. The goal-retention check replays 50 successful episodes and forcibly opens the gripper after policy termination. All50 retain the goal. This is a separate replay cohort, not a guarantee for all main-cohort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was how replanning frequency affects task success and model-call cost. The results are nonmonotonic: every-step replanning costs162.0calls on average and solves23/30, while fixed K5 solves26/30 at31.3calls. DVAC C50 solves25/30 at9.5calls, about69.7% fewer calls than K5. This is an observed success–cost trade-off and does not prove equal reliability, statistical superiority or a universal optimalK. The model pauses the simulator during inference, so model-call cost is not a direct measurement of physical-time performance. Main limitations are three tasks,30starts,onepolicyseed. A cost-matched fixed schedule would test whether the variance signal adds value beyond the schedule and budget. New states, repeated seeds and realistic observation/inference delays would test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added2_slideLayout1.xml.rels><?xml version='1.0' encoding='utf-8'?>
<Relationships xmlns="http://schemas.openxmlformats.org/package/2006/relationships"><Relationship Type="http://schemas.openxmlformats.org/officeDocument/2006/relationships/slideMaster" Target="../slideMasters/added2_slideMaster1.xml" Id="R764f7d399ea644c9" /></Relationships>
</file>

<file path=ppt/slideLayouts/_rels/added2_slideLayout2.xml.rels><?xml version='1.0' encoding='utf-8'?>
<Relationships xmlns="http://schemas.openxmlformats.org/package/2006/relationships"><Relationship Type="http://schemas.openxmlformats.org/officeDocument/2006/relationships/slideMaster" Target="../slideMasters/added2_slideMaster1.xml" Id="Ra26a76b417b74e1b" /></Relationships>
</file>

<file path=ppt/slideLayouts/_rels/added2_slideLayout3.xml.rels><?xml version='1.0' encoding='utf-8'?>
<Relationships xmlns="http://schemas.openxmlformats.org/package/2006/relationships"><Relationship Type="http://schemas.openxmlformats.org/officeDocument/2006/relationships/slideMaster" Target="../slideMasters/added2_slideMaster1.xml" Id="Rf4d3e7074a334d52" /></Relationships>
</file>

<file path=ppt/slideLayouts/_rels/added2_slideLayout4.xml.rels><?xml version='1.0' encoding='utf-8'?>
<Relationships xmlns="http://schemas.openxmlformats.org/package/2006/relationships"><Relationship Type="http://schemas.openxmlformats.org/officeDocument/2006/relationships/slideMaster" Target="../slideMasters/added2_slideMaster1.xml" Id="R1a1164ce87da4ae7" /></Relationships>
</file>

<file path=ppt/slideLayouts/_rels/added2_slideLayout5.xml.rels><?xml version='1.0' encoding='utf-8'?>
<Relationships xmlns="http://schemas.openxmlformats.org/package/2006/relationships"><Relationship Type="http://schemas.openxmlformats.org/officeDocument/2006/relationships/slideMaster" Target="../slideMasters/added2_slideMaster1.xml" Id="Rcc6b11d04967473a" /></Relationships>
</file>

<file path=ppt/slideLayouts/_rels/added2_slideLayout6.xml.rels><?xml version='1.0' encoding='utf-8'?>
<Relationships xmlns="http://schemas.openxmlformats.org/package/2006/relationships"><Relationship Type="http://schemas.openxmlformats.org/officeDocument/2006/relationships/slideMaster" Target="../slideMasters/added2_slideMaster1.xml" Id="R8eb85652e57d437f" /></Relationships>
</file>

<file path=ppt/slideLayouts/_rels/added3_slideLayout1.xml.rels><?xml version='1.0' encoding='utf-8'?>
<Relationships xmlns="http://schemas.openxmlformats.org/package/2006/relationships"><Relationship Type="http://schemas.openxmlformats.org/officeDocument/2006/relationships/slideMaster" Target="../slideMasters/added3_slideMaster1.xml" Id="R30448108985e4d0d" /></Relationships>
</file>

<file path=ppt/slideLayouts/_rels/added3_slideLayout2.xml.rels><?xml version='1.0' encoding='utf-8'?>
<Relationships xmlns="http://schemas.openxmlformats.org/package/2006/relationships"><Relationship Type="http://schemas.openxmlformats.org/officeDocument/2006/relationships/slideMaster" Target="../slideMasters/added3_slideMaster1.xml" Id="R990986a266084b9c" /></Relationships>
</file>

<file path=ppt/slideLayouts/_rels/added3_slideLayout3.xml.rels><?xml version='1.0' encoding='utf-8'?>
<Relationships xmlns="http://schemas.openxmlformats.org/package/2006/relationships"><Relationship Type="http://schemas.openxmlformats.org/officeDocument/2006/relationships/slideMaster" Target="../slideMasters/added3_slideMaster1.xml" Id="R37d4793c2fa54ecd" /></Relationships>
</file>

<file path=ppt/slideLayouts/_rels/added3_slideLayout4.xml.rels><?xml version='1.0' encoding='utf-8'?>
<Relationships xmlns="http://schemas.openxmlformats.org/package/2006/relationships"><Relationship Type="http://schemas.openxmlformats.org/officeDocument/2006/relationships/slideMaster" Target="../slideMasters/added3_slideMaster1.xml" Id="R07762d8a209e4caa" /></Relationships>
</file>

<file path=ppt/slideLayouts/_rels/added3_slideLayout5.xml.rels><?xml version='1.0' encoding='utf-8'?>
<Relationships xmlns="http://schemas.openxmlformats.org/package/2006/relationships"><Relationship Type="http://schemas.openxmlformats.org/officeDocument/2006/relationships/slideMaster" Target="../slideMasters/added3_slideMaster1.xml" Id="R8189f3d091a14531" /></Relationships>
</file>

<file path=ppt/slideLayouts/_rels/added3_slideLayout6.xml.rels><?xml version='1.0' encoding='utf-8'?>
<Relationships xmlns="http://schemas.openxmlformats.org/package/2006/relationships"><Relationship Type="http://schemas.openxmlformats.org/officeDocument/2006/relationships/slideMaster" Target="../slideMasters/added3_slideMaster1.xml" Id="R33a46aef31a245e0" /></Relationships>
</file>

<file path=ppt/slideLayouts/_rels/added_slideLayout1.xml.rels><?xml version='1.0' encoding='utf-8'?>
<Relationships xmlns="http://schemas.openxmlformats.org/package/2006/relationships"><Relationship Type="http://schemas.openxmlformats.org/officeDocument/2006/relationships/slideMaster" Target="../slideMasters/added_slideMaster1.xml" Id="R03055dd1dcd5468c" /></Relationships>
</file>

<file path=ppt/slideLayouts/_rels/added_slideLayout2.xml.rels><?xml version='1.0' encoding='utf-8'?>
<Relationships xmlns="http://schemas.openxmlformats.org/package/2006/relationships"><Relationship Type="http://schemas.openxmlformats.org/officeDocument/2006/relationships/slideMaster" Target="../slideMasters/added_slideMaster1.xml" Id="Rf9e01bc5114c45f3" /></Relationships>
</file>

<file path=ppt/slideLayouts/_rels/added_slideLayout3.xml.rels><?xml version='1.0' encoding='utf-8'?>
<Relationships xmlns="http://schemas.openxmlformats.org/package/2006/relationships"><Relationship Type="http://schemas.openxmlformats.org/officeDocument/2006/relationships/slideMaster" Target="../slideMasters/added_slideMaster1.xml" Id="R3211aff7eba3426d" /></Relationships>
</file>

<file path=ppt/slideLayouts/_rels/added_slideLayout4.xml.rels><?xml version='1.0' encoding='utf-8'?>
<Relationships xmlns="http://schemas.openxmlformats.org/package/2006/relationships"><Relationship Type="http://schemas.openxmlformats.org/officeDocument/2006/relationships/slideMaster" Target="../slideMasters/added_slideMaster1.xml" Id="R160505fa74704444" /></Relationships>
</file>

<file path=ppt/slideLayouts/_rels/added_slideLayout5.xml.rels><?xml version='1.0' encoding='utf-8'?>
<Relationships xmlns="http://schemas.openxmlformats.org/package/2006/relationships"><Relationship Type="http://schemas.openxmlformats.org/officeDocument/2006/relationships/slideMaster" Target="../slideMasters/added_slideMaster1.xml" Id="R0521d29860664015" /></Relationships>
</file>

<file path=ppt/slideLayouts/_rels/added_slideLayout6.xml.rels><?xml version='1.0' encoding='utf-8'?>
<Relationships xmlns="http://schemas.openxmlformats.org/package/2006/relationships"><Relationship Type="http://schemas.openxmlformats.org/officeDocument/2006/relationships/slideMaster" Target="../slideMasters/added_slideMaster1.xml" Id="R3a1ebf3cb2b14ff6"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8bba14938c49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9a5f9efdd14a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0e9fadc36948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bf84bbb9f14f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da1ef51d9a42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7f767896cc4341" /></Relationships>
</file>

<file path=ppt/slideLayouts/added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9FAFA2-DF6F-477A-BDCB-8225E8D403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9256FF-491B-406B-8FF1-6D2000BC46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added2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ACCE85-6CBB-4870-B4B9-35550350FA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added2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332DEE-E56F-407A-8A5A-8A2697E1A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CAC055-C911-4F60-8D6B-CB5506D629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2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BC0455-5466-4272-B62C-A16DD60E68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80C6B2-E84C-4CB7-BCE5-6641BDAA3E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2E9494-1E87-4E2B-B263-299B232A2C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added2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6DA497-B4F3-4E07-AA53-232D18D557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BC48DF-1F17-40EE-9B43-2766195D3B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2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added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7B106D-9655-45D0-A90A-BD52ECF05B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F92833-5FE5-4E81-A0A0-D8D6B68CC2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added3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D1FFE1-7695-4D24-9CDA-09DB9875A4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added3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595CC-310E-4BF9-A8A8-6173648AD4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6D8046-FEE2-479B-84D9-8C481B378D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3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E13721-0E45-4FA0-9012-EC87763654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DC4405-E323-42EB-B41A-6C4E1EFF94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5870B9-705F-48DB-8431-7EF4BD4AB1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added3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5563E5-DB18-4FB2-98EC-836062EF42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31C715-B6B8-4071-A019-5C1530EA34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3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added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ED1420-E338-415C-9E27-EAC5CDD8E1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9705EB-213E-45AF-95BA-D3FBB9CA68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added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846A57-E1C2-4124-8F51-6A33E8EC6D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added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92314A-FEAF-4450-BCF2-3886A937FC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1FACD9-B045-47D5-93AE-3812E5593C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2C4ED8-3568-4D69-8CEA-4E8BFED9D0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370E02-B121-4684-A450-8B60D08D76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B49E32-622D-43B1-A890-723F68FA5D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added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0E60A0-4C40-4BCC-889D-F020AD4619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D75D86-AE6C-48AA-8648-1DCC0610A8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added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308B31-67D9-4061-89C3-6DF4685E40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5ECA1E-A68F-4066-B76A-BA76610F6F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17C615-BEF7-4345-B512-6EB5280234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E19011-52E7-442E-93EA-98DF192684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E893C0-6EDF-469C-8FC6-7338CB2FBD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588A86-A742-42C6-B910-E5F84B98E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65FB66-38EA-4069-A321-1E6FA43A22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0BE66B-50CC-4D7A-80DC-65BDF63BE4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907B54-93AD-43FE-81A7-816A9F474D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D157A0-8FCC-4220-9B1A-4CC3F4F446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added2_slideMaster1.xml.rels><?xml version='1.0' encoding='utf-8'?>
<Relationships xmlns="http://schemas.openxmlformats.org/package/2006/relationships"><Relationship Type="http://schemas.openxmlformats.org/officeDocument/2006/relationships/theme" Target="theme/added2_theme2.xml" Id="Rad9257a7eea744ca" /><Relationship Type="http://schemas.openxmlformats.org/officeDocument/2006/relationships/slideLayout" Target="../slideLayouts/added2_slideLayout1.xml" Id="Rc0f1abd12aca417b" /><Relationship Type="http://schemas.openxmlformats.org/officeDocument/2006/relationships/slideLayout" Target="../slideLayouts/added2_slideLayout2.xml" Id="R4cae73e69e6e4494" /><Relationship Type="http://schemas.openxmlformats.org/officeDocument/2006/relationships/slideLayout" Target="../slideLayouts/added2_slideLayout3.xml" Id="Rc6aa737d681f4ac6" /><Relationship Type="http://schemas.openxmlformats.org/officeDocument/2006/relationships/slideLayout" Target="../slideLayouts/added2_slideLayout4.xml" Id="Rbd070fe27e214b06" /><Relationship Type="http://schemas.openxmlformats.org/officeDocument/2006/relationships/slideLayout" Target="../slideLayouts/added2_slideLayout5.xml" Id="Re1390e0391f64147" /><Relationship Type="http://schemas.openxmlformats.org/officeDocument/2006/relationships/slideLayout" Target="../slideLayouts/added2_slideLayout6.xml" Id="Rbde4f35a9a674db4" /></Relationships>
</file>

<file path=ppt/slideMasters/_rels/added3_slideMaster1.xml.rels><?xml version='1.0' encoding='utf-8'?>
<Relationships xmlns="http://schemas.openxmlformats.org/package/2006/relationships"><Relationship Type="http://schemas.openxmlformats.org/officeDocument/2006/relationships/theme" Target="theme/added3_theme2.xml" Id="R92079c920ef9488c" /><Relationship Type="http://schemas.openxmlformats.org/officeDocument/2006/relationships/slideLayout" Target="../slideLayouts/added3_slideLayout1.xml" Id="R2ea9cc3eb4354718" /><Relationship Type="http://schemas.openxmlformats.org/officeDocument/2006/relationships/slideLayout" Target="../slideLayouts/added3_slideLayout2.xml" Id="R587768b8bdcf4b91" /><Relationship Type="http://schemas.openxmlformats.org/officeDocument/2006/relationships/slideLayout" Target="../slideLayouts/added3_slideLayout3.xml" Id="R7e5748e432624e38" /><Relationship Type="http://schemas.openxmlformats.org/officeDocument/2006/relationships/slideLayout" Target="../slideLayouts/added3_slideLayout4.xml" Id="R66ff0056feb143be" /><Relationship Type="http://schemas.openxmlformats.org/officeDocument/2006/relationships/slideLayout" Target="../slideLayouts/added3_slideLayout5.xml" Id="R3ddbf330ac774973" /><Relationship Type="http://schemas.openxmlformats.org/officeDocument/2006/relationships/slideLayout" Target="../slideLayouts/added3_slideLayout6.xml" Id="R5d535f047c6c4395" /></Relationships>
</file>

<file path=ppt/slideMasters/_rels/added_slideMaster1.xml.rels><?xml version='1.0' encoding='utf-8'?>
<Relationships xmlns="http://schemas.openxmlformats.org/package/2006/relationships"><Relationship Type="http://schemas.openxmlformats.org/officeDocument/2006/relationships/theme" Target="theme/added_theme2.xml" Id="Rb0c59eb151134fad" /><Relationship Type="http://schemas.openxmlformats.org/officeDocument/2006/relationships/slideLayout" Target="../slideLayouts/added_slideLayout1.xml" Id="R400bd7f03fa94151" /><Relationship Type="http://schemas.openxmlformats.org/officeDocument/2006/relationships/slideLayout" Target="../slideLayouts/added_slideLayout2.xml" Id="Rfb8d64f3a7444690" /><Relationship Type="http://schemas.openxmlformats.org/officeDocument/2006/relationships/slideLayout" Target="../slideLayouts/added_slideLayout3.xml" Id="R84990eb60f11486a" /><Relationship Type="http://schemas.openxmlformats.org/officeDocument/2006/relationships/slideLayout" Target="../slideLayouts/added_slideLayout4.xml" Id="R83f80f8ad3944407" /><Relationship Type="http://schemas.openxmlformats.org/officeDocument/2006/relationships/slideLayout" Target="../slideLayouts/added_slideLayout5.xml" Id="Rdc670fda8db248b7" /><Relationship Type="http://schemas.openxmlformats.org/officeDocument/2006/relationships/slideLayout" Target="../slideLayouts/added_slideLayout6.xml" Id="R8eb14cd26eee4555"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82c62d4793e946e0" /><Relationship Type="http://schemas.openxmlformats.org/officeDocument/2006/relationships/slideLayout" Target="/ppt/slideLayouts/slideLayout1.xml" Id="R16d9a141cd094b03" /><Relationship Type="http://schemas.openxmlformats.org/officeDocument/2006/relationships/slideLayout" Target="/ppt/slideLayouts/slideLayout2.xml" Id="R4357b6488e454040" /><Relationship Type="http://schemas.openxmlformats.org/officeDocument/2006/relationships/slideLayout" Target="/ppt/slideLayouts/slideLayout3.xml" Id="Rd19b23ef105043ba" /><Relationship Type="http://schemas.openxmlformats.org/officeDocument/2006/relationships/slideLayout" Target="/ppt/slideLayouts/slideLayout4.xml" Id="R19a747b05fe244c3" /><Relationship Type="http://schemas.openxmlformats.org/officeDocument/2006/relationships/slideLayout" Target="/ppt/slideLayouts/slideLayout5.xml" Id="Rc243a44fb794467f" /><Relationship Type="http://schemas.openxmlformats.org/officeDocument/2006/relationships/slideLayout" Target="/ppt/slideLayouts/slideLayout6.xml" Id="R18581eadced244ab" /></Relationships>
</file>

<file path=ppt/slideMasters/added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f1abd12aca417b"/>
    <p:sldLayoutId xmlns:r="http://schemas.openxmlformats.org/officeDocument/2006/relationships" id="2147483650" r:id="R4cae73e69e6e4494"/>
    <p:sldLayoutId xmlns:r="http://schemas.openxmlformats.org/officeDocument/2006/relationships" id="2147483651" r:id="Rc6aa737d681f4ac6"/>
    <p:sldLayoutId xmlns:r="http://schemas.openxmlformats.org/officeDocument/2006/relationships" id="2147483652" r:id="Rbd070fe27e214b06"/>
    <p:sldLayoutId xmlns:r="http://schemas.openxmlformats.org/officeDocument/2006/relationships" id="2147483653" r:id="Re1390e0391f64147"/>
    <p:sldLayoutId xmlns:r="http://schemas.openxmlformats.org/officeDocument/2006/relationships" id="2147483654" r:id="Rbde4f35a9a674d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added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a9cc3eb4354718"/>
    <p:sldLayoutId xmlns:r="http://schemas.openxmlformats.org/officeDocument/2006/relationships" id="2147483650" r:id="R587768b8bdcf4b91"/>
    <p:sldLayoutId xmlns:r="http://schemas.openxmlformats.org/officeDocument/2006/relationships" id="2147483651" r:id="R7e5748e432624e38"/>
    <p:sldLayoutId xmlns:r="http://schemas.openxmlformats.org/officeDocument/2006/relationships" id="2147483652" r:id="R66ff0056feb143be"/>
    <p:sldLayoutId xmlns:r="http://schemas.openxmlformats.org/officeDocument/2006/relationships" id="2147483653" r:id="R3ddbf330ac774973"/>
    <p:sldLayoutId xmlns:r="http://schemas.openxmlformats.org/officeDocument/2006/relationships" id="2147483654" r:id="R5d535f047c6c43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added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0bd7f03fa94151"/>
    <p:sldLayoutId xmlns:r="http://schemas.openxmlformats.org/officeDocument/2006/relationships" id="2147483650" r:id="Rfb8d64f3a7444690"/>
    <p:sldLayoutId xmlns:r="http://schemas.openxmlformats.org/officeDocument/2006/relationships" id="2147483651" r:id="R84990eb60f11486a"/>
    <p:sldLayoutId xmlns:r="http://schemas.openxmlformats.org/officeDocument/2006/relationships" id="2147483652" r:id="R83f80f8ad3944407"/>
    <p:sldLayoutId xmlns:r="http://schemas.openxmlformats.org/officeDocument/2006/relationships" id="2147483653" r:id="Rdc670fda8db248b7"/>
    <p:sldLayoutId xmlns:r="http://schemas.openxmlformats.org/officeDocument/2006/relationships" id="2147483654" r:id="R8eb14cd26eee45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d9a141cd094b03"/>
    <p:sldLayoutId xmlns:r="http://schemas.openxmlformats.org/officeDocument/2006/relationships" id="2147483650" r:id="R4357b6488e454040"/>
    <p:sldLayoutId xmlns:r="http://schemas.openxmlformats.org/officeDocument/2006/relationships" id="2147483651" r:id="Rd19b23ef105043ba"/>
    <p:sldLayoutId xmlns:r="http://schemas.openxmlformats.org/officeDocument/2006/relationships" id="2147483652" r:id="R19a747b05fe244c3"/>
    <p:sldLayoutId xmlns:r="http://schemas.openxmlformats.org/officeDocument/2006/relationships" id="2147483653" r:id="Rc243a44fb794467f"/>
    <p:sldLayoutId xmlns:r="http://schemas.openxmlformats.org/officeDocument/2006/relationships" id="2147483654" r:id="R18581eadced244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added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added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adde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added2_slide1.xml.rels><?xml version='1.0' encoding='utf-8'?>
<Relationships xmlns="http://schemas.openxmlformats.org/package/2006/relationships"><Relationship Type="http://schemas.openxmlformats.org/officeDocument/2006/relationships/slideLayout" Target="../slideLayouts/added2_slideLayout6.xml" Id="R058a7a2b8f2945b7" /><Relationship Type="http://schemas.openxmlformats.org/officeDocument/2006/relationships/notesSlide" Target="../notesSlides/added2_notesSlide1.xml" Id="R8111e62a1d834bb6" /></Relationships>
</file>

<file path=ppt/slides/_rels/added2_slide2.xml.rels><?xml version='1.0' encoding='utf-8'?>
<Relationships xmlns="http://schemas.openxmlformats.org/package/2006/relationships"><Relationship Type="http://schemas.openxmlformats.org/officeDocument/2006/relationships/slideLayout" Target="../slideLayouts/added2_slideLayout6.xml" Id="R0713716ea4e64a8d" /><Relationship Type="http://schemas.openxmlformats.org/officeDocument/2006/relationships/notesSlide" Target="../notesSlides/added2_notesSlide2.xml" Id="Rc6b8996da0614170" /></Relationships>
</file>

<file path=ppt/slides/_rels/added2_slide3.xml.rels><?xml version='1.0' encoding='utf-8'?>
<Relationships xmlns="http://schemas.openxmlformats.org/package/2006/relationships"><Relationship Type="http://schemas.openxmlformats.org/officeDocument/2006/relationships/slideLayout" Target="../slideLayouts/added2_slideLayout6.xml" Id="R5ef2c94fa9a344f3" /><Relationship Type="http://schemas.openxmlformats.org/officeDocument/2006/relationships/notesSlide" Target="../notesSlides/added2_notesSlide3.xml" Id="Raa6aaa1b617f4bf6" /></Relationships>
</file>

<file path=ppt/slides/_rels/added3_slide1.xml.rels><?xml version='1.0' encoding='utf-8'?>
<Relationships xmlns="http://schemas.openxmlformats.org/package/2006/relationships"><Relationship Type="http://schemas.openxmlformats.org/officeDocument/2006/relationships/slideLayout" Target="../slideLayouts/added3_slideLayout6.xml" Id="Rebf05024c5ea4545" /><Relationship Type="http://schemas.openxmlformats.org/officeDocument/2006/relationships/image" Target="../media/added3_image.png" Id="Re2fc3b6b2a544034" /><Relationship Type="http://schemas.openxmlformats.org/officeDocument/2006/relationships/notesSlide" Target="../notesSlides/added3_notesSlide1.xml" Id="R01846e625ee6436a" /></Relationships>
</file>

<file path=ppt/slides/_rels/added3_slide2.xml.rels><?xml version='1.0' encoding='utf-8'?>
<Relationships xmlns="http://schemas.openxmlformats.org/package/2006/relationships"><Relationship Type="http://schemas.openxmlformats.org/officeDocument/2006/relationships/slideLayout" Target="../slideLayouts/added3_slideLayout6.xml" Id="R9e87dcef2d744915" /><Relationship Type="http://schemas.openxmlformats.org/officeDocument/2006/relationships/image" Target="../media/added3_image2.png" Id="R77d19902e5a248b5" /><Relationship Type="http://schemas.openxmlformats.org/officeDocument/2006/relationships/notesSlide" Target="../notesSlides/added3_notesSlide2.xml" Id="R4e6b882580124e98" /></Relationships>
</file>

<file path=ppt/slides/_rels/added3_slide3.xml.rels><?xml version='1.0' encoding='utf-8'?>
<Relationships xmlns="http://schemas.openxmlformats.org/package/2006/relationships"><Relationship Type="http://schemas.openxmlformats.org/officeDocument/2006/relationships/slideLayout" Target="../slideLayouts/added3_slideLayout6.xml" Id="R704b37018d2a4cbd" /><Relationship Type="http://schemas.openxmlformats.org/officeDocument/2006/relationships/notesSlide" Target="../notesSlides/added3_notesSlide3.xml" Id="R78a2ecd5572d401f" /></Relationships>
</file>

<file path=ppt/slides/_rels/added3_slide4.xml.rels><?xml version='1.0' encoding='utf-8'?>
<Relationships xmlns="http://schemas.openxmlformats.org/package/2006/relationships"><Relationship Type="http://schemas.openxmlformats.org/officeDocument/2006/relationships/slideLayout" Target="../slideLayouts/added3_slideLayout6.xml" Id="R7afb3045baa94a0e" /><Relationship Type="http://schemas.openxmlformats.org/officeDocument/2006/relationships/notesSlide" Target="../notesSlides/added3_notesSlide4.xml" Id="Reb17303b7fe44cc2" /></Relationships>
</file>

<file path=ppt/slides/_rels/added_slide1.xml.rels><?xml version='1.0' encoding='utf-8'?>
<Relationships xmlns="http://schemas.openxmlformats.org/package/2006/relationships"><Relationship Type="http://schemas.openxmlformats.org/officeDocument/2006/relationships/slideLayout" Target="../slideLayouts/added_slideLayout6.xml" Id="Rf5016996548046fb" /><Relationship Type="http://schemas.openxmlformats.org/officeDocument/2006/relationships/chart" Target="charts/added_chart1.xml" Id="R470f6aa3917741d5" /><Relationship Type="http://schemas.openxmlformats.org/officeDocument/2006/relationships/chart" Target="charts/added_chart2.xml" Id="R04fa9bc80add4ef0" /><Relationship Type="http://schemas.openxmlformats.org/officeDocument/2006/relationships/chart" Target="charts/added_chart3.xml" Id="R56cf8828aa4444b2" /><Relationship Type="http://schemas.openxmlformats.org/officeDocument/2006/relationships/notesSlide" Target="../notesSlides/added_notesSlide1.xml" Id="R5cc3f7b3aa134a63" /></Relationships>
</file>

<file path=ppt/slides/_rels/added_slide2.xml.rels><?xml version='1.0' encoding='utf-8'?>
<Relationships xmlns="http://schemas.openxmlformats.org/package/2006/relationships"><Relationship Type="http://schemas.openxmlformats.org/officeDocument/2006/relationships/slideLayout" Target="../slideLayouts/added_slideLayout6.xml" Id="R88516896b061489b" /><Relationship Type="http://schemas.openxmlformats.org/officeDocument/2006/relationships/chart" Target="charts/added_chart4.xml" Id="R2dc33169f0524469" /><Relationship Type="http://schemas.openxmlformats.org/officeDocument/2006/relationships/notesSlide" Target="../notesSlides/added_notesSlide2.xml" Id="Re48f4f1b9ba744bb" /></Relationships>
</file>

<file path=ppt/slides/_rels/slide1.xml.rels>&#65279;<?xml version="1.0" encoding="utf-8"?><Relationships xmlns="http://schemas.openxmlformats.org/package/2006/relationships"><Relationship Type="http://schemas.openxmlformats.org/officeDocument/2006/relationships/slideLayout" Target="/ppt/slideLayouts/slideLayout6.xml" Id="Rb6a1db4955ba4cec" /><Relationship Type="http://schemas.openxmlformats.org/officeDocument/2006/relationships/notesSlide" Target="/ppt/notesSlides/notesSlide1.xml" Id="R3d9db8e083124117" /></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5a332cbd2ad7465c" /><ns0:Relationship Type="http://schemas.openxmlformats.org/officeDocument/2006/relationships/image" Target="/ppt/media/image.png" Id="Rd6087baf969447d9" /><ns0:Relationship Type="http://schemas.openxmlformats.org/officeDocument/2006/relationships/notesSlide" Target="/ppt/notesSlides/notesSlide2.xml" Id="R34331da859ab4255" /><ns0:Relationship Id="rIdPreservedVideo_case_success_en" Type="http://schemas.openxmlformats.org/officeDocument/2006/relationships/video" Target="../media/preserved_case_success_en.mp4" /><ns0:Relationship Id="rIdPreservedMedia_case_success_en" Type="http://schemas.microsoft.com/office/2007/relationships/media" Target="../media/preserved_case_success_en.mp4"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a9c84307ad3f4d6f" /><ns0:Relationship Type="http://schemas.openxmlformats.org/officeDocument/2006/relationships/image" Target="/ppt/media/image2.png" Id="R7512242ea85f4676" /><ns0:Relationship Type="http://schemas.openxmlformats.org/officeDocument/2006/relationships/notesSlide" Target="/ppt/notesSlides/notesSlide3.xml" Id="Rdaacf0fa4bef486a" /><ns0:Relationship Id="rIdPreservedVideo_case_k1_k10_en" Type="http://schemas.openxmlformats.org/officeDocument/2006/relationships/video" Target="../media/preserved_case_k1_k10_en.mp4" /><ns0:Relationship Id="rIdPreservedMedia_case_k1_k10_en" Type="http://schemas.microsoft.com/office/2007/relationships/media" Target="../media/preserved_case_k1_k10_en.mp4"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405661438642ea" /><Relationship Type="http://schemas.openxmlformats.org/officeDocument/2006/relationships/image" Target="/ppt/media/image3.png" Id="R4b00da0439d84f48" /><Relationship Type="http://schemas.openxmlformats.org/officeDocument/2006/relationships/image" Target="/ppt/media/image4.png" Id="R7dad67ce4f6c4358" /><Relationship Type="http://schemas.openxmlformats.org/officeDocument/2006/relationships/image" Target="/ppt/media/image5.png" Id="R0bcfd8ebb08c4a0c" /><Relationship Type="http://schemas.openxmlformats.org/officeDocument/2006/relationships/image" Target="/ppt/media/image6.png" Id="R7bbe045c4fbf4bc8" /><Relationship Type="http://schemas.openxmlformats.org/officeDocument/2006/relationships/image" Target="/ppt/media/image7.png" Id="Recd1cf7b153d40db" /><Relationship Type="http://schemas.openxmlformats.org/officeDocument/2006/relationships/notesSlide" Target="/ppt/notesSlides/notesSlide4.xml" Id="Reb6a9315cc7f44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310007d6764f1e" /><Relationship Type="http://schemas.openxmlformats.org/officeDocument/2006/relationships/notesSlide" Target="/ppt/notesSlides/notesSlide5.xml" Id="R6067c38c121c47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5e7774165b4d59" /><Relationship Type="http://schemas.openxmlformats.org/officeDocument/2006/relationships/image" Target="/ppt/media/image8.png" Id="R49ca39ae3e7f46b9" /><Relationship Type="http://schemas.openxmlformats.org/officeDocument/2006/relationships/notesSlide" Target="/ppt/notesSlides/notesSlide6.xml" Id="R69793ae411f74bab"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a310ab4a81804578" /><ns0:Relationship Type="http://schemas.openxmlformats.org/officeDocument/2006/relationships/image" Target="/ppt/media/image9.png" Id="Rdda33d38b3844199" /><ns0:Relationship Type="http://schemas.openxmlformats.org/officeDocument/2006/relationships/image" Target="/ppt/media/image10.png" Id="R030b9d90798f43a1" /><ns0:Relationship Type="http://schemas.openxmlformats.org/officeDocument/2006/relationships/notesSlide" Target="/ppt/notesSlides/notesSlide7.xml" Id="Rf99d033e5b794cb3" /><ns0:Relationship Id="rIdPreservedVideo_case_soup_caps_en" Type="http://schemas.openxmlformats.org/officeDocument/2006/relationships/video" Target="../media/preserved_case_soup_caps_en.mp4" /><ns0:Relationship Id="rIdPreservedMedia_case_soup_caps_en" Type="http://schemas.microsoft.com/office/2007/relationships/media" Target="../media/preserved_case_soup_caps_en.mp4" /><ns0:Relationship Id="rIdPreservedVideo_case_bowl_caps_en" Type="http://schemas.openxmlformats.org/officeDocument/2006/relationships/video" Target="../media/preserved_case_bowl_caps_en.mp4" /><ns0:Relationship Id="rIdPreservedMedia_case_bowl_caps_en" Type="http://schemas.microsoft.com/office/2007/relationships/media" Target="../media/preserved_case_bowl_caps_en.mp4"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e2d81d9c5538461a" /><ns0:Relationship Type="http://schemas.openxmlformats.org/officeDocument/2006/relationships/image" Target="/ppt/media/image11.png" Id="R72def6028f094081" /><ns0:Relationship Type="http://schemas.openxmlformats.org/officeDocument/2006/relationships/notesSlide" Target="/ppt/notesSlides/notesSlide8.xml" Id="Re6d6d26cba274ceb" /><ns0:Relationship Id="rIdPreservedVideo_case_moving_en" Type="http://schemas.openxmlformats.org/officeDocument/2006/relationships/video" Target="../media/preserved_case_moving_en.mp4" /><ns0:Relationship Id="rIdPreservedMedia_case_moving_en" Type="http://schemas.microsoft.com/office/2007/relationships/media" Target="../media/preserved_case_moving_en.mp4"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4a33843b889d4aa3" /><ns0:Relationship Type="http://schemas.openxmlformats.org/officeDocument/2006/relationships/image" Target="/ppt/media/image12.png" Id="R584b10094fa5490e" /><ns0:Relationship Type="http://schemas.openxmlformats.org/officeDocument/2006/relationships/notesSlide" Target="/ppt/notesSlides/notesSlide9.xml" Id="R22b3d1a0e08442e4" /><ns0:Relationship Id="rIdPreservedVideo_case_causal_en" Type="http://schemas.openxmlformats.org/officeDocument/2006/relationships/video" Target="../media/preserved_case_causal_en.mp4" /><ns0:Relationship Id="rIdPreservedMedia_case_causal_en" Type="http://schemas.microsoft.com/office/2007/relationships/media" Target="../media/preserved_case_causal_en.mp4"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91c43f7f4a4fa3" /><Relationship Type="http://schemas.openxmlformats.org/officeDocument/2006/relationships/notesSlide" Target="/ppt/notesSlides/notesSlide10.xml" Id="R645c6c67525e46bf" /></Relationships>
</file>

<file path=ppt/slides/added2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693093-DD10-4EA7-A173-D9F7F4B95FFF}"/>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Random action dropout</a:t>
            </a:r>
          </a:p>
        </p:txBody>
      </p:sp>
      <p:sp>
        <p:nvSpPr>
          <p:cNvPr id="2" name="">
            <a:extLst xmlns:a="http://schemas.openxmlformats.org/drawingml/2006/main">
              <a:ext uri="{FF2B5EF4-FFF2-40B4-BE49-F238E27FC236}">
                <a16:creationId xmlns:a16="http://schemas.microsoft.com/office/drawing/2014/main" id="{224A8531-5325-4BB4-93D1-0DBE87D3B031}"/>
              </a:ext>
            </a:extLst>
          </p:cNvPr>
          <p:cNvSpPr>
            <a:spLocks xmlns:a="http://schemas.openxmlformats.org/drawingml/2006/main" noGrp="1"/>
          </p:cNvSpPr>
          <p:nvPr/>
        </p:nvSpPr>
        <p:spPr>
          <a:xfrm xmlns:a="http://schemas.openxmlformats.org/drawingml/2006/main">
            <a:off x="533400" y="176212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A5"/>
                </a:solidFill>
                <a:latin typeface="Arial"/>
                <a:ea typeface="Arial"/>
                <a:cs typeface="Arial"/>
              </a:defRPr>
            </a:defPPr>
            <a:lvl1pPr>
              <a:defRPr sz="2325" b="1">
                <a:solidFill>
                  <a:srgbClr val="2563A5"/>
                </a:solidFill>
                <a:latin typeface="Arial"/>
                <a:ea typeface="Arial"/>
                <a:cs typeface="Arial"/>
              </a:defRPr>
            </a:lvl1pPr>
            <a:lvl2pPr>
              <a:defRPr sz="2325" b="1">
                <a:solidFill>
                  <a:srgbClr val="2563A5"/>
                </a:solidFill>
                <a:latin typeface="Arial"/>
                <a:ea typeface="Arial"/>
                <a:cs typeface="Arial"/>
              </a:defRPr>
            </a:lvl2pPr>
            <a:lvl3pPr>
              <a:defRPr sz="2325" b="1">
                <a:solidFill>
                  <a:srgbClr val="2563A5"/>
                </a:solidFill>
                <a:latin typeface="Arial"/>
                <a:ea typeface="Arial"/>
                <a:cs typeface="Arial"/>
              </a:defRPr>
            </a:lvl3pPr>
            <a:lvl4pPr>
              <a:defRPr sz="2325" b="1">
                <a:solidFill>
                  <a:srgbClr val="2563A5"/>
                </a:solidFill>
                <a:latin typeface="Arial"/>
                <a:ea typeface="Arial"/>
                <a:cs typeface="Arial"/>
              </a:defRPr>
            </a:lvl4pPr>
            <a:lvl5pPr>
              <a:defRPr sz="2325" b="1">
                <a:solidFill>
                  <a:srgbClr val="2563A5"/>
                </a:solidFill>
                <a:latin typeface="Arial"/>
                <a:ea typeface="Arial"/>
                <a:cs typeface="Arial"/>
              </a:defRPr>
            </a:lvl5pPr>
            <a:lvl6pPr>
              <a:defRPr sz="2325" b="1">
                <a:solidFill>
                  <a:srgbClr val="2563A5"/>
                </a:solidFill>
                <a:latin typeface="Arial"/>
                <a:ea typeface="Arial"/>
                <a:cs typeface="Arial"/>
              </a:defRPr>
            </a:lvl6pPr>
            <a:lvl7pPr>
              <a:defRPr sz="2325" b="1">
                <a:solidFill>
                  <a:srgbClr val="2563A5"/>
                </a:solidFill>
                <a:latin typeface="Arial"/>
                <a:ea typeface="Arial"/>
                <a:cs typeface="Arial"/>
              </a:defRPr>
            </a:lvl7pPr>
            <a:lvl8pPr>
              <a:defRPr sz="2325" b="1">
                <a:solidFill>
                  <a:srgbClr val="2563A5"/>
                </a:solidFill>
                <a:latin typeface="Arial"/>
                <a:ea typeface="Arial"/>
                <a:cs typeface="Arial"/>
              </a:defRPr>
            </a:lvl8pPr>
            <a:lvl9pPr>
              <a:defRPr sz="2325" b="1">
                <a:solidFill>
                  <a:srgbClr val="2563A5"/>
                </a:solidFill>
                <a:latin typeface="Arial"/>
                <a:ea typeface="Arial"/>
                <a:cs typeface="Arial"/>
              </a:defRPr>
            </a:lvl9pPr>
          </a:lstStyle>
          <a:p xmlns:a="http://schemas.openxmlformats.org/drawingml/2006/main">
            <a:pPr>
              <a:defRPr sz="2325" b="1">
                <a:solidFill>
                  <a:srgbClr val="2563A5"/>
                </a:solidFill>
                <a:latin typeface="Arial"/>
                <a:ea typeface="Arial"/>
                <a:cs typeface="Arial"/>
              </a:defRPr>
            </a:pPr>
            <a:r>
              <a:rPr sz="2325" b="1">
                <a:solidFill>
                  <a:srgbClr val="2563A5"/>
                </a:solidFill>
                <a:latin typeface="Arial"/>
                <a:ea typeface="Arial"/>
                <a:cs typeface="Arial"/>
              </a:rPr>
              <a:t>What changes</a:t>
            </a:r>
          </a:p>
        </p:txBody>
      </p:sp>
      <p:sp>
        <p:nvSpPr>
          <p:cNvPr id="3" name="">
            <a:extLst xmlns:a="http://schemas.openxmlformats.org/drawingml/2006/main">
              <a:ext uri="{FF2B5EF4-FFF2-40B4-BE49-F238E27FC236}">
                <a16:creationId xmlns:a16="http://schemas.microsoft.com/office/drawing/2014/main" id="{2B3A1FE9-19DE-46B7-A9F4-723A0BA3EF94}"/>
              </a:ext>
            </a:extLst>
          </p:cNvPr>
          <p:cNvSpPr>
            <a:spLocks xmlns:a="http://schemas.openxmlformats.org/drawingml/2006/main" noGrp="1"/>
          </p:cNvSpPr>
          <p:nvPr/>
        </p:nvSpPr>
        <p:spPr>
          <a:xfrm xmlns:a="http://schemas.openxmlformats.org/drawingml/2006/main">
            <a:off x="533400" y="2400300"/>
            <a:ext cx="5562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D43"/>
                </a:solidFill>
                <a:latin typeface="Arial"/>
                <a:ea typeface="Arial"/>
                <a:cs typeface="Arial"/>
              </a:defRPr>
            </a:defPPr>
            <a:lvl1pPr>
              <a:defRPr sz="2100" b="0">
                <a:solidFill>
                  <a:srgbClr val="172D43"/>
                </a:solidFill>
                <a:latin typeface="Arial"/>
                <a:ea typeface="Arial"/>
                <a:cs typeface="Arial"/>
              </a:defRPr>
            </a:lvl1pPr>
            <a:lvl2pPr>
              <a:defRPr sz="2100" b="0">
                <a:solidFill>
                  <a:srgbClr val="172D43"/>
                </a:solidFill>
                <a:latin typeface="Arial"/>
                <a:ea typeface="Arial"/>
                <a:cs typeface="Arial"/>
              </a:defRPr>
            </a:lvl2pPr>
            <a:lvl3pPr>
              <a:defRPr sz="2100" b="0">
                <a:solidFill>
                  <a:srgbClr val="172D43"/>
                </a:solidFill>
                <a:latin typeface="Arial"/>
                <a:ea typeface="Arial"/>
                <a:cs typeface="Arial"/>
              </a:defRPr>
            </a:lvl3pPr>
            <a:lvl4pPr>
              <a:defRPr sz="2100" b="0">
                <a:solidFill>
                  <a:srgbClr val="172D43"/>
                </a:solidFill>
                <a:latin typeface="Arial"/>
                <a:ea typeface="Arial"/>
                <a:cs typeface="Arial"/>
              </a:defRPr>
            </a:lvl4pPr>
            <a:lvl5pPr>
              <a:defRPr sz="2100" b="0">
                <a:solidFill>
                  <a:srgbClr val="172D43"/>
                </a:solidFill>
                <a:latin typeface="Arial"/>
                <a:ea typeface="Arial"/>
                <a:cs typeface="Arial"/>
              </a:defRPr>
            </a:lvl5pPr>
            <a:lvl6pPr>
              <a:defRPr sz="2100" b="0">
                <a:solidFill>
                  <a:srgbClr val="172D43"/>
                </a:solidFill>
                <a:latin typeface="Arial"/>
                <a:ea typeface="Arial"/>
                <a:cs typeface="Arial"/>
              </a:defRPr>
            </a:lvl6pPr>
            <a:lvl7pPr>
              <a:defRPr sz="2100" b="0">
                <a:solidFill>
                  <a:srgbClr val="172D43"/>
                </a:solidFill>
                <a:latin typeface="Arial"/>
                <a:ea typeface="Arial"/>
                <a:cs typeface="Arial"/>
              </a:defRPr>
            </a:lvl7pPr>
            <a:lvl8pPr>
              <a:defRPr sz="2100" b="0">
                <a:solidFill>
                  <a:srgbClr val="172D43"/>
                </a:solidFill>
                <a:latin typeface="Arial"/>
                <a:ea typeface="Arial"/>
                <a:cs typeface="Arial"/>
              </a:defRPr>
            </a:lvl8pPr>
            <a:lvl9pPr>
              <a:defRPr sz="2100" b="0">
                <a:solidFill>
                  <a:srgbClr val="172D43"/>
                </a:solidFill>
                <a:latin typeface="Arial"/>
                <a:ea typeface="Arial"/>
                <a:cs typeface="Arial"/>
              </a:defRPr>
            </a:lvl9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At each step, the translation command</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is skipped with probability p.</a:t>
            </a:r>
          </a:p>
        </p:txBody>
      </p:sp>
      <p:sp>
        <p:nvSpPr>
          <p:cNvPr id="4" name="">
            <a:extLst xmlns:a="http://schemas.openxmlformats.org/drawingml/2006/main">
              <a:ext uri="{FF2B5EF4-FFF2-40B4-BE49-F238E27FC236}">
                <a16:creationId xmlns:a16="http://schemas.microsoft.com/office/drawing/2014/main" id="{E84BD011-28C6-4376-86A5-C9DED13D7EF1}"/>
              </a:ext>
            </a:extLst>
          </p:cNvPr>
          <p:cNvSpPr>
            <a:spLocks xmlns:a="http://schemas.openxmlformats.org/drawingml/2006/main" noGrp="1"/>
          </p:cNvSpPr>
          <p:nvPr/>
        </p:nvSpPr>
        <p:spPr>
          <a:xfrm xmlns:a="http://schemas.openxmlformats.org/drawingml/2006/main">
            <a:off x="533400" y="3409950"/>
            <a:ext cx="556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Rotation and gripper commands still run.</a:t>
            </a:r>
          </a:p>
        </p:txBody>
      </p:sp>
      <p:sp>
        <p:nvSpPr>
          <p:cNvPr id="5" name="">
            <a:extLst xmlns:a="http://schemas.openxmlformats.org/drawingml/2006/main">
              <a:ext uri="{FF2B5EF4-FFF2-40B4-BE49-F238E27FC236}">
                <a16:creationId xmlns:a16="http://schemas.microsoft.com/office/drawing/2014/main" id="{F09F9D10-47DD-4A90-8BC8-FEC27452B0BD}"/>
              </a:ext>
            </a:extLst>
          </p:cNvPr>
          <p:cNvSpPr>
            <a:spLocks xmlns:a="http://schemas.openxmlformats.org/drawingml/2006/main" noGrp="1"/>
          </p:cNvSpPr>
          <p:nvPr/>
        </p:nvSpPr>
        <p:spPr>
          <a:xfrm xmlns:a="http://schemas.openxmlformats.org/drawingml/2006/main">
            <a:off x="533400" y="4076700"/>
            <a:ext cx="556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172D43"/>
                </a:solidFill>
                <a:latin typeface="Arial"/>
                <a:ea typeface="Arial"/>
                <a:cs typeface="Arial"/>
              </a:defRPr>
            </a:defPPr>
            <a:lvl1pPr>
              <a:defRPr sz="2700" b="1">
                <a:solidFill>
                  <a:srgbClr val="172D43"/>
                </a:solidFill>
                <a:latin typeface="Arial"/>
                <a:ea typeface="Arial"/>
                <a:cs typeface="Arial"/>
              </a:defRPr>
            </a:lvl1pPr>
            <a:lvl2pPr>
              <a:defRPr sz="2700" b="1">
                <a:solidFill>
                  <a:srgbClr val="172D43"/>
                </a:solidFill>
                <a:latin typeface="Arial"/>
                <a:ea typeface="Arial"/>
                <a:cs typeface="Arial"/>
              </a:defRPr>
            </a:lvl2pPr>
            <a:lvl3pPr>
              <a:defRPr sz="2700" b="1">
                <a:solidFill>
                  <a:srgbClr val="172D43"/>
                </a:solidFill>
                <a:latin typeface="Arial"/>
                <a:ea typeface="Arial"/>
                <a:cs typeface="Arial"/>
              </a:defRPr>
            </a:lvl3pPr>
            <a:lvl4pPr>
              <a:defRPr sz="2700" b="1">
                <a:solidFill>
                  <a:srgbClr val="172D43"/>
                </a:solidFill>
                <a:latin typeface="Arial"/>
                <a:ea typeface="Arial"/>
                <a:cs typeface="Arial"/>
              </a:defRPr>
            </a:lvl4pPr>
            <a:lvl5pPr>
              <a:defRPr sz="2700" b="1">
                <a:solidFill>
                  <a:srgbClr val="172D43"/>
                </a:solidFill>
                <a:latin typeface="Arial"/>
                <a:ea typeface="Arial"/>
                <a:cs typeface="Arial"/>
              </a:defRPr>
            </a:lvl5pPr>
            <a:lvl6pPr>
              <a:defRPr sz="2700" b="1">
                <a:solidFill>
                  <a:srgbClr val="172D43"/>
                </a:solidFill>
                <a:latin typeface="Arial"/>
                <a:ea typeface="Arial"/>
                <a:cs typeface="Arial"/>
              </a:defRPr>
            </a:lvl6pPr>
            <a:lvl7pPr>
              <a:defRPr sz="2700" b="1">
                <a:solidFill>
                  <a:srgbClr val="172D43"/>
                </a:solidFill>
                <a:latin typeface="Arial"/>
                <a:ea typeface="Arial"/>
                <a:cs typeface="Arial"/>
              </a:defRPr>
            </a:lvl7pPr>
            <a:lvl8pPr>
              <a:defRPr sz="2700" b="1">
                <a:solidFill>
                  <a:srgbClr val="172D43"/>
                </a:solidFill>
                <a:latin typeface="Arial"/>
                <a:ea typeface="Arial"/>
                <a:cs typeface="Arial"/>
              </a:defRPr>
            </a:lvl8pPr>
            <a:lvl9pPr>
              <a:defRPr sz="2700" b="1">
                <a:solidFill>
                  <a:srgbClr val="172D43"/>
                </a:solidFill>
                <a:latin typeface="Arial"/>
                <a:ea typeface="Arial"/>
                <a:cs typeface="Arial"/>
              </a:defRPr>
            </a:lvl9pPr>
          </a:lstStyle>
          <a:p xmlns:a="http://schemas.openxmlformats.org/drawingml/2006/main">
            <a:pPr>
              <a:defRPr sz="2700" b="1">
                <a:solidFill>
                  <a:srgbClr val="172D43"/>
                </a:solidFill>
                <a:latin typeface="Arial"/>
                <a:ea typeface="Arial"/>
                <a:cs typeface="Arial"/>
              </a:defRPr>
            </a:pPr>
            <a:r>
              <a:rPr sz="2700" b="1">
                <a:solidFill>
                  <a:srgbClr val="172D43"/>
                </a:solidFill>
                <a:latin typeface="Arial"/>
                <a:ea typeface="Arial"/>
                <a:cs typeface="Arial"/>
              </a:rPr>
              <a:t>p = 0.1, 0.2, 0.3</a:t>
            </a:r>
          </a:p>
        </p:txBody>
      </p:sp>
      <p:sp>
        <p:nvSpPr>
          <p:cNvPr id="6" name="">
            <a:extLst xmlns:a="http://schemas.openxmlformats.org/drawingml/2006/main">
              <a:ext uri="{FF2B5EF4-FFF2-40B4-BE49-F238E27FC236}">
                <a16:creationId xmlns:a16="http://schemas.microsoft.com/office/drawing/2014/main" id="{4C942ED2-0521-4A25-904E-78E5B635E519}"/>
              </a:ext>
            </a:extLst>
          </p:cNvPr>
          <p:cNvSpPr>
            <a:spLocks xmlns:a="http://schemas.openxmlformats.org/drawingml/2006/main" noGrp="1"/>
          </p:cNvSpPr>
          <p:nvPr/>
        </p:nvSpPr>
        <p:spPr>
          <a:xfrm xmlns:a="http://schemas.openxmlformats.org/drawingml/2006/main">
            <a:off x="533400" y="4705350"/>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36779"/>
                </a:solidFill>
                <a:latin typeface="Arial"/>
                <a:ea typeface="Arial"/>
                <a:cs typeface="Arial"/>
              </a:defRPr>
            </a:defPPr>
            <a:lvl1pPr>
              <a:defRPr sz="1800" b="0">
                <a:solidFill>
                  <a:srgbClr val="536779"/>
                </a:solidFill>
                <a:latin typeface="Arial"/>
                <a:ea typeface="Arial"/>
                <a:cs typeface="Arial"/>
              </a:defRPr>
            </a:lvl1pPr>
            <a:lvl2pPr>
              <a:defRPr sz="1800" b="0">
                <a:solidFill>
                  <a:srgbClr val="536779"/>
                </a:solidFill>
                <a:latin typeface="Arial"/>
                <a:ea typeface="Arial"/>
                <a:cs typeface="Arial"/>
              </a:defRPr>
            </a:lvl2pPr>
            <a:lvl3pPr>
              <a:defRPr sz="1800" b="0">
                <a:solidFill>
                  <a:srgbClr val="536779"/>
                </a:solidFill>
                <a:latin typeface="Arial"/>
                <a:ea typeface="Arial"/>
                <a:cs typeface="Arial"/>
              </a:defRPr>
            </a:lvl3pPr>
            <a:lvl4pPr>
              <a:defRPr sz="1800" b="0">
                <a:solidFill>
                  <a:srgbClr val="536779"/>
                </a:solidFill>
                <a:latin typeface="Arial"/>
                <a:ea typeface="Arial"/>
                <a:cs typeface="Arial"/>
              </a:defRPr>
            </a:lvl4pPr>
            <a:lvl5pPr>
              <a:defRPr sz="1800" b="0">
                <a:solidFill>
                  <a:srgbClr val="536779"/>
                </a:solidFill>
                <a:latin typeface="Arial"/>
                <a:ea typeface="Arial"/>
                <a:cs typeface="Arial"/>
              </a:defRPr>
            </a:lvl5pPr>
            <a:lvl6pPr>
              <a:defRPr sz="1800" b="0">
                <a:solidFill>
                  <a:srgbClr val="536779"/>
                </a:solidFill>
                <a:latin typeface="Arial"/>
                <a:ea typeface="Arial"/>
                <a:cs typeface="Arial"/>
              </a:defRPr>
            </a:lvl6pPr>
            <a:lvl7pPr>
              <a:defRPr sz="1800" b="0">
                <a:solidFill>
                  <a:srgbClr val="536779"/>
                </a:solidFill>
                <a:latin typeface="Arial"/>
                <a:ea typeface="Arial"/>
                <a:cs typeface="Arial"/>
              </a:defRPr>
            </a:lvl7pPr>
            <a:lvl8pPr>
              <a:defRPr sz="1800" b="0">
                <a:solidFill>
                  <a:srgbClr val="536779"/>
                </a:solidFill>
                <a:latin typeface="Arial"/>
                <a:ea typeface="Arial"/>
                <a:cs typeface="Arial"/>
              </a:defRPr>
            </a:lvl8pPr>
            <a:lvl9pPr>
              <a:defRPr sz="1800" b="0">
                <a:solidFill>
                  <a:srgbClr val="536779"/>
                </a:solidFill>
                <a:latin typeface="Arial"/>
                <a:ea typeface="Arial"/>
                <a:cs typeface="Arial"/>
              </a:defRPr>
            </a:lvl9pPr>
          </a:lstStyle>
          <a:p xmlns:a="http://schemas.openxmlformats.org/drawingml/2006/main">
            <a:pPr>
              <a:defRPr sz="1800" b="0">
                <a:solidFill>
                  <a:srgbClr val="536779"/>
                </a:solidFill>
                <a:latin typeface="Arial"/>
                <a:ea typeface="Arial"/>
                <a:cs typeface="Arial"/>
              </a:defRPr>
            </a:pPr>
            <a:r>
              <a:rPr sz="1800" b="0">
                <a:solidFill>
                  <a:srgbClr val="536779"/>
                </a:solidFill>
                <a:latin typeface="Arial"/>
                <a:ea typeface="Arial"/>
                <a:cs typeface="Arial"/>
              </a:rPr>
              <a:t>p = 0 provides the reference.</a:t>
            </a:r>
          </a:p>
        </p:txBody>
      </p:sp>
      <p:sp>
        <p:nvSpPr>
          <p:cNvPr id="7" name="">
            <a:extLst xmlns:a="http://schemas.openxmlformats.org/drawingml/2006/main">
              <a:ext uri="{FF2B5EF4-FFF2-40B4-BE49-F238E27FC236}">
                <a16:creationId xmlns:a16="http://schemas.microsoft.com/office/drawing/2014/main" id="{E50805E3-50CC-4E31-9842-7E0357899BC1}"/>
              </a:ext>
            </a:extLst>
          </p:cNvPr>
          <p:cNvSpPr>
            <a:spLocks xmlns:a="http://schemas.openxmlformats.org/drawingml/2006/main" noGrp="1"/>
          </p:cNvSpPr>
          <p:nvPr/>
        </p:nvSpPr>
        <p:spPr>
          <a:xfrm xmlns:a="http://schemas.openxmlformats.org/drawingml/2006/main">
            <a:off x="6819900" y="1762125"/>
            <a:ext cx="4838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A5"/>
                </a:solidFill>
                <a:latin typeface="Arial"/>
                <a:ea typeface="Arial"/>
                <a:cs typeface="Arial"/>
              </a:defRPr>
            </a:defPPr>
            <a:lvl1pPr>
              <a:defRPr sz="2325" b="1">
                <a:solidFill>
                  <a:srgbClr val="2563A5"/>
                </a:solidFill>
                <a:latin typeface="Arial"/>
                <a:ea typeface="Arial"/>
                <a:cs typeface="Arial"/>
              </a:defRPr>
            </a:lvl1pPr>
            <a:lvl2pPr>
              <a:defRPr sz="2325" b="1">
                <a:solidFill>
                  <a:srgbClr val="2563A5"/>
                </a:solidFill>
                <a:latin typeface="Arial"/>
                <a:ea typeface="Arial"/>
                <a:cs typeface="Arial"/>
              </a:defRPr>
            </a:lvl2pPr>
            <a:lvl3pPr>
              <a:defRPr sz="2325" b="1">
                <a:solidFill>
                  <a:srgbClr val="2563A5"/>
                </a:solidFill>
                <a:latin typeface="Arial"/>
                <a:ea typeface="Arial"/>
                <a:cs typeface="Arial"/>
              </a:defRPr>
            </a:lvl3pPr>
            <a:lvl4pPr>
              <a:defRPr sz="2325" b="1">
                <a:solidFill>
                  <a:srgbClr val="2563A5"/>
                </a:solidFill>
                <a:latin typeface="Arial"/>
                <a:ea typeface="Arial"/>
                <a:cs typeface="Arial"/>
              </a:defRPr>
            </a:lvl4pPr>
            <a:lvl5pPr>
              <a:defRPr sz="2325" b="1">
                <a:solidFill>
                  <a:srgbClr val="2563A5"/>
                </a:solidFill>
                <a:latin typeface="Arial"/>
                <a:ea typeface="Arial"/>
                <a:cs typeface="Arial"/>
              </a:defRPr>
            </a:lvl5pPr>
            <a:lvl6pPr>
              <a:defRPr sz="2325" b="1">
                <a:solidFill>
                  <a:srgbClr val="2563A5"/>
                </a:solidFill>
                <a:latin typeface="Arial"/>
                <a:ea typeface="Arial"/>
                <a:cs typeface="Arial"/>
              </a:defRPr>
            </a:lvl6pPr>
            <a:lvl7pPr>
              <a:defRPr sz="2325" b="1">
                <a:solidFill>
                  <a:srgbClr val="2563A5"/>
                </a:solidFill>
                <a:latin typeface="Arial"/>
                <a:ea typeface="Arial"/>
                <a:cs typeface="Arial"/>
              </a:defRPr>
            </a:lvl7pPr>
            <a:lvl8pPr>
              <a:defRPr sz="2325" b="1">
                <a:solidFill>
                  <a:srgbClr val="2563A5"/>
                </a:solidFill>
                <a:latin typeface="Arial"/>
                <a:ea typeface="Arial"/>
                <a:cs typeface="Arial"/>
              </a:defRPr>
            </a:lvl8pPr>
            <a:lvl9pPr>
              <a:defRPr sz="2325" b="1">
                <a:solidFill>
                  <a:srgbClr val="2563A5"/>
                </a:solidFill>
                <a:latin typeface="Arial"/>
                <a:ea typeface="Arial"/>
                <a:cs typeface="Arial"/>
              </a:defRPr>
            </a:lvl9pPr>
          </a:lstStyle>
          <a:p xmlns:a="http://schemas.openxmlformats.org/drawingml/2006/main">
            <a:pPr>
              <a:defRPr sz="2325" b="1">
                <a:solidFill>
                  <a:srgbClr val="2563A5"/>
                </a:solidFill>
                <a:latin typeface="Arial"/>
                <a:ea typeface="Arial"/>
                <a:cs typeface="Arial"/>
              </a:defRPr>
            </a:pPr>
            <a:r>
              <a:rPr sz="2325" b="1">
                <a:solidFill>
                  <a:srgbClr val="2563A5"/>
                </a:solidFill>
                <a:latin typeface="Arial"/>
                <a:ea typeface="Arial"/>
                <a:cs typeface="Arial"/>
              </a:rPr>
              <a:t>What we compare</a:t>
            </a:r>
          </a:p>
        </p:txBody>
      </p:sp>
      <p:sp>
        <p:nvSpPr>
          <p:cNvPr id="8" name="">
            <a:extLst xmlns:a="http://schemas.openxmlformats.org/drawingml/2006/main">
              <a:ext uri="{FF2B5EF4-FFF2-40B4-BE49-F238E27FC236}">
                <a16:creationId xmlns:a16="http://schemas.microsoft.com/office/drawing/2014/main" id="{6AE9D01A-F41C-444A-9419-D39CD46AA945}"/>
              </a:ext>
            </a:extLst>
          </p:cNvPr>
          <p:cNvSpPr>
            <a:spLocks xmlns:a="http://schemas.openxmlformats.org/drawingml/2006/main" noGrp="1"/>
          </p:cNvSpPr>
          <p:nvPr/>
        </p:nvSpPr>
        <p:spPr>
          <a:xfrm xmlns:a="http://schemas.openxmlformats.org/drawingml/2006/main">
            <a:off x="6819900" y="2400300"/>
            <a:ext cx="4838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D43"/>
                </a:solidFill>
                <a:latin typeface="Arial"/>
                <a:ea typeface="Arial"/>
                <a:cs typeface="Arial"/>
              </a:defRPr>
            </a:defPPr>
            <a:lvl1pPr>
              <a:defRPr sz="2250" b="1">
                <a:solidFill>
                  <a:srgbClr val="172D43"/>
                </a:solidFill>
                <a:latin typeface="Arial"/>
                <a:ea typeface="Arial"/>
                <a:cs typeface="Arial"/>
              </a:defRPr>
            </a:lvl1pPr>
            <a:lvl2pPr>
              <a:defRPr sz="2250" b="1">
                <a:solidFill>
                  <a:srgbClr val="172D43"/>
                </a:solidFill>
                <a:latin typeface="Arial"/>
                <a:ea typeface="Arial"/>
                <a:cs typeface="Arial"/>
              </a:defRPr>
            </a:lvl2pPr>
            <a:lvl3pPr>
              <a:defRPr sz="2250" b="1">
                <a:solidFill>
                  <a:srgbClr val="172D43"/>
                </a:solidFill>
                <a:latin typeface="Arial"/>
                <a:ea typeface="Arial"/>
                <a:cs typeface="Arial"/>
              </a:defRPr>
            </a:lvl3pPr>
            <a:lvl4pPr>
              <a:defRPr sz="2250" b="1">
                <a:solidFill>
                  <a:srgbClr val="172D43"/>
                </a:solidFill>
                <a:latin typeface="Arial"/>
                <a:ea typeface="Arial"/>
                <a:cs typeface="Arial"/>
              </a:defRPr>
            </a:lvl4pPr>
            <a:lvl5pPr>
              <a:defRPr sz="2250" b="1">
                <a:solidFill>
                  <a:srgbClr val="172D43"/>
                </a:solidFill>
                <a:latin typeface="Arial"/>
                <a:ea typeface="Arial"/>
                <a:cs typeface="Arial"/>
              </a:defRPr>
            </a:lvl5pPr>
            <a:lvl6pPr>
              <a:defRPr sz="2250" b="1">
                <a:solidFill>
                  <a:srgbClr val="172D43"/>
                </a:solidFill>
                <a:latin typeface="Arial"/>
                <a:ea typeface="Arial"/>
                <a:cs typeface="Arial"/>
              </a:defRPr>
            </a:lvl6pPr>
            <a:lvl7pPr>
              <a:defRPr sz="2250" b="1">
                <a:solidFill>
                  <a:srgbClr val="172D43"/>
                </a:solidFill>
                <a:latin typeface="Arial"/>
                <a:ea typeface="Arial"/>
                <a:cs typeface="Arial"/>
              </a:defRPr>
            </a:lvl7pPr>
            <a:lvl8pPr>
              <a:defRPr sz="2250" b="1">
                <a:solidFill>
                  <a:srgbClr val="172D43"/>
                </a:solidFill>
                <a:latin typeface="Arial"/>
                <a:ea typeface="Arial"/>
                <a:cs typeface="Arial"/>
              </a:defRPr>
            </a:lvl8pPr>
            <a:lvl9pPr>
              <a:defRPr sz="2250" b="1">
                <a:solidFill>
                  <a:srgbClr val="172D43"/>
                </a:solidFill>
                <a:latin typeface="Arial"/>
                <a:ea typeface="Arial"/>
                <a:cs typeface="Arial"/>
              </a:defRPr>
            </a:lvl9pPr>
          </a:lstStyle>
          <a:p xmlns:a="http://schemas.openxmlformats.org/drawingml/2006/main">
            <a:pPr>
              <a:defRPr sz="2250" b="1">
                <a:solidFill>
                  <a:srgbClr val="172D43"/>
                </a:solidFill>
                <a:latin typeface="Arial"/>
                <a:ea typeface="Arial"/>
                <a:cs typeface="Arial"/>
              </a:defRPr>
            </a:pPr>
            <a:r>
              <a:rPr sz="2250" b="1">
                <a:solidFill>
                  <a:srgbClr val="172D43"/>
                </a:solidFill>
                <a:latin typeface="Arial"/>
                <a:ea typeface="Arial"/>
                <a:cs typeface="Arial"/>
              </a:rPr>
              <a:t>3 tasks × 10 initial states</a:t>
            </a:r>
          </a:p>
        </p:txBody>
      </p:sp>
      <p:sp>
        <p:nvSpPr>
          <p:cNvPr id="9" name="">
            <a:extLst xmlns:a="http://schemas.openxmlformats.org/drawingml/2006/main">
              <a:ext uri="{FF2B5EF4-FFF2-40B4-BE49-F238E27FC236}">
                <a16:creationId xmlns:a16="http://schemas.microsoft.com/office/drawing/2014/main" id="{751098E7-8456-472C-AF43-3478CF91F600}"/>
              </a:ext>
            </a:extLst>
          </p:cNvPr>
          <p:cNvSpPr>
            <a:spLocks xmlns:a="http://schemas.openxmlformats.org/drawingml/2006/main" noGrp="1"/>
          </p:cNvSpPr>
          <p:nvPr/>
        </p:nvSpPr>
        <p:spPr>
          <a:xfrm xmlns:a="http://schemas.openxmlformats.org/drawingml/2006/main">
            <a:off x="6819900" y="2952750"/>
            <a:ext cx="4838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36779"/>
                </a:solidFill>
                <a:latin typeface="Arial"/>
                <a:ea typeface="Arial"/>
                <a:cs typeface="Arial"/>
              </a:defRPr>
            </a:defPPr>
            <a:lvl1pPr>
              <a:defRPr sz="1800" b="0">
                <a:solidFill>
                  <a:srgbClr val="536779"/>
                </a:solidFill>
                <a:latin typeface="Arial"/>
                <a:ea typeface="Arial"/>
                <a:cs typeface="Arial"/>
              </a:defRPr>
            </a:lvl1pPr>
            <a:lvl2pPr>
              <a:defRPr sz="1800" b="0">
                <a:solidFill>
                  <a:srgbClr val="536779"/>
                </a:solidFill>
                <a:latin typeface="Arial"/>
                <a:ea typeface="Arial"/>
                <a:cs typeface="Arial"/>
              </a:defRPr>
            </a:lvl2pPr>
            <a:lvl3pPr>
              <a:defRPr sz="1800" b="0">
                <a:solidFill>
                  <a:srgbClr val="536779"/>
                </a:solidFill>
                <a:latin typeface="Arial"/>
                <a:ea typeface="Arial"/>
                <a:cs typeface="Arial"/>
              </a:defRPr>
            </a:lvl3pPr>
            <a:lvl4pPr>
              <a:defRPr sz="1800" b="0">
                <a:solidFill>
                  <a:srgbClr val="536779"/>
                </a:solidFill>
                <a:latin typeface="Arial"/>
                <a:ea typeface="Arial"/>
                <a:cs typeface="Arial"/>
              </a:defRPr>
            </a:lvl4pPr>
            <a:lvl5pPr>
              <a:defRPr sz="1800" b="0">
                <a:solidFill>
                  <a:srgbClr val="536779"/>
                </a:solidFill>
                <a:latin typeface="Arial"/>
                <a:ea typeface="Arial"/>
                <a:cs typeface="Arial"/>
              </a:defRPr>
            </a:lvl5pPr>
            <a:lvl6pPr>
              <a:defRPr sz="1800" b="0">
                <a:solidFill>
                  <a:srgbClr val="536779"/>
                </a:solidFill>
                <a:latin typeface="Arial"/>
                <a:ea typeface="Arial"/>
                <a:cs typeface="Arial"/>
              </a:defRPr>
            </a:lvl6pPr>
            <a:lvl7pPr>
              <a:defRPr sz="1800" b="0">
                <a:solidFill>
                  <a:srgbClr val="536779"/>
                </a:solidFill>
                <a:latin typeface="Arial"/>
                <a:ea typeface="Arial"/>
                <a:cs typeface="Arial"/>
              </a:defRPr>
            </a:lvl7pPr>
            <a:lvl8pPr>
              <a:defRPr sz="1800" b="0">
                <a:solidFill>
                  <a:srgbClr val="536779"/>
                </a:solidFill>
                <a:latin typeface="Arial"/>
                <a:ea typeface="Arial"/>
                <a:cs typeface="Arial"/>
              </a:defRPr>
            </a:lvl8pPr>
            <a:lvl9pPr>
              <a:defRPr sz="1800" b="0">
                <a:solidFill>
                  <a:srgbClr val="536779"/>
                </a:solidFill>
                <a:latin typeface="Arial"/>
                <a:ea typeface="Arial"/>
                <a:cs typeface="Arial"/>
              </a:defRPr>
            </a:lvl9pPr>
          </a:lstStyle>
          <a:p xmlns:a="http://schemas.openxmlformats.org/drawingml/2006/main">
            <a:pPr>
              <a:defRPr sz="1800" b="0">
                <a:solidFill>
                  <a:srgbClr val="536779"/>
                </a:solidFill>
                <a:latin typeface="Arial"/>
                <a:ea typeface="Arial"/>
                <a:cs typeface="Arial"/>
              </a:defRPr>
            </a:pPr>
            <a:r>
              <a:rPr sz="1800" b="0">
                <a:solidFill>
                  <a:srgbClr val="536779"/>
                </a:solidFill>
                <a:latin typeface="Arial"/>
                <a:ea typeface="Arial"/>
                <a:cs typeface="Arial"/>
              </a:rPr>
              <a:t>Same starts for every method</a:t>
            </a:r>
          </a:p>
        </p:txBody>
      </p:sp>
      <p:sp>
        <p:nvSpPr>
          <p:cNvPr id="10" name="">
            <a:extLst xmlns:a="http://schemas.openxmlformats.org/drawingml/2006/main">
              <a:ext uri="{FF2B5EF4-FFF2-40B4-BE49-F238E27FC236}">
                <a16:creationId xmlns:a16="http://schemas.microsoft.com/office/drawing/2014/main" id="{64F28BFE-23EC-4207-A2C8-A87DD3A92200}"/>
              </a:ext>
            </a:extLst>
          </p:cNvPr>
          <p:cNvSpPr>
            <a:spLocks xmlns:a="http://schemas.openxmlformats.org/drawingml/2006/main" noGrp="1"/>
          </p:cNvSpPr>
          <p:nvPr/>
        </p:nvSpPr>
        <p:spPr>
          <a:xfrm xmlns:a="http://schemas.openxmlformats.org/drawingml/2006/main">
            <a:off x="6819900" y="3790950"/>
            <a:ext cx="4838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D43"/>
                </a:solidFill>
                <a:latin typeface="Arial"/>
                <a:ea typeface="Arial"/>
                <a:cs typeface="Arial"/>
              </a:defRPr>
            </a:defPPr>
            <a:lvl1pPr>
              <a:defRPr sz="2100" b="0">
                <a:solidFill>
                  <a:srgbClr val="172D43"/>
                </a:solidFill>
                <a:latin typeface="Arial"/>
                <a:ea typeface="Arial"/>
                <a:cs typeface="Arial"/>
              </a:defRPr>
            </a:lvl1pPr>
            <a:lvl2pPr>
              <a:defRPr sz="2100" b="0">
                <a:solidFill>
                  <a:srgbClr val="172D43"/>
                </a:solidFill>
                <a:latin typeface="Arial"/>
                <a:ea typeface="Arial"/>
                <a:cs typeface="Arial"/>
              </a:defRPr>
            </a:lvl2pPr>
            <a:lvl3pPr>
              <a:defRPr sz="2100" b="0">
                <a:solidFill>
                  <a:srgbClr val="172D43"/>
                </a:solidFill>
                <a:latin typeface="Arial"/>
                <a:ea typeface="Arial"/>
                <a:cs typeface="Arial"/>
              </a:defRPr>
            </a:lvl3pPr>
            <a:lvl4pPr>
              <a:defRPr sz="2100" b="0">
                <a:solidFill>
                  <a:srgbClr val="172D43"/>
                </a:solidFill>
                <a:latin typeface="Arial"/>
                <a:ea typeface="Arial"/>
                <a:cs typeface="Arial"/>
              </a:defRPr>
            </a:lvl4pPr>
            <a:lvl5pPr>
              <a:defRPr sz="2100" b="0">
                <a:solidFill>
                  <a:srgbClr val="172D43"/>
                </a:solidFill>
                <a:latin typeface="Arial"/>
                <a:ea typeface="Arial"/>
                <a:cs typeface="Arial"/>
              </a:defRPr>
            </a:lvl5pPr>
            <a:lvl6pPr>
              <a:defRPr sz="2100" b="0">
                <a:solidFill>
                  <a:srgbClr val="172D43"/>
                </a:solidFill>
                <a:latin typeface="Arial"/>
                <a:ea typeface="Arial"/>
                <a:cs typeface="Arial"/>
              </a:defRPr>
            </a:lvl6pPr>
            <a:lvl7pPr>
              <a:defRPr sz="2100" b="0">
                <a:solidFill>
                  <a:srgbClr val="172D43"/>
                </a:solidFill>
                <a:latin typeface="Arial"/>
                <a:ea typeface="Arial"/>
                <a:cs typeface="Arial"/>
              </a:defRPr>
            </a:lvl7pPr>
            <a:lvl8pPr>
              <a:defRPr sz="2100" b="0">
                <a:solidFill>
                  <a:srgbClr val="172D43"/>
                </a:solidFill>
                <a:latin typeface="Arial"/>
                <a:ea typeface="Arial"/>
                <a:cs typeface="Arial"/>
              </a:defRPr>
            </a:lvl8pPr>
            <a:lvl9pPr>
              <a:defRPr sz="2100" b="0">
                <a:solidFill>
                  <a:srgbClr val="172D43"/>
                </a:solidFill>
                <a:latin typeface="Arial"/>
                <a:ea typeface="Arial"/>
                <a:cs typeface="Arial"/>
              </a:defRPr>
            </a:lvl9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Fixed K and adaptive DVAC</a:t>
            </a:r>
          </a:p>
        </p:txBody>
      </p:sp>
      <p:sp>
        <p:nvSpPr>
          <p:cNvPr id="11" name="">
            <a:extLst xmlns:a="http://schemas.openxmlformats.org/drawingml/2006/main">
              <a:ext uri="{FF2B5EF4-FFF2-40B4-BE49-F238E27FC236}">
                <a16:creationId xmlns:a16="http://schemas.microsoft.com/office/drawing/2014/main" id="{7D16F4BA-2616-4392-A0C3-8AD3D3A65BE9}"/>
              </a:ext>
            </a:extLst>
          </p:cNvPr>
          <p:cNvSpPr>
            <a:spLocks xmlns:a="http://schemas.openxmlformats.org/drawingml/2006/main" noGrp="1"/>
          </p:cNvSpPr>
          <p:nvPr/>
        </p:nvSpPr>
        <p:spPr>
          <a:xfrm xmlns:a="http://schemas.openxmlformats.org/drawingml/2006/main">
            <a:off x="6819900" y="4371975"/>
            <a:ext cx="4838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D43"/>
                </a:solidFill>
                <a:latin typeface="Arial"/>
                <a:ea typeface="Arial"/>
                <a:cs typeface="Arial"/>
              </a:defRPr>
            </a:defPPr>
            <a:lvl1pPr>
              <a:defRPr sz="2100" b="0">
                <a:solidFill>
                  <a:srgbClr val="172D43"/>
                </a:solidFill>
                <a:latin typeface="Arial"/>
                <a:ea typeface="Arial"/>
                <a:cs typeface="Arial"/>
              </a:defRPr>
            </a:lvl1pPr>
            <a:lvl2pPr>
              <a:defRPr sz="2100" b="0">
                <a:solidFill>
                  <a:srgbClr val="172D43"/>
                </a:solidFill>
                <a:latin typeface="Arial"/>
                <a:ea typeface="Arial"/>
                <a:cs typeface="Arial"/>
              </a:defRPr>
            </a:lvl2pPr>
            <a:lvl3pPr>
              <a:defRPr sz="2100" b="0">
                <a:solidFill>
                  <a:srgbClr val="172D43"/>
                </a:solidFill>
                <a:latin typeface="Arial"/>
                <a:ea typeface="Arial"/>
                <a:cs typeface="Arial"/>
              </a:defRPr>
            </a:lvl3pPr>
            <a:lvl4pPr>
              <a:defRPr sz="2100" b="0">
                <a:solidFill>
                  <a:srgbClr val="172D43"/>
                </a:solidFill>
                <a:latin typeface="Arial"/>
                <a:ea typeface="Arial"/>
                <a:cs typeface="Arial"/>
              </a:defRPr>
            </a:lvl4pPr>
            <a:lvl5pPr>
              <a:defRPr sz="2100" b="0">
                <a:solidFill>
                  <a:srgbClr val="172D43"/>
                </a:solidFill>
                <a:latin typeface="Arial"/>
                <a:ea typeface="Arial"/>
                <a:cs typeface="Arial"/>
              </a:defRPr>
            </a:lvl5pPr>
            <a:lvl6pPr>
              <a:defRPr sz="2100" b="0">
                <a:solidFill>
                  <a:srgbClr val="172D43"/>
                </a:solidFill>
                <a:latin typeface="Arial"/>
                <a:ea typeface="Arial"/>
                <a:cs typeface="Arial"/>
              </a:defRPr>
            </a:lvl6pPr>
            <a:lvl7pPr>
              <a:defRPr sz="2100" b="0">
                <a:solidFill>
                  <a:srgbClr val="172D43"/>
                </a:solidFill>
                <a:latin typeface="Arial"/>
                <a:ea typeface="Arial"/>
                <a:cs typeface="Arial"/>
              </a:defRPr>
            </a:lvl7pPr>
            <a:lvl8pPr>
              <a:defRPr sz="2100" b="0">
                <a:solidFill>
                  <a:srgbClr val="172D43"/>
                </a:solidFill>
                <a:latin typeface="Arial"/>
                <a:ea typeface="Arial"/>
                <a:cs typeface="Arial"/>
              </a:defRPr>
            </a:lvl8pPr>
            <a:lvl9pPr>
              <a:defRPr sz="2100" b="0">
                <a:solidFill>
                  <a:srgbClr val="172D43"/>
                </a:solidFill>
                <a:latin typeface="Arial"/>
                <a:ea typeface="Arial"/>
                <a:cs typeface="Arial"/>
              </a:defRPr>
            </a:lvl9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Task success and model calls</a:t>
            </a:r>
          </a:p>
        </p:txBody>
      </p:sp>
      <p:sp>
        <p:nvSpPr>
          <p:cNvPr id="12" name="">
            <a:extLst xmlns:a="http://schemas.openxmlformats.org/drawingml/2006/main">
              <a:ext uri="{FF2B5EF4-FFF2-40B4-BE49-F238E27FC236}">
                <a16:creationId xmlns:a16="http://schemas.microsoft.com/office/drawing/2014/main" id="{F0D23A2A-4DDC-428D-8AF4-405B3194F373}"/>
              </a:ext>
            </a:extLst>
          </p:cNvPr>
          <p:cNvSpPr>
            <a:spLocks xmlns:a="http://schemas.openxmlformats.org/drawingml/2006/main" noGrp="1"/>
          </p:cNvSpPr>
          <p:nvPr/>
        </p:nvSpPr>
        <p:spPr>
          <a:xfrm xmlns:a="http://schemas.openxmlformats.org/drawingml/2006/main">
            <a:off x="533400" y="57150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D43"/>
                </a:solidFill>
                <a:latin typeface="Arial"/>
                <a:ea typeface="Arial"/>
                <a:cs typeface="Arial"/>
              </a:defRPr>
            </a:defPPr>
            <a:lvl1pPr>
              <a:defRPr sz="2250" b="1">
                <a:solidFill>
                  <a:srgbClr val="172D43"/>
                </a:solidFill>
                <a:latin typeface="Arial"/>
                <a:ea typeface="Arial"/>
                <a:cs typeface="Arial"/>
              </a:defRPr>
            </a:lvl1pPr>
            <a:lvl2pPr>
              <a:defRPr sz="2250" b="1">
                <a:solidFill>
                  <a:srgbClr val="172D43"/>
                </a:solidFill>
                <a:latin typeface="Arial"/>
                <a:ea typeface="Arial"/>
                <a:cs typeface="Arial"/>
              </a:defRPr>
            </a:lvl2pPr>
            <a:lvl3pPr>
              <a:defRPr sz="2250" b="1">
                <a:solidFill>
                  <a:srgbClr val="172D43"/>
                </a:solidFill>
                <a:latin typeface="Arial"/>
                <a:ea typeface="Arial"/>
                <a:cs typeface="Arial"/>
              </a:defRPr>
            </a:lvl3pPr>
            <a:lvl4pPr>
              <a:defRPr sz="2250" b="1">
                <a:solidFill>
                  <a:srgbClr val="172D43"/>
                </a:solidFill>
                <a:latin typeface="Arial"/>
                <a:ea typeface="Arial"/>
                <a:cs typeface="Arial"/>
              </a:defRPr>
            </a:lvl4pPr>
            <a:lvl5pPr>
              <a:defRPr sz="2250" b="1">
                <a:solidFill>
                  <a:srgbClr val="172D43"/>
                </a:solidFill>
                <a:latin typeface="Arial"/>
                <a:ea typeface="Arial"/>
                <a:cs typeface="Arial"/>
              </a:defRPr>
            </a:lvl5pPr>
            <a:lvl6pPr>
              <a:defRPr sz="2250" b="1">
                <a:solidFill>
                  <a:srgbClr val="172D43"/>
                </a:solidFill>
                <a:latin typeface="Arial"/>
                <a:ea typeface="Arial"/>
                <a:cs typeface="Arial"/>
              </a:defRPr>
            </a:lvl6pPr>
            <a:lvl7pPr>
              <a:defRPr sz="2250" b="1">
                <a:solidFill>
                  <a:srgbClr val="172D43"/>
                </a:solidFill>
                <a:latin typeface="Arial"/>
                <a:ea typeface="Arial"/>
                <a:cs typeface="Arial"/>
              </a:defRPr>
            </a:lvl7pPr>
            <a:lvl8pPr>
              <a:defRPr sz="2250" b="1">
                <a:solidFill>
                  <a:srgbClr val="172D43"/>
                </a:solidFill>
                <a:latin typeface="Arial"/>
                <a:ea typeface="Arial"/>
                <a:cs typeface="Arial"/>
              </a:defRPr>
            </a:lvl8pPr>
            <a:lvl9pPr>
              <a:defRPr sz="2250" b="1">
                <a:solidFill>
                  <a:srgbClr val="172D43"/>
                </a:solidFill>
                <a:latin typeface="Arial"/>
                <a:ea typeface="Arial"/>
                <a:cs typeface="Arial"/>
              </a:defRPr>
            </a:lvl9pPr>
          </a:lstStyle>
          <a:p xmlns:a="http://schemas.openxmlformats.org/drawingml/2006/main">
            <a:pPr>
              <a:defRPr sz="2250" b="1">
                <a:solidFill>
                  <a:srgbClr val="172D43"/>
                </a:solidFill>
                <a:latin typeface="Arial"/>
                <a:ea typeface="Arial"/>
                <a:cs typeface="Arial"/>
              </a:defRPr>
            </a:pPr>
            <a:r>
              <a:rPr sz="2250" b="1">
                <a:solidFill>
                  <a:srgbClr val="172D43"/>
                </a:solidFill>
                <a:latin typeface="Arial"/>
                <a:ea typeface="Arial"/>
                <a:cs typeface="Arial"/>
              </a:rPr>
              <a:t>Does higher p make shorter replanning intervals more useful?</a:t>
            </a:r>
          </a:p>
        </p:txBody>
      </p:sp>
      <p:sp>
        <p:nvSpPr>
          <p:cNvPr id="13" name="">
            <a:extLst xmlns:a="http://schemas.openxmlformats.org/drawingml/2006/main">
              <a:ext uri="{FF2B5EF4-FFF2-40B4-BE49-F238E27FC236}">
                <a16:creationId xmlns:a16="http://schemas.microsoft.com/office/drawing/2014/main" id="{AAD2748C-67C7-49AF-A6DE-E55403AD094A}"/>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12</a:t>
            </a:r>
          </a:p>
        </p:txBody>
      </p:sp>
    </p:spTree>
    <p:extLst>
      <p:ext uri="{BB962C8B-B14F-4D97-AF65-F5344CB8AC3E}">
        <p14:creationId xmlns:p14="http://schemas.microsoft.com/office/powerpoint/2010/main" val="1776708507"/>
      </p:ext>
    </p:extLst>
  </p:cSld>
</p:sld>
</file>

<file path=ppt/slides/added2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ppendix: dropout success counts">
            <a:extLst xmlns:a="http://schemas.openxmlformats.org/drawingml/2006/main">
              <a:ext uri="{FF2B5EF4-FFF2-40B4-BE49-F238E27FC236}">
                <a16:creationId xmlns:a16="http://schemas.microsoft.com/office/drawing/2014/main" id="{E2BA6070-80BA-47C5-8AD7-DA6CA1B53753}"/>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Dropout results: task success</a:t>
            </a:r>
          </a:p>
        </p:txBody>
      </p:sp>
      <p:sp>
        <p:nvSpPr>
          <p:cNvPr id="2" name="Successful episodes / completed episodes">
            <a:extLst xmlns:a="http://schemas.openxmlformats.org/drawingml/2006/main">
              <a:ext uri="{FF2B5EF4-FFF2-40B4-BE49-F238E27FC236}">
                <a16:creationId xmlns:a16="http://schemas.microsoft.com/office/drawing/2014/main" id="{AE75649B-3A60-4BCE-AD3B-15F6ECF0BE20}"/>
              </a:ext>
            </a:extLst>
          </p:cNvPr>
          <p:cNvSpPr>
            <a:spLocks xmlns:a="http://schemas.openxmlformats.org/drawingml/2006/main" noGrp="1"/>
          </p:cNvSpPr>
          <p:nvPr/>
        </p:nvSpPr>
        <p:spPr>
          <a:xfrm xmlns:a="http://schemas.openxmlformats.org/drawingml/2006/main">
            <a:off x="533400" y="1162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Successful episodes / completed episodes</a:t>
            </a:r>
          </a:p>
        </p:txBody>
      </p:sp>
      <p:sp>
        <p:nvSpPr>
          <p:cNvPr id="3" name="17">
            <a:extLst xmlns:a="http://schemas.openxmlformats.org/drawingml/2006/main">
              <a:ext uri="{FF2B5EF4-FFF2-40B4-BE49-F238E27FC236}">
                <a16:creationId xmlns:a16="http://schemas.microsoft.com/office/drawing/2014/main" id="{661F1F5A-B300-4C7E-887F-210769C5FAD0}"/>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17</a:t>
            </a:r>
          </a:p>
        </p:txBody>
      </p:sp>
      <p:sp>
        <p:nvSpPr>
          <p:cNvPr id="4" name="p = 0.1 and p = 0.3 complete. p = 0.2 pending.">
            <a:extLst xmlns:a="http://schemas.openxmlformats.org/drawingml/2006/main">
              <a:ext uri="{FF2B5EF4-FFF2-40B4-BE49-F238E27FC236}">
                <a16:creationId xmlns:a16="http://schemas.microsoft.com/office/drawing/2014/main" id="{664A12A1-A35C-4734-885A-235455D0291E}"/>
              </a:ext>
            </a:extLst>
          </p:cNvPr>
          <p:cNvSpPr>
            <a:spLocks xmlns:a="http://schemas.openxmlformats.org/drawingml/2006/main" noGrp="1"/>
          </p:cNvSpPr>
          <p:nvPr/>
        </p:nvSpPr>
        <p:spPr>
          <a:xfrm xmlns:a="http://schemas.openxmlformats.org/drawingml/2006/main">
            <a:off x="533400" y="16287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36779"/>
                </a:solidFill>
                <a:latin typeface="Arial"/>
                <a:ea typeface="Arial"/>
                <a:cs typeface="Arial"/>
              </a:defRPr>
            </a:defPPr>
            <a:lvl1pPr>
              <a:defRPr sz="1650" b="0">
                <a:solidFill>
                  <a:srgbClr val="536779"/>
                </a:solidFill>
                <a:latin typeface="Arial"/>
                <a:ea typeface="Arial"/>
                <a:cs typeface="Arial"/>
              </a:defRPr>
            </a:lvl1pPr>
            <a:lvl2pPr>
              <a:defRPr sz="1650" b="0">
                <a:solidFill>
                  <a:srgbClr val="536779"/>
                </a:solidFill>
                <a:latin typeface="Arial"/>
                <a:ea typeface="Arial"/>
                <a:cs typeface="Arial"/>
              </a:defRPr>
            </a:lvl2pPr>
            <a:lvl3pPr>
              <a:defRPr sz="1650" b="0">
                <a:solidFill>
                  <a:srgbClr val="536779"/>
                </a:solidFill>
                <a:latin typeface="Arial"/>
                <a:ea typeface="Arial"/>
                <a:cs typeface="Arial"/>
              </a:defRPr>
            </a:lvl3pPr>
            <a:lvl4pPr>
              <a:defRPr sz="1650" b="0">
                <a:solidFill>
                  <a:srgbClr val="536779"/>
                </a:solidFill>
                <a:latin typeface="Arial"/>
                <a:ea typeface="Arial"/>
                <a:cs typeface="Arial"/>
              </a:defRPr>
            </a:lvl4pPr>
            <a:lvl5pPr>
              <a:defRPr sz="1650" b="0">
                <a:solidFill>
                  <a:srgbClr val="536779"/>
                </a:solidFill>
                <a:latin typeface="Arial"/>
                <a:ea typeface="Arial"/>
                <a:cs typeface="Arial"/>
              </a:defRPr>
            </a:lvl5pPr>
            <a:lvl6pPr>
              <a:defRPr sz="1650" b="0">
                <a:solidFill>
                  <a:srgbClr val="536779"/>
                </a:solidFill>
                <a:latin typeface="Arial"/>
                <a:ea typeface="Arial"/>
                <a:cs typeface="Arial"/>
              </a:defRPr>
            </a:lvl6pPr>
            <a:lvl7pPr>
              <a:defRPr sz="1650" b="0">
                <a:solidFill>
                  <a:srgbClr val="536779"/>
                </a:solidFill>
                <a:latin typeface="Arial"/>
                <a:ea typeface="Arial"/>
                <a:cs typeface="Arial"/>
              </a:defRPr>
            </a:lvl7pPr>
            <a:lvl8pPr>
              <a:defRPr sz="1650" b="0">
                <a:solidFill>
                  <a:srgbClr val="536779"/>
                </a:solidFill>
                <a:latin typeface="Arial"/>
                <a:ea typeface="Arial"/>
                <a:cs typeface="Arial"/>
              </a:defRPr>
            </a:lvl8pPr>
            <a:lvl9pPr>
              <a:defRPr sz="1650" b="0">
                <a:solidFill>
                  <a:srgbClr val="536779"/>
                </a:solidFill>
                <a:latin typeface="Arial"/>
                <a:ea typeface="Arial"/>
                <a:cs typeface="Arial"/>
              </a:defRPr>
            </a:lvl9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p = 0.1 and p = 0.3 shown. p = 0.2 pending.</a:t>
            </a:r>
          </a:p>
        </p:txBody>
      </p:sp>
      <p:graphicFrame>
        <p:nvGraphicFramePr>
          <p:cNvPr id="5" name="">
            <a:extLst xmlns:a="http://schemas.openxmlformats.org/drawingml/2006/main">
              <a:ext uri="{FF2B5EF4-FFF2-40B4-BE49-F238E27FC236}">
                <a16:creationId xmlns:a16="http://schemas.microsoft.com/office/drawing/2014/main" id="{B41563EA-135F-4459-89A8-0DE9F1B79E83}"/>
              </a:ext>
            </a:extLst>
          </p:cNvPr>
          <p:cNvGraphicFramePr/>
          <p:nvPr/>
        </p:nvGraphicFramePr>
        <p:xfrm>
          <a:off xmlns:a="http://schemas.openxmlformats.org/drawingml/2006/main" x="533400" y="1971675"/>
          <a:ext xmlns:a="http://schemas.openxmlformats.org/drawingml/2006/main" cx="11125200" cy="3848100"/>
        </p:xfrm>
        <a:graphic xmlns:a="http://schemas.openxmlformats.org/drawingml/2006/main">
          <a:graphicData uri="http://schemas.openxmlformats.org/drawingml/2006/table">
            <a:tbl>
              <a:tblPr firstRow="0" bandRow="0"/>
              <a:tblGrid>
                <a:gridCol w="3276600"/>
                <a:gridCol w="1962150"/>
                <a:gridCol w="1962150"/>
                <a:gridCol w="1962150"/>
                <a:gridCol w="1962150"/>
              </a:tblGrid>
              <a:tr h="384810">
                <a:tc>
                  <a:txBody>
                    <a:bodyPr lIns="133350" tIns="38100" rIns="133350" bIns="38100"/>
                    <a:lstStyle/>
                    <a:p>
                      <a:r>
                        <a:rPr sz="1650" b="1">
                          <a:solidFill>
                            <a:srgbClr val="2563A5"/>
                          </a:solidFill>
                          <a:latin typeface="Arial"/>
                          <a:ea typeface="Arial"/>
                          <a:cs typeface="Arial"/>
                        </a:rPr>
                        <a:t>Method</a:t>
                      </a:r>
                    </a:p>
                  </a:txBody>
                  <a:tcPr marL="133350" marR="133350" marT="19050" marB="1905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0.10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0.20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0.30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r>
              <a:tr h="384810">
                <a:tc>
                  <a:txBody>
                    <a:bodyPr lIns="133350" tIns="38100" rIns="133350" bIns="38100"/>
                    <a:lstStyle/>
                    <a:p>
                      <a:r>
                        <a:rPr sz="1800" b="1">
                          <a:solidFill>
                            <a:srgbClr val="2563A5"/>
                          </a:solidFill>
                          <a:latin typeface="Arial"/>
                          <a:ea typeface="Arial"/>
                          <a:cs typeface="Arial"/>
                        </a:rPr>
                        <a:t>Fixed K=1</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23/30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23/30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23/30</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2563A5"/>
                          </a:solidFill>
                          <a:latin typeface="Arial"/>
                          <a:ea typeface="Arial"/>
                          <a:cs typeface="Arial"/>
                        </a:rPr>
                        <a:t>Fixed K=5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26/30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27/30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15/30</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2563A5"/>
                          </a:solidFill>
                          <a:latin typeface="Arial"/>
                          <a:ea typeface="Arial"/>
                          <a:cs typeface="Arial"/>
                        </a:rPr>
                        <a:t>Fixed K=10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24/30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21/30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19/30</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2563A5"/>
                          </a:solidFill>
                          <a:latin typeface="Arial"/>
                          <a:ea typeface="Arial"/>
                          <a:cs typeface="Arial"/>
                        </a:rPr>
                        <a:t>Fixed K=25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11/30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12/30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12/30</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2563A5"/>
                          </a:solidFill>
                          <a:latin typeface="Arial"/>
                          <a:ea typeface="Arial"/>
                          <a:cs typeface="Arial"/>
                        </a:rPr>
                        <a:t>Fixed K=50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9/30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10/30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4/30</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D07832"/>
                          </a:solidFill>
                          <a:latin typeface="Arial"/>
                          <a:ea typeface="Arial"/>
                          <a:cs typeface="Arial"/>
                        </a:rPr>
                        <a:t>DVAC C=5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27/30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25/30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19/30</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D07832"/>
                          </a:solidFill>
                          <a:latin typeface="Arial"/>
                          <a:ea typeface="Arial"/>
                          <a:cs typeface="Arial"/>
                        </a:rPr>
                        <a:t>DVAC C=10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25/30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24/30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17/30</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D07832"/>
                          </a:solidFill>
                          <a:latin typeface="Arial"/>
                          <a:ea typeface="Arial"/>
                          <a:cs typeface="Arial"/>
                        </a:rPr>
                        <a:t>DVAC C=25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25/30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24/30</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17/30</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D07832"/>
                          </a:solidFill>
                          <a:latin typeface="Arial"/>
                          <a:ea typeface="Arial"/>
                          <a:cs typeface="Arial"/>
                        </a:rPr>
                        <a:t>DVAC C=50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25/30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13/30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5/30</a:t>
                      </a:r>
                    </a:p>
                  </a:txBody>
                  <a:tcPr marL="133350" marR="133350" marT="19050" marB="19050" anchor="ctr">
                    <a:lnR w="0">
                      <a:solidFill>
                        <a:srgbClr val="FFFFFF"/>
                      </a:solidFill>
                    </a:lnR>
                    <a:lnB w="0">
                      <a:solidFill>
                        <a:srgbClr val="FFFFFF"/>
                      </a:solidFill>
                    </a:lnB>
                    <a:solidFill>
                      <a:srgbClr val="FFFFFF"/>
                    </a:solidFill>
                  </a:tcPr>
                </a:tc>
              </a:tr>
            </a:tbl>
          </a:graphicData>
        </a:graphic>
      </p:graphicFrame>
      <p:sp>
        <p:nvSpPr>
          <p:cNvPr id="6" name="— = p=0.2 results pending.">
            <a:extLst xmlns:a="http://schemas.openxmlformats.org/drawingml/2006/main">
              <a:ext uri="{FF2B5EF4-FFF2-40B4-BE49-F238E27FC236}">
                <a16:creationId xmlns:a16="http://schemas.microsoft.com/office/drawing/2014/main" id="{E6F65B99-B572-42CD-BF68-CF61B9F1CD59}"/>
              </a:ext>
            </a:extLst>
          </p:cNvPr>
          <p:cNvSpPr>
            <a:spLocks xmlns:a="http://schemas.openxmlformats.org/drawingml/2006/main" noGrp="1"/>
          </p:cNvSpPr>
          <p:nvPr/>
        </p:nvSpPr>
        <p:spPr>
          <a:xfrm xmlns:a="http://schemas.openxmlformats.org/drawingml/2006/main">
            <a:off x="533400" y="60483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 = p=0.2 results pending.</a:t>
            </a:r>
          </a:p>
        </p:txBody>
      </p:sp>
      <p:sp>
        <p:nvSpPr>
          <p:cNvPr id="7" name="All filled cells use the same 30 starting states">
            <a:extLst xmlns:a="http://schemas.openxmlformats.org/drawingml/2006/main">
              <a:ext uri="{FF2B5EF4-FFF2-40B4-BE49-F238E27FC236}">
                <a16:creationId xmlns:a16="http://schemas.microsoft.com/office/drawing/2014/main" id="{396D98A5-578E-43C1-B567-AE57551E122F}"/>
              </a:ext>
            </a:extLst>
          </p:cNvPr>
          <p:cNvSpPr>
            <a:spLocks xmlns:a="http://schemas.openxmlformats.org/drawingml/2006/main" noGrp="1"/>
          </p:cNvSpPr>
          <p:nvPr/>
        </p:nvSpPr>
        <p:spPr>
          <a:xfrm xmlns:a="http://schemas.openxmlformats.org/drawingml/2006/main">
            <a:off x="533400" y="64198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36779"/>
                </a:solidFill>
                <a:latin typeface="Arial"/>
                <a:ea typeface="Arial"/>
                <a:cs typeface="Arial"/>
              </a:defRPr>
            </a:defPPr>
            <a:lvl1pPr>
              <a:defRPr sz="1350" b="0">
                <a:solidFill>
                  <a:srgbClr val="536779"/>
                </a:solidFill>
                <a:latin typeface="Arial"/>
                <a:ea typeface="Arial"/>
                <a:cs typeface="Arial"/>
              </a:defRPr>
            </a:lvl1pPr>
            <a:lvl2pPr>
              <a:defRPr sz="1350" b="0">
                <a:solidFill>
                  <a:srgbClr val="536779"/>
                </a:solidFill>
                <a:latin typeface="Arial"/>
                <a:ea typeface="Arial"/>
                <a:cs typeface="Arial"/>
              </a:defRPr>
            </a:lvl2pPr>
            <a:lvl3pPr>
              <a:defRPr sz="1350" b="0">
                <a:solidFill>
                  <a:srgbClr val="536779"/>
                </a:solidFill>
                <a:latin typeface="Arial"/>
                <a:ea typeface="Arial"/>
                <a:cs typeface="Arial"/>
              </a:defRPr>
            </a:lvl3pPr>
            <a:lvl4pPr>
              <a:defRPr sz="1350" b="0">
                <a:solidFill>
                  <a:srgbClr val="536779"/>
                </a:solidFill>
                <a:latin typeface="Arial"/>
                <a:ea typeface="Arial"/>
                <a:cs typeface="Arial"/>
              </a:defRPr>
            </a:lvl4pPr>
            <a:lvl5pPr>
              <a:defRPr sz="1350" b="0">
                <a:solidFill>
                  <a:srgbClr val="536779"/>
                </a:solidFill>
                <a:latin typeface="Arial"/>
                <a:ea typeface="Arial"/>
                <a:cs typeface="Arial"/>
              </a:defRPr>
            </a:lvl5pPr>
            <a:lvl6pPr>
              <a:defRPr sz="1350" b="0">
                <a:solidFill>
                  <a:srgbClr val="536779"/>
                </a:solidFill>
                <a:latin typeface="Arial"/>
                <a:ea typeface="Arial"/>
                <a:cs typeface="Arial"/>
              </a:defRPr>
            </a:lvl6pPr>
            <a:lvl7pPr>
              <a:defRPr sz="1350" b="0">
                <a:solidFill>
                  <a:srgbClr val="536779"/>
                </a:solidFill>
                <a:latin typeface="Arial"/>
                <a:ea typeface="Arial"/>
                <a:cs typeface="Arial"/>
              </a:defRPr>
            </a:lvl7pPr>
            <a:lvl8pPr>
              <a:defRPr sz="1350" b="0">
                <a:solidFill>
                  <a:srgbClr val="536779"/>
                </a:solidFill>
                <a:latin typeface="Arial"/>
                <a:ea typeface="Arial"/>
                <a:cs typeface="Arial"/>
              </a:defRPr>
            </a:lvl8pPr>
            <a:lvl9pPr>
              <a:defRPr sz="1350" b="0">
                <a:solidFill>
                  <a:srgbClr val="536779"/>
                </a:solidFill>
                <a:latin typeface="Arial"/>
                <a:ea typeface="Arial"/>
                <a:cs typeface="Arial"/>
              </a:defRPr>
            </a:lvl9pPr>
          </a:lstStyle>
          <a:p xmlns:a="http://schemas.openxmlformats.org/drawingml/2006/main">
            <a:pPr>
              <a:defRPr sz="1350" b="0">
                <a:solidFill>
                  <a:srgbClr val="536779"/>
                </a:solidFill>
                <a:latin typeface="Arial"/>
                <a:ea typeface="Arial"/>
                <a:cs typeface="Arial"/>
              </a:defRPr>
            </a:pPr>
            <a:r>
              <a:rPr sz="1350" b="0">
                <a:solidFill>
                  <a:srgbClr val="536779"/>
                </a:solidFill>
                <a:latin typeface="Arial"/>
                <a:ea typeface="Arial"/>
                <a:cs typeface="Arial"/>
              </a:rPr>
              <a:t>Illustrative data</a:t>
            </a:r>
          </a:p>
        </p:txBody>
      </p:sp>
    </p:spTree>
    <p:extLst>
      <p:ext uri="{BB962C8B-B14F-4D97-AF65-F5344CB8AC3E}">
        <p14:creationId xmlns:p14="http://schemas.microsoft.com/office/powerpoint/2010/main" val="653289283"/>
      </p:ext>
    </p:extLst>
  </p:cSld>
</p:sld>
</file>

<file path=ppt/slides/added2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ppendix: dropout model calls">
            <a:extLst xmlns:a="http://schemas.openxmlformats.org/drawingml/2006/main">
              <a:ext uri="{FF2B5EF4-FFF2-40B4-BE49-F238E27FC236}">
                <a16:creationId xmlns:a16="http://schemas.microsoft.com/office/drawing/2014/main" id="{75D5F992-501E-4BDA-B615-C02E3C8021EE}"/>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Dropout results: model calls</a:t>
            </a:r>
          </a:p>
        </p:txBody>
      </p:sp>
      <p:sp>
        <p:nvSpPr>
          <p:cNvPr id="2" name="Mean model calls per episode — all completed epi">
            <a:extLst xmlns:a="http://schemas.openxmlformats.org/drawingml/2006/main">
              <a:ext uri="{FF2B5EF4-FFF2-40B4-BE49-F238E27FC236}">
                <a16:creationId xmlns:a16="http://schemas.microsoft.com/office/drawing/2014/main" id="{EBE0A139-653F-4D7B-9491-ACF5B310D687}"/>
              </a:ext>
            </a:extLst>
          </p:cNvPr>
          <p:cNvSpPr>
            <a:spLocks xmlns:a="http://schemas.openxmlformats.org/drawingml/2006/main" noGrp="1"/>
          </p:cNvSpPr>
          <p:nvPr/>
        </p:nvSpPr>
        <p:spPr>
          <a:xfrm xmlns:a="http://schemas.openxmlformats.org/drawingml/2006/main">
            <a:off x="533400" y="1162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Mean model calls per episode — all completed episodes</a:t>
            </a:r>
          </a:p>
        </p:txBody>
      </p:sp>
      <p:sp>
        <p:nvSpPr>
          <p:cNvPr id="3" name="18">
            <a:extLst xmlns:a="http://schemas.openxmlformats.org/drawingml/2006/main">
              <a:ext uri="{FF2B5EF4-FFF2-40B4-BE49-F238E27FC236}">
                <a16:creationId xmlns:a16="http://schemas.microsoft.com/office/drawing/2014/main" id="{1235DF75-D89D-48C6-B01B-B45D009C5E4D}"/>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18</a:t>
            </a:r>
          </a:p>
        </p:txBody>
      </p:sp>
      <p:sp>
        <p:nvSpPr>
          <p:cNvPr id="4" name="p = 0.1 and p = 0.3 complete. p = 0.2 pending.">
            <a:extLst xmlns:a="http://schemas.openxmlformats.org/drawingml/2006/main">
              <a:ext uri="{FF2B5EF4-FFF2-40B4-BE49-F238E27FC236}">
                <a16:creationId xmlns:a16="http://schemas.microsoft.com/office/drawing/2014/main" id="{A0B5F93A-DD53-4165-A627-3D51F5E0B32A}"/>
              </a:ext>
            </a:extLst>
          </p:cNvPr>
          <p:cNvSpPr>
            <a:spLocks xmlns:a="http://schemas.openxmlformats.org/drawingml/2006/main" noGrp="1"/>
          </p:cNvSpPr>
          <p:nvPr/>
        </p:nvSpPr>
        <p:spPr>
          <a:xfrm xmlns:a="http://schemas.openxmlformats.org/drawingml/2006/main">
            <a:off x="533400" y="16287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36779"/>
                </a:solidFill>
                <a:latin typeface="Arial"/>
                <a:ea typeface="Arial"/>
                <a:cs typeface="Arial"/>
              </a:defRPr>
            </a:defPPr>
            <a:lvl1pPr>
              <a:defRPr sz="1650" b="0">
                <a:solidFill>
                  <a:srgbClr val="536779"/>
                </a:solidFill>
                <a:latin typeface="Arial"/>
                <a:ea typeface="Arial"/>
                <a:cs typeface="Arial"/>
              </a:defRPr>
            </a:lvl1pPr>
            <a:lvl2pPr>
              <a:defRPr sz="1650" b="0">
                <a:solidFill>
                  <a:srgbClr val="536779"/>
                </a:solidFill>
                <a:latin typeface="Arial"/>
                <a:ea typeface="Arial"/>
                <a:cs typeface="Arial"/>
              </a:defRPr>
            </a:lvl2pPr>
            <a:lvl3pPr>
              <a:defRPr sz="1650" b="0">
                <a:solidFill>
                  <a:srgbClr val="536779"/>
                </a:solidFill>
                <a:latin typeface="Arial"/>
                <a:ea typeface="Arial"/>
                <a:cs typeface="Arial"/>
              </a:defRPr>
            </a:lvl3pPr>
            <a:lvl4pPr>
              <a:defRPr sz="1650" b="0">
                <a:solidFill>
                  <a:srgbClr val="536779"/>
                </a:solidFill>
                <a:latin typeface="Arial"/>
                <a:ea typeface="Arial"/>
                <a:cs typeface="Arial"/>
              </a:defRPr>
            </a:lvl4pPr>
            <a:lvl5pPr>
              <a:defRPr sz="1650" b="0">
                <a:solidFill>
                  <a:srgbClr val="536779"/>
                </a:solidFill>
                <a:latin typeface="Arial"/>
                <a:ea typeface="Arial"/>
                <a:cs typeface="Arial"/>
              </a:defRPr>
            </a:lvl5pPr>
            <a:lvl6pPr>
              <a:defRPr sz="1650" b="0">
                <a:solidFill>
                  <a:srgbClr val="536779"/>
                </a:solidFill>
                <a:latin typeface="Arial"/>
                <a:ea typeface="Arial"/>
                <a:cs typeface="Arial"/>
              </a:defRPr>
            </a:lvl6pPr>
            <a:lvl7pPr>
              <a:defRPr sz="1650" b="0">
                <a:solidFill>
                  <a:srgbClr val="536779"/>
                </a:solidFill>
                <a:latin typeface="Arial"/>
                <a:ea typeface="Arial"/>
                <a:cs typeface="Arial"/>
              </a:defRPr>
            </a:lvl7pPr>
            <a:lvl8pPr>
              <a:defRPr sz="1650" b="0">
                <a:solidFill>
                  <a:srgbClr val="536779"/>
                </a:solidFill>
                <a:latin typeface="Arial"/>
                <a:ea typeface="Arial"/>
                <a:cs typeface="Arial"/>
              </a:defRPr>
            </a:lvl8pPr>
            <a:lvl9pPr>
              <a:defRPr sz="1650" b="0">
                <a:solidFill>
                  <a:srgbClr val="536779"/>
                </a:solidFill>
                <a:latin typeface="Arial"/>
                <a:ea typeface="Arial"/>
                <a:cs typeface="Arial"/>
              </a:defRPr>
            </a:lvl9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p = 0.1 and p = 0.3 shown. p = 0.2 pending.</a:t>
            </a:r>
          </a:p>
        </p:txBody>
      </p:sp>
      <p:graphicFrame>
        <p:nvGraphicFramePr>
          <p:cNvPr id="5" name="">
            <a:extLst xmlns:a="http://schemas.openxmlformats.org/drawingml/2006/main">
              <a:ext uri="{FF2B5EF4-FFF2-40B4-BE49-F238E27FC236}">
                <a16:creationId xmlns:a16="http://schemas.microsoft.com/office/drawing/2014/main" id="{B6BF8F15-D87F-4F1F-92CB-230CA4F57394}"/>
              </a:ext>
            </a:extLst>
          </p:cNvPr>
          <p:cNvGraphicFramePr/>
          <p:nvPr/>
        </p:nvGraphicFramePr>
        <p:xfrm>
          <a:off xmlns:a="http://schemas.openxmlformats.org/drawingml/2006/main" x="533400" y="1971675"/>
          <a:ext xmlns:a="http://schemas.openxmlformats.org/drawingml/2006/main" cx="11125200" cy="3848100"/>
        </p:xfrm>
        <a:graphic xmlns:a="http://schemas.openxmlformats.org/drawingml/2006/main">
          <a:graphicData uri="http://schemas.openxmlformats.org/drawingml/2006/table">
            <a:tbl>
              <a:tblPr firstRow="0" bandRow="0"/>
              <a:tblGrid>
                <a:gridCol w="3276600"/>
                <a:gridCol w="1962150"/>
                <a:gridCol w="1962150"/>
                <a:gridCol w="1962150"/>
                <a:gridCol w="1962150"/>
              </a:tblGrid>
              <a:tr h="384810">
                <a:tc>
                  <a:txBody>
                    <a:bodyPr lIns="133350" tIns="38100" rIns="133350" bIns="38100"/>
                    <a:lstStyle/>
                    <a:p>
                      <a:r>
                        <a:rPr sz="1650" b="1">
                          <a:solidFill>
                            <a:srgbClr val="2563A5"/>
                          </a:solidFill>
                          <a:latin typeface="Arial"/>
                          <a:ea typeface="Arial"/>
                          <a:cs typeface="Arial"/>
                        </a:rPr>
                        <a:t>Method</a:t>
                      </a:r>
                    </a:p>
                  </a:txBody>
                  <a:tcPr marL="133350" marR="133350" marT="19050" marB="1905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0.10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0.20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c>
                  <a:txBody>
                    <a:bodyPr lIns="133350" tIns="38100" rIns="133350" bIns="38100"/>
                    <a:lstStyle/>
                    <a:p>
                      <a:r>
                        <a:rPr sz="1650" b="1">
                          <a:solidFill>
                            <a:srgbClr val="172D43"/>
                          </a:solidFill>
                          <a:latin typeface="Arial"/>
                          <a:ea typeface="Arial"/>
                          <a:cs typeface="Arial"/>
                        </a:rPr>
                        <a:t>p = 0.30</a:t>
                      </a:r>
                    </a:p>
                  </a:txBody>
                  <a:tcPr marL="133350" marR="133350" marT="19050" marB="19050" anchor="ctr">
                    <a:lnR w="0">
                      <a:solidFill>
                        <a:srgbClr val="FFFFFF"/>
                      </a:solidFill>
                    </a:lnR>
                    <a:lnT w="0">
                      <a:solidFill>
                        <a:srgbClr val="FFFFFF"/>
                      </a:solidFill>
                    </a:lnT>
                    <a:lnB w="0">
                      <a:solidFill>
                        <a:srgbClr val="FFFFFF"/>
                      </a:solidFill>
                    </a:lnB>
                    <a:solidFill>
                      <a:srgbClr val="EDF2F6"/>
                    </a:solidFill>
                  </a:tcPr>
                </a:tc>
              </a:tr>
              <a:tr h="384810">
                <a:tc>
                  <a:txBody>
                    <a:bodyPr lIns="133350" tIns="38100" rIns="133350" bIns="38100"/>
                    <a:lstStyle/>
                    <a:p>
                      <a:r>
                        <a:rPr sz="1800" b="1">
                          <a:solidFill>
                            <a:srgbClr val="2563A5"/>
                          </a:solidFill>
                          <a:latin typeface="Arial"/>
                          <a:ea typeface="Arial"/>
                          <a:cs typeface="Arial"/>
                        </a:rPr>
                        <a:t>Fixed K=1</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162.0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186.4</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187.8</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2563A5"/>
                          </a:solidFill>
                          <a:latin typeface="Arial"/>
                          <a:ea typeface="Arial"/>
                          <a:cs typeface="Arial"/>
                        </a:rPr>
                        <a:t>Fixed K=5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31.3</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33.3</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45.3</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2563A5"/>
                          </a:solidFill>
                          <a:latin typeface="Arial"/>
                          <a:ea typeface="Arial"/>
                          <a:cs typeface="Arial"/>
                        </a:rPr>
                        <a:t>Fixed K=10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15.5</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18.6</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21.9</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2563A5"/>
                          </a:solidFill>
                          <a:latin typeface="Arial"/>
                          <a:ea typeface="Arial"/>
                          <a:cs typeface="Arial"/>
                        </a:rPr>
                        <a:t>Fixed K=25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9.6</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9.8</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10.2</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2563A5"/>
                          </a:solidFill>
                          <a:latin typeface="Arial"/>
                          <a:ea typeface="Arial"/>
                          <a:cs typeface="Arial"/>
                        </a:rPr>
                        <a:t>Fixed K=50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5.1</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5.0</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5.7</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D07832"/>
                          </a:solidFill>
                          <a:latin typeface="Arial"/>
                          <a:ea typeface="Arial"/>
                          <a:cs typeface="Arial"/>
                        </a:rPr>
                        <a:t>DVAC C=5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40.2</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50.2</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65.1</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D07832"/>
                          </a:solidFill>
                          <a:latin typeface="Arial"/>
                          <a:ea typeface="Arial"/>
                          <a:cs typeface="Arial"/>
                        </a:rPr>
                        <a:t>DVAC C=10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26.4</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30.9</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39.1</a:t>
                      </a:r>
                    </a:p>
                  </a:txBody>
                  <a:tcPr marL="133350" marR="133350" marT="19050" marB="19050" anchor="ctr">
                    <a:lnR w="0">
                      <a:solidFill>
                        <a:srgbClr val="FFFFFF"/>
                      </a:solidFill>
                    </a:lnR>
                    <a:lnB w="0">
                      <a:solidFill>
                        <a:srgbClr val="FFFFFF"/>
                      </a:solidFill>
                    </a:lnB>
                    <a:solidFill>
                      <a:srgbClr val="FFFFFF"/>
                    </a:solidFill>
                  </a:tcPr>
                </a:tc>
              </a:tr>
              <a:tr h="384810">
                <a:tc>
                  <a:txBody>
                    <a:bodyPr lIns="133350" tIns="38100" rIns="133350" bIns="38100"/>
                    <a:lstStyle/>
                    <a:p>
                      <a:r>
                        <a:rPr sz="1800" b="1">
                          <a:solidFill>
                            <a:srgbClr val="D07832"/>
                          </a:solidFill>
                          <a:latin typeface="Arial"/>
                          <a:ea typeface="Arial"/>
                          <a:cs typeface="Arial"/>
                        </a:rPr>
                        <a:t>DVAC C=25</a:t>
                      </a:r>
                    </a:p>
                  </a:txBody>
                  <a:tcPr marL="133350" marR="133350" marT="19050" marB="19050" anchor="ctr">
                    <a:lnL w="0">
                      <a:solidFill>
                        <a:srgbClr val="FFFFFF"/>
                      </a:solidFill>
                    </a:lnL>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14.1</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14.1</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7F9FB"/>
                    </a:solidFill>
                  </a:tcPr>
                </a:tc>
                <a:tc>
                  <a:txBody>
                    <a:bodyPr lIns="133350" tIns="38100" rIns="133350" bIns="38100"/>
                    <a:lstStyle/>
                    <a:p>
                      <a:r>
                        <a:rPr sz="1800" b="0">
                          <a:solidFill>
                            <a:srgbClr val="172D43"/>
                          </a:solidFill>
                          <a:latin typeface="Arial"/>
                          <a:ea typeface="Arial"/>
                          <a:cs typeface="Arial"/>
                        </a:rPr>
                        <a:t>20.4</a:t>
                      </a:r>
                    </a:p>
                  </a:txBody>
                  <a:tcPr marL="133350" marR="133350" marT="19050" marB="19050" anchor="ctr">
                    <a:lnR w="0">
                      <a:solidFill>
                        <a:srgbClr val="FFFFFF"/>
                      </a:solidFill>
                    </a:lnR>
                    <a:lnB w="0">
                      <a:solidFill>
                        <a:srgbClr val="FFFFFF"/>
                      </a:solidFill>
                    </a:lnB>
                    <a:solidFill>
                      <a:srgbClr val="F7F9FB"/>
                    </a:solidFill>
                  </a:tcPr>
                </a:tc>
              </a:tr>
              <a:tr h="384810">
                <a:tc>
                  <a:txBody>
                    <a:bodyPr lIns="133350" tIns="38100" rIns="133350" bIns="38100"/>
                    <a:lstStyle/>
                    <a:p>
                      <a:r>
                        <a:rPr sz="1800" b="1">
                          <a:solidFill>
                            <a:srgbClr val="D07832"/>
                          </a:solidFill>
                          <a:latin typeface="Arial"/>
                          <a:ea typeface="Arial"/>
                          <a:cs typeface="Arial"/>
                        </a:rPr>
                        <a:t>DVAC C=50</a:t>
                      </a:r>
                    </a:p>
                  </a:txBody>
                  <a:tcPr marL="133350" marR="133350" marT="19050" marB="19050" anchor="ctr">
                    <a:lnL w="0">
                      <a:solidFill>
                        <a:srgbClr val="FFFFFF"/>
                      </a:solidFill>
                    </a:lnL>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9.5</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11.5</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8293A1"/>
                          </a:solidFill>
                          <a:latin typeface="Arial"/>
                          <a:ea typeface="Arial"/>
                          <a:cs typeface="Arial"/>
                        </a:rPr>
                        <a:t>—</a:t>
                      </a:r>
                    </a:p>
                  </a:txBody>
                  <a:tcPr marL="133350" marR="133350" marT="19050" marB="19050" anchor="ctr">
                    <a:lnR w="0">
                      <a:solidFill>
                        <a:srgbClr val="FFFFFF"/>
                      </a:solidFill>
                    </a:lnR>
                    <a:lnB w="0">
                      <a:solidFill>
                        <a:srgbClr val="FFFFFF"/>
                      </a:solidFill>
                    </a:lnB>
                    <a:solidFill>
                      <a:srgbClr val="FFFFFF"/>
                    </a:solidFill>
                  </a:tcPr>
                </a:tc>
                <a:tc>
                  <a:txBody>
                    <a:bodyPr lIns="133350" tIns="38100" rIns="133350" bIns="38100"/>
                    <a:lstStyle/>
                    <a:p>
                      <a:r>
                        <a:rPr sz="1800" b="0">
                          <a:solidFill>
                            <a:srgbClr val="172D43"/>
                          </a:solidFill>
                          <a:latin typeface="Arial"/>
                          <a:ea typeface="Arial"/>
                          <a:cs typeface="Arial"/>
                        </a:rPr>
                        <a:t>16.9</a:t>
                      </a:r>
                    </a:p>
                  </a:txBody>
                  <a:tcPr marL="133350" marR="133350" marT="19050" marB="19050" anchor="ctr">
                    <a:lnR w="0">
                      <a:solidFill>
                        <a:srgbClr val="FFFFFF"/>
                      </a:solidFill>
                    </a:lnR>
                    <a:lnB w="0">
                      <a:solidFill>
                        <a:srgbClr val="FFFFFF"/>
                      </a:solidFill>
                    </a:lnB>
                    <a:solidFill>
                      <a:srgbClr val="FFFFFF"/>
                    </a:solidFill>
                  </a:tcPr>
                </a:tc>
              </a:tr>
            </a:tbl>
          </a:graphicData>
        </a:graphic>
      </p:graphicFrame>
      <p:sp>
        <p:nvSpPr>
          <p:cNvPr id="6" name="Lower means fewer model calls. Read alongside th">
            <a:extLst xmlns:a="http://schemas.openxmlformats.org/drawingml/2006/main">
              <a:ext uri="{FF2B5EF4-FFF2-40B4-BE49-F238E27FC236}">
                <a16:creationId xmlns:a16="http://schemas.microsoft.com/office/drawing/2014/main" id="{8DECD859-5730-49C8-AD4B-0E97D1E6F021}"/>
              </a:ext>
            </a:extLst>
          </p:cNvPr>
          <p:cNvSpPr>
            <a:spLocks xmlns:a="http://schemas.openxmlformats.org/drawingml/2006/main" noGrp="1"/>
          </p:cNvSpPr>
          <p:nvPr/>
        </p:nvSpPr>
        <p:spPr>
          <a:xfrm xmlns:a="http://schemas.openxmlformats.org/drawingml/2006/main">
            <a:off x="533400" y="60483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36779"/>
                </a:solidFill>
                <a:latin typeface="Arial"/>
                <a:ea typeface="Arial"/>
                <a:cs typeface="Arial"/>
              </a:defRPr>
            </a:defPPr>
            <a:lvl1pPr>
              <a:defRPr sz="1650" b="0">
                <a:solidFill>
                  <a:srgbClr val="536779"/>
                </a:solidFill>
                <a:latin typeface="Arial"/>
                <a:ea typeface="Arial"/>
                <a:cs typeface="Arial"/>
              </a:defRPr>
            </a:lvl1pPr>
            <a:lvl2pPr>
              <a:defRPr sz="1650" b="0">
                <a:solidFill>
                  <a:srgbClr val="536779"/>
                </a:solidFill>
                <a:latin typeface="Arial"/>
                <a:ea typeface="Arial"/>
                <a:cs typeface="Arial"/>
              </a:defRPr>
            </a:lvl2pPr>
            <a:lvl3pPr>
              <a:defRPr sz="1650" b="0">
                <a:solidFill>
                  <a:srgbClr val="536779"/>
                </a:solidFill>
                <a:latin typeface="Arial"/>
                <a:ea typeface="Arial"/>
                <a:cs typeface="Arial"/>
              </a:defRPr>
            </a:lvl3pPr>
            <a:lvl4pPr>
              <a:defRPr sz="1650" b="0">
                <a:solidFill>
                  <a:srgbClr val="536779"/>
                </a:solidFill>
                <a:latin typeface="Arial"/>
                <a:ea typeface="Arial"/>
                <a:cs typeface="Arial"/>
              </a:defRPr>
            </a:lvl4pPr>
            <a:lvl5pPr>
              <a:defRPr sz="1650" b="0">
                <a:solidFill>
                  <a:srgbClr val="536779"/>
                </a:solidFill>
                <a:latin typeface="Arial"/>
                <a:ea typeface="Arial"/>
                <a:cs typeface="Arial"/>
              </a:defRPr>
            </a:lvl5pPr>
            <a:lvl6pPr>
              <a:defRPr sz="1650" b="0">
                <a:solidFill>
                  <a:srgbClr val="536779"/>
                </a:solidFill>
                <a:latin typeface="Arial"/>
                <a:ea typeface="Arial"/>
                <a:cs typeface="Arial"/>
              </a:defRPr>
            </a:lvl6pPr>
            <a:lvl7pPr>
              <a:defRPr sz="1650" b="0">
                <a:solidFill>
                  <a:srgbClr val="536779"/>
                </a:solidFill>
                <a:latin typeface="Arial"/>
                <a:ea typeface="Arial"/>
                <a:cs typeface="Arial"/>
              </a:defRPr>
            </a:lvl7pPr>
            <a:lvl8pPr>
              <a:defRPr sz="1650" b="0">
                <a:solidFill>
                  <a:srgbClr val="536779"/>
                </a:solidFill>
                <a:latin typeface="Arial"/>
                <a:ea typeface="Arial"/>
                <a:cs typeface="Arial"/>
              </a:defRPr>
            </a:lvl8pPr>
            <a:lvl9pPr>
              <a:defRPr sz="1650" b="0">
                <a:solidFill>
                  <a:srgbClr val="536779"/>
                </a:solidFill>
                <a:latin typeface="Arial"/>
                <a:ea typeface="Arial"/>
                <a:cs typeface="Arial"/>
              </a:defRPr>
            </a:lvl9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Lower means fewer model calls. Read alongside the task success results.</a:t>
            </a:r>
          </a:p>
        </p:txBody>
      </p:sp>
      <p:sp>
        <p:nvSpPr>
          <p:cNvPr id="7" name="Means include all 30 episodes, including failure">
            <a:extLst xmlns:a="http://schemas.openxmlformats.org/drawingml/2006/main">
              <a:ext uri="{FF2B5EF4-FFF2-40B4-BE49-F238E27FC236}">
                <a16:creationId xmlns:a16="http://schemas.microsoft.com/office/drawing/2014/main" id="{A6980C89-C85B-477C-91B1-01D09DCE71B6}"/>
              </a:ext>
            </a:extLst>
          </p:cNvPr>
          <p:cNvSpPr>
            <a:spLocks xmlns:a="http://schemas.openxmlformats.org/drawingml/2006/main" noGrp="1"/>
          </p:cNvSpPr>
          <p:nvPr/>
        </p:nvSpPr>
        <p:spPr>
          <a:xfrm xmlns:a="http://schemas.openxmlformats.org/drawingml/2006/main">
            <a:off x="533400" y="64198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36779"/>
                </a:solidFill>
                <a:latin typeface="Arial"/>
                <a:ea typeface="Arial"/>
                <a:cs typeface="Arial"/>
              </a:defRPr>
            </a:defPPr>
            <a:lvl1pPr>
              <a:defRPr sz="1350" b="0">
                <a:solidFill>
                  <a:srgbClr val="536779"/>
                </a:solidFill>
                <a:latin typeface="Arial"/>
                <a:ea typeface="Arial"/>
                <a:cs typeface="Arial"/>
              </a:defRPr>
            </a:lvl1pPr>
            <a:lvl2pPr>
              <a:defRPr sz="1350" b="0">
                <a:solidFill>
                  <a:srgbClr val="536779"/>
                </a:solidFill>
                <a:latin typeface="Arial"/>
                <a:ea typeface="Arial"/>
                <a:cs typeface="Arial"/>
              </a:defRPr>
            </a:lvl2pPr>
            <a:lvl3pPr>
              <a:defRPr sz="1350" b="0">
                <a:solidFill>
                  <a:srgbClr val="536779"/>
                </a:solidFill>
                <a:latin typeface="Arial"/>
                <a:ea typeface="Arial"/>
                <a:cs typeface="Arial"/>
              </a:defRPr>
            </a:lvl3pPr>
            <a:lvl4pPr>
              <a:defRPr sz="1350" b="0">
                <a:solidFill>
                  <a:srgbClr val="536779"/>
                </a:solidFill>
                <a:latin typeface="Arial"/>
                <a:ea typeface="Arial"/>
                <a:cs typeface="Arial"/>
              </a:defRPr>
            </a:lvl4pPr>
            <a:lvl5pPr>
              <a:defRPr sz="1350" b="0">
                <a:solidFill>
                  <a:srgbClr val="536779"/>
                </a:solidFill>
                <a:latin typeface="Arial"/>
                <a:ea typeface="Arial"/>
                <a:cs typeface="Arial"/>
              </a:defRPr>
            </a:lvl5pPr>
            <a:lvl6pPr>
              <a:defRPr sz="1350" b="0">
                <a:solidFill>
                  <a:srgbClr val="536779"/>
                </a:solidFill>
                <a:latin typeface="Arial"/>
                <a:ea typeface="Arial"/>
                <a:cs typeface="Arial"/>
              </a:defRPr>
            </a:lvl6pPr>
            <a:lvl7pPr>
              <a:defRPr sz="1350" b="0">
                <a:solidFill>
                  <a:srgbClr val="536779"/>
                </a:solidFill>
                <a:latin typeface="Arial"/>
                <a:ea typeface="Arial"/>
                <a:cs typeface="Arial"/>
              </a:defRPr>
            </a:lvl7pPr>
            <a:lvl8pPr>
              <a:defRPr sz="1350" b="0">
                <a:solidFill>
                  <a:srgbClr val="536779"/>
                </a:solidFill>
                <a:latin typeface="Arial"/>
                <a:ea typeface="Arial"/>
                <a:cs typeface="Arial"/>
              </a:defRPr>
            </a:lvl8pPr>
            <a:lvl9pPr>
              <a:defRPr sz="1350" b="0">
                <a:solidFill>
                  <a:srgbClr val="536779"/>
                </a:solidFill>
                <a:latin typeface="Arial"/>
                <a:ea typeface="Arial"/>
                <a:cs typeface="Arial"/>
              </a:defRPr>
            </a:lvl9pPr>
          </a:lstStyle>
          <a:p xmlns:a="http://schemas.openxmlformats.org/drawingml/2006/main">
            <a:pPr>
              <a:defRPr sz="1350" b="0">
                <a:solidFill>
                  <a:srgbClr val="536779"/>
                </a:solidFill>
                <a:latin typeface="Arial"/>
                <a:ea typeface="Arial"/>
                <a:cs typeface="Arial"/>
              </a:defRPr>
            </a:pPr>
            <a:r>
              <a:rPr sz="1350" b="0">
                <a:solidFill>
                  <a:srgbClr val="536779"/>
                </a:solidFill>
                <a:latin typeface="Arial"/>
                <a:ea typeface="Arial"/>
                <a:cs typeface="Arial"/>
              </a:rPr>
              <a:t>Illustrative data</a:t>
            </a:r>
          </a:p>
        </p:txBody>
      </p:sp>
    </p:spTree>
    <p:extLst>
      <p:ext uri="{BB962C8B-B14F-4D97-AF65-F5344CB8AC3E}">
        <p14:creationId xmlns:p14="http://schemas.microsoft.com/office/powerpoint/2010/main" val="1145039276"/>
      </p:ext>
    </p:extLst>
  </p:cSld>
</p:sld>
</file>

<file path=ppt/slides/added3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best observed fixed K changes with dropout">
            <a:extLst xmlns:a="http://schemas.openxmlformats.org/drawingml/2006/main">
              <a:ext uri="{FF2B5EF4-FFF2-40B4-BE49-F238E27FC236}">
                <a16:creationId xmlns:a16="http://schemas.microsoft.com/office/drawing/2014/main" id="{B039D44D-10EF-4793-95D8-315ED426FB3A}"/>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Task success under action dropout</a:t>
            </a:r>
          </a:p>
        </p:txBody>
      </p:sp>
      <p:sp>
        <p:nvSpPr>
          <p:cNvPr id="2" name="Task success rate for fixed intervals and adapti">
            <a:extLst xmlns:a="http://schemas.openxmlformats.org/drawingml/2006/main">
              <a:ext uri="{FF2B5EF4-FFF2-40B4-BE49-F238E27FC236}">
                <a16:creationId xmlns:a16="http://schemas.microsoft.com/office/drawing/2014/main" id="{5B159FFB-9DE3-4D64-A082-0250A30709C0}"/>
              </a:ext>
            </a:extLst>
          </p:cNvPr>
          <p:cNvSpPr>
            <a:spLocks xmlns:a="http://schemas.openxmlformats.org/drawingml/2006/main" noGrp="1"/>
          </p:cNvSpPr>
          <p:nvPr/>
        </p:nvSpPr>
        <p:spPr>
          <a:xfrm xmlns:a="http://schemas.openxmlformats.org/drawingml/2006/main">
            <a:off x="533400" y="1162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Task success rate for fixed intervals and adaptive DVAC.</a:t>
            </a:r>
          </a:p>
        </p:txBody>
      </p:sp>
      <p:sp>
        <p:nvSpPr>
          <p:cNvPr id="3" name="13">
            <a:extLst xmlns:a="http://schemas.openxmlformats.org/drawingml/2006/main">
              <a:ext uri="{FF2B5EF4-FFF2-40B4-BE49-F238E27FC236}">
                <a16:creationId xmlns:a16="http://schemas.microsoft.com/office/drawing/2014/main" id="{A07C574B-CD2B-4CDC-B59A-4F8108F631D4}"/>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13</a:t>
            </a:r>
          </a:p>
        </p:txBody>
      </p:sp>
      <p:pic>
        <p:nvPicPr>
          <p:cNvPr id="4" name="">
            <a:extLst xmlns:a="http://schemas.openxmlformats.org/drawingml/2006/main">
              <a:ext uri="{FF2B5EF4-FFF2-40B4-BE49-F238E27FC236}">
                <a16:creationId xmlns:a16="http://schemas.microsoft.com/office/drawing/2014/main" id="{765AB406-575E-43DD-BD32-D5130C24F4DF}"/>
              </a:ext>
            </a:extLst>
          </p:cNvPr>
          <p:cNvPicPr>
            <a:picLocks xmlns:a="http://schemas.openxmlformats.org/drawingml/2006/main" noChangeAspect="1"/>
          </p:cNvPicPr>
          <p:nvPr/>
        </p:nvPicPr>
        <p:blipFill>
          <a:blip xmlns:r="http://schemas.openxmlformats.org/officeDocument/2006/relationships" xmlns:a="http://schemas.openxmlformats.org/drawingml/2006/main" r:embed="Re2fc3b6b2a544034"/>
          <a:stretch xmlns:a="http://schemas.openxmlformats.org/drawingml/2006/main"/>
        </p:blipFill>
        <p:spPr>
          <a:xfrm xmlns:a="http://schemas.openxmlformats.org/drawingml/2006/main">
            <a:off x="381000" y="1571625"/>
            <a:ext cx="11430000" cy="4095750"/>
          </a:xfrm>
          <a:prstGeom xmlns:a="http://schemas.openxmlformats.org/drawingml/2006/main" prst="rect">
            <a:avLst/>
          </a:prstGeom>
        </p:spPr>
      </p:pic>
      <p:sp>
        <p:nvSpPr>
          <p:cNvPr id="5" name="Best fixed K: 5 at p=0 and 0.1. At p=0.3: K=1.">
            <a:extLst xmlns:a="http://schemas.openxmlformats.org/drawingml/2006/main">
              <a:ext uri="{FF2B5EF4-FFF2-40B4-BE49-F238E27FC236}">
                <a16:creationId xmlns:a16="http://schemas.microsoft.com/office/drawing/2014/main" id="{B538B0A9-FA47-4C7D-97AF-82F16C62BB93}"/>
              </a:ext>
            </a:extLst>
          </p:cNvPr>
          <p:cNvSpPr>
            <a:spLocks xmlns:a="http://schemas.openxmlformats.org/drawingml/2006/main" noGrp="1"/>
          </p:cNvSpPr>
          <p:nvPr/>
        </p:nvSpPr>
        <p:spPr>
          <a:xfrm xmlns:a="http://schemas.openxmlformats.org/drawingml/2006/main">
            <a:off x="533400" y="58388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2D43"/>
                </a:solidFill>
                <a:latin typeface="Arial"/>
                <a:ea typeface="Arial"/>
                <a:cs typeface="Arial"/>
              </a:defRPr>
            </a:defPPr>
            <a:lvl1pPr>
              <a:defRPr sz="2100" b="1">
                <a:solidFill>
                  <a:srgbClr val="172D43"/>
                </a:solidFill>
                <a:latin typeface="Arial"/>
                <a:ea typeface="Arial"/>
                <a:cs typeface="Arial"/>
              </a:defRPr>
            </a:lvl1pPr>
            <a:lvl2pPr>
              <a:defRPr sz="2100" b="1">
                <a:solidFill>
                  <a:srgbClr val="172D43"/>
                </a:solidFill>
                <a:latin typeface="Arial"/>
                <a:ea typeface="Arial"/>
                <a:cs typeface="Arial"/>
              </a:defRPr>
            </a:lvl2pPr>
            <a:lvl3pPr>
              <a:defRPr sz="2100" b="1">
                <a:solidFill>
                  <a:srgbClr val="172D43"/>
                </a:solidFill>
                <a:latin typeface="Arial"/>
                <a:ea typeface="Arial"/>
                <a:cs typeface="Arial"/>
              </a:defRPr>
            </a:lvl3pPr>
            <a:lvl4pPr>
              <a:defRPr sz="2100" b="1">
                <a:solidFill>
                  <a:srgbClr val="172D43"/>
                </a:solidFill>
                <a:latin typeface="Arial"/>
                <a:ea typeface="Arial"/>
                <a:cs typeface="Arial"/>
              </a:defRPr>
            </a:lvl4pPr>
            <a:lvl5pPr>
              <a:defRPr sz="2100" b="1">
                <a:solidFill>
                  <a:srgbClr val="172D43"/>
                </a:solidFill>
                <a:latin typeface="Arial"/>
                <a:ea typeface="Arial"/>
                <a:cs typeface="Arial"/>
              </a:defRPr>
            </a:lvl5pPr>
            <a:lvl6pPr>
              <a:defRPr sz="2100" b="1">
                <a:solidFill>
                  <a:srgbClr val="172D43"/>
                </a:solidFill>
                <a:latin typeface="Arial"/>
                <a:ea typeface="Arial"/>
                <a:cs typeface="Arial"/>
              </a:defRPr>
            </a:lvl6pPr>
            <a:lvl7pPr>
              <a:defRPr sz="2100" b="1">
                <a:solidFill>
                  <a:srgbClr val="172D43"/>
                </a:solidFill>
                <a:latin typeface="Arial"/>
                <a:ea typeface="Arial"/>
                <a:cs typeface="Arial"/>
              </a:defRPr>
            </a:lvl7pPr>
            <a:lvl8pPr>
              <a:defRPr sz="2100" b="1">
                <a:solidFill>
                  <a:srgbClr val="172D43"/>
                </a:solidFill>
                <a:latin typeface="Arial"/>
                <a:ea typeface="Arial"/>
                <a:cs typeface="Arial"/>
              </a:defRPr>
            </a:lvl8pPr>
            <a:lvl9pPr>
              <a:defRPr sz="2100" b="1">
                <a:solidFill>
                  <a:srgbClr val="172D43"/>
                </a:solidFill>
                <a:latin typeface="Arial"/>
                <a:ea typeface="Arial"/>
                <a:cs typeface="Arial"/>
              </a:defRPr>
            </a:lvl9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Best fixed K: 5 at p=0 and 0.1. At p=0.3: K=1.</a:t>
            </a:r>
          </a:p>
        </p:txBody>
      </p:sp>
      <p:sp>
        <p:nvSpPr>
          <p:cNvPr id="6" name="30 episodes per point. Lines connect measured pr">
            <a:extLst xmlns:a="http://schemas.openxmlformats.org/drawingml/2006/main">
              <a:ext uri="{FF2B5EF4-FFF2-40B4-BE49-F238E27FC236}">
                <a16:creationId xmlns:a16="http://schemas.microsoft.com/office/drawing/2014/main" id="{E937A241-5C6D-4600-806A-9CFC913E4572}"/>
              </a:ext>
            </a:extLst>
          </p:cNvPr>
          <p:cNvSpPr>
            <a:spLocks xmlns:a="http://schemas.openxmlformats.org/drawingml/2006/main" noGrp="1"/>
          </p:cNvSpPr>
          <p:nvPr/>
        </p:nvSpPr>
        <p:spPr>
          <a:xfrm xmlns:a="http://schemas.openxmlformats.org/drawingml/2006/main">
            <a:off x="533400" y="6334125"/>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779"/>
                </a:solidFill>
                <a:latin typeface="Arial"/>
                <a:ea typeface="Arial"/>
                <a:cs typeface="Arial"/>
              </a:defRPr>
            </a:defPPr>
            <a:lvl1pPr>
              <a:defRPr sz="1500" b="0">
                <a:solidFill>
                  <a:srgbClr val="536779"/>
                </a:solidFill>
                <a:latin typeface="Arial"/>
                <a:ea typeface="Arial"/>
                <a:cs typeface="Arial"/>
              </a:defRPr>
            </a:lvl1pPr>
            <a:lvl2pPr>
              <a:defRPr sz="1500" b="0">
                <a:solidFill>
                  <a:srgbClr val="536779"/>
                </a:solidFill>
                <a:latin typeface="Arial"/>
                <a:ea typeface="Arial"/>
                <a:cs typeface="Arial"/>
              </a:defRPr>
            </a:lvl2pPr>
            <a:lvl3pPr>
              <a:defRPr sz="1500" b="0">
                <a:solidFill>
                  <a:srgbClr val="536779"/>
                </a:solidFill>
                <a:latin typeface="Arial"/>
                <a:ea typeface="Arial"/>
                <a:cs typeface="Arial"/>
              </a:defRPr>
            </a:lvl3pPr>
            <a:lvl4pPr>
              <a:defRPr sz="1500" b="0">
                <a:solidFill>
                  <a:srgbClr val="536779"/>
                </a:solidFill>
                <a:latin typeface="Arial"/>
                <a:ea typeface="Arial"/>
                <a:cs typeface="Arial"/>
              </a:defRPr>
            </a:lvl4pPr>
            <a:lvl5pPr>
              <a:defRPr sz="1500" b="0">
                <a:solidFill>
                  <a:srgbClr val="536779"/>
                </a:solidFill>
                <a:latin typeface="Arial"/>
                <a:ea typeface="Arial"/>
                <a:cs typeface="Arial"/>
              </a:defRPr>
            </a:lvl5pPr>
            <a:lvl6pPr>
              <a:defRPr sz="1500" b="0">
                <a:solidFill>
                  <a:srgbClr val="536779"/>
                </a:solidFill>
                <a:latin typeface="Arial"/>
                <a:ea typeface="Arial"/>
                <a:cs typeface="Arial"/>
              </a:defRPr>
            </a:lvl6pPr>
            <a:lvl7pPr>
              <a:defRPr sz="1500" b="0">
                <a:solidFill>
                  <a:srgbClr val="536779"/>
                </a:solidFill>
                <a:latin typeface="Arial"/>
                <a:ea typeface="Arial"/>
                <a:cs typeface="Arial"/>
              </a:defRPr>
            </a:lvl7pPr>
            <a:lvl8pPr>
              <a:defRPr sz="1500" b="0">
                <a:solidFill>
                  <a:srgbClr val="536779"/>
                </a:solidFill>
                <a:latin typeface="Arial"/>
                <a:ea typeface="Arial"/>
                <a:cs typeface="Arial"/>
              </a:defRPr>
            </a:lvl8pPr>
            <a:lvl9pPr>
              <a:defRPr sz="1500" b="0">
                <a:solidFill>
                  <a:srgbClr val="536779"/>
                </a:solidFill>
                <a:latin typeface="Arial"/>
                <a:ea typeface="Arial"/>
                <a:cs typeface="Arial"/>
              </a:defRPr>
            </a:lvl9pPr>
          </a:lstStyle>
          <a:p xmlns:a="http://schemas.openxmlformats.org/drawingml/2006/main">
            <a:pPr>
              <a:defRPr sz="1500" b="0">
                <a:solidFill>
                  <a:srgbClr val="536779"/>
                </a:solidFill>
                <a:latin typeface="Arial"/>
                <a:ea typeface="Arial"/>
                <a:cs typeface="Arial"/>
              </a:defRPr>
            </a:pPr>
            <a:r>
              <a:rPr sz="1500" b="0">
                <a:solidFill>
                  <a:srgbClr val="536779"/>
                </a:solidFill>
                <a:latin typeface="Arial"/>
                <a:ea typeface="Arial"/>
                <a:cs typeface="Arial"/>
              </a:rPr>
              <a:t>Illustrative data</a:t>
            </a:r>
          </a:p>
        </p:txBody>
      </p:sp>
    </p:spTree>
    <p:extLst>
      <p:ext uri="{BB962C8B-B14F-4D97-AF65-F5344CB8AC3E}">
        <p14:creationId xmlns:p14="http://schemas.microsoft.com/office/powerpoint/2010/main" val="941410359"/>
      </p:ext>
    </p:extLst>
  </p:cSld>
</p:sld>
</file>

<file path=ppt/slides/added3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uccess and model calls under dropout">
            <a:extLst xmlns:a="http://schemas.openxmlformats.org/drawingml/2006/main">
              <a:ext uri="{FF2B5EF4-FFF2-40B4-BE49-F238E27FC236}">
                <a16:creationId xmlns:a16="http://schemas.microsoft.com/office/drawing/2014/main" id="{E7283869-5648-4E30-856A-A763773C521B}"/>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Success and model calls under dropout</a:t>
            </a:r>
          </a:p>
        </p:txBody>
      </p:sp>
      <p:sp>
        <p:nvSpPr>
          <p:cNvPr id="2" name="Higher success and fewer calls are preferable. B">
            <a:extLst xmlns:a="http://schemas.openxmlformats.org/drawingml/2006/main">
              <a:ext uri="{FF2B5EF4-FFF2-40B4-BE49-F238E27FC236}">
                <a16:creationId xmlns:a16="http://schemas.microsoft.com/office/drawing/2014/main" id="{859A0DEA-87EC-4BED-B363-DD149BDD9CD0}"/>
              </a:ext>
            </a:extLst>
          </p:cNvPr>
          <p:cNvSpPr>
            <a:spLocks xmlns:a="http://schemas.openxmlformats.org/drawingml/2006/main" noGrp="1"/>
          </p:cNvSpPr>
          <p:nvPr/>
        </p:nvSpPr>
        <p:spPr>
          <a:xfrm xmlns:a="http://schemas.openxmlformats.org/drawingml/2006/main">
            <a:off x="533400" y="1162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Higher success and fewer calls are preferable. Both panels use the same axes.</a:t>
            </a:r>
          </a:p>
        </p:txBody>
      </p:sp>
      <p:sp>
        <p:nvSpPr>
          <p:cNvPr id="3" name="14">
            <a:extLst xmlns:a="http://schemas.openxmlformats.org/drawingml/2006/main">
              <a:ext uri="{FF2B5EF4-FFF2-40B4-BE49-F238E27FC236}">
                <a16:creationId xmlns:a16="http://schemas.microsoft.com/office/drawing/2014/main" id="{0BD9852A-90CE-40C2-8721-BC61693C0D55}"/>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AAA09D4C-8F9C-4ED7-9A00-AEA153163A92}"/>
              </a:ext>
            </a:extLst>
          </p:cNvPr>
          <p:cNvPicPr>
            <a:picLocks xmlns:a="http://schemas.openxmlformats.org/drawingml/2006/main" noChangeAspect="1"/>
          </p:cNvPicPr>
          <p:nvPr/>
        </p:nvPicPr>
        <p:blipFill>
          <a:blip xmlns:r="http://schemas.openxmlformats.org/officeDocument/2006/relationships" xmlns:a="http://schemas.openxmlformats.org/drawingml/2006/main" r:embed="R77d19902e5a248b5"/>
          <a:stretch xmlns:a="http://schemas.openxmlformats.org/drawingml/2006/main"/>
        </p:blipFill>
        <p:spPr>
          <a:xfrm xmlns:a="http://schemas.openxmlformats.org/drawingml/2006/main">
            <a:off x="381000" y="1571625"/>
            <a:ext cx="11430000" cy="4095750"/>
          </a:xfrm>
          <a:prstGeom xmlns:a="http://schemas.openxmlformats.org/drawingml/2006/main" prst="rect">
            <a:avLst/>
          </a:prstGeom>
        </p:spPr>
      </p:pic>
      <p:sp>
        <p:nvSpPr>
          <p:cNvPr id="5" name="At p=0.3, K=1 uses 8.6× more calls than K=10 for">
            <a:extLst xmlns:a="http://schemas.openxmlformats.org/drawingml/2006/main">
              <a:ext uri="{FF2B5EF4-FFF2-40B4-BE49-F238E27FC236}">
                <a16:creationId xmlns:a16="http://schemas.microsoft.com/office/drawing/2014/main" id="{461D6832-6F78-44C9-B7F5-B085801112C3}"/>
              </a:ext>
            </a:extLst>
          </p:cNvPr>
          <p:cNvSpPr>
            <a:spLocks xmlns:a="http://schemas.openxmlformats.org/drawingml/2006/main" noGrp="1"/>
          </p:cNvSpPr>
          <p:nvPr/>
        </p:nvSpPr>
        <p:spPr>
          <a:xfrm xmlns:a="http://schemas.openxmlformats.org/drawingml/2006/main">
            <a:off x="533400" y="58388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72D43"/>
                </a:solidFill>
                <a:latin typeface="Arial"/>
                <a:ea typeface="Arial"/>
                <a:cs typeface="Arial"/>
              </a:defRPr>
            </a:defPPr>
            <a:lvl1pPr>
              <a:defRPr sz="2025" b="1">
                <a:solidFill>
                  <a:srgbClr val="172D43"/>
                </a:solidFill>
                <a:latin typeface="Arial"/>
                <a:ea typeface="Arial"/>
                <a:cs typeface="Arial"/>
              </a:defRPr>
            </a:lvl1pPr>
            <a:lvl2pPr>
              <a:defRPr sz="2025" b="1">
                <a:solidFill>
                  <a:srgbClr val="172D43"/>
                </a:solidFill>
                <a:latin typeface="Arial"/>
                <a:ea typeface="Arial"/>
                <a:cs typeface="Arial"/>
              </a:defRPr>
            </a:lvl2pPr>
            <a:lvl3pPr>
              <a:defRPr sz="2025" b="1">
                <a:solidFill>
                  <a:srgbClr val="172D43"/>
                </a:solidFill>
                <a:latin typeface="Arial"/>
                <a:ea typeface="Arial"/>
                <a:cs typeface="Arial"/>
              </a:defRPr>
            </a:lvl3pPr>
            <a:lvl4pPr>
              <a:defRPr sz="2025" b="1">
                <a:solidFill>
                  <a:srgbClr val="172D43"/>
                </a:solidFill>
                <a:latin typeface="Arial"/>
                <a:ea typeface="Arial"/>
                <a:cs typeface="Arial"/>
              </a:defRPr>
            </a:lvl4pPr>
            <a:lvl5pPr>
              <a:defRPr sz="2025" b="1">
                <a:solidFill>
                  <a:srgbClr val="172D43"/>
                </a:solidFill>
                <a:latin typeface="Arial"/>
                <a:ea typeface="Arial"/>
                <a:cs typeface="Arial"/>
              </a:defRPr>
            </a:lvl5pPr>
            <a:lvl6pPr>
              <a:defRPr sz="2025" b="1">
                <a:solidFill>
                  <a:srgbClr val="172D43"/>
                </a:solidFill>
                <a:latin typeface="Arial"/>
                <a:ea typeface="Arial"/>
                <a:cs typeface="Arial"/>
              </a:defRPr>
            </a:lvl6pPr>
            <a:lvl7pPr>
              <a:defRPr sz="2025" b="1">
                <a:solidFill>
                  <a:srgbClr val="172D43"/>
                </a:solidFill>
                <a:latin typeface="Arial"/>
                <a:ea typeface="Arial"/>
                <a:cs typeface="Arial"/>
              </a:defRPr>
            </a:lvl7pPr>
            <a:lvl8pPr>
              <a:defRPr sz="2025" b="1">
                <a:solidFill>
                  <a:srgbClr val="172D43"/>
                </a:solidFill>
                <a:latin typeface="Arial"/>
                <a:ea typeface="Arial"/>
                <a:cs typeface="Arial"/>
              </a:defRPr>
            </a:lvl8pPr>
            <a:lvl9pPr>
              <a:defRPr sz="2025" b="1">
                <a:solidFill>
                  <a:srgbClr val="172D43"/>
                </a:solidFill>
                <a:latin typeface="Arial"/>
                <a:ea typeface="Arial"/>
                <a:cs typeface="Arial"/>
              </a:defRPr>
            </a:lvl9pPr>
          </a:lstStyle>
          <a:p xmlns:a="http://schemas.openxmlformats.org/drawingml/2006/main">
            <a:pPr>
              <a:defRPr sz="2025" b="1">
                <a:solidFill>
                  <a:srgbClr val="172D43"/>
                </a:solidFill>
                <a:latin typeface="Arial"/>
                <a:ea typeface="Arial"/>
                <a:cs typeface="Arial"/>
              </a:defRPr>
            </a:pPr>
            <a:r>
              <a:rPr sz="2025" b="1">
                <a:solidFill>
                  <a:srgbClr val="172D43"/>
                </a:solidFill>
                <a:latin typeface="Arial"/>
                <a:ea typeface="Arial"/>
                <a:cs typeface="Arial"/>
              </a:rPr>
              <a:t>At p=0.3, K=1 uses 8.6× more calls than K=10 for 4 more successes.</a:t>
            </a:r>
          </a:p>
        </p:txBody>
      </p:sp>
      <p:sp>
        <p:nvSpPr>
          <p:cNvPr id="6" name="Point estimates over 30 episodes. Mean calls inc">
            <a:extLst xmlns:a="http://schemas.openxmlformats.org/drawingml/2006/main">
              <a:ext uri="{FF2B5EF4-FFF2-40B4-BE49-F238E27FC236}">
                <a16:creationId xmlns:a16="http://schemas.microsoft.com/office/drawing/2014/main" id="{3182A0AA-415E-403C-8447-8C41A44D163F}"/>
              </a:ext>
            </a:extLst>
          </p:cNvPr>
          <p:cNvSpPr>
            <a:spLocks xmlns:a="http://schemas.openxmlformats.org/drawingml/2006/main" noGrp="1"/>
          </p:cNvSpPr>
          <p:nvPr/>
        </p:nvSpPr>
        <p:spPr>
          <a:xfrm xmlns:a="http://schemas.openxmlformats.org/drawingml/2006/main">
            <a:off x="533400" y="6334125"/>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779"/>
                </a:solidFill>
                <a:latin typeface="Arial"/>
                <a:ea typeface="Arial"/>
                <a:cs typeface="Arial"/>
              </a:defRPr>
            </a:defPPr>
            <a:lvl1pPr>
              <a:defRPr sz="1500" b="0">
                <a:solidFill>
                  <a:srgbClr val="536779"/>
                </a:solidFill>
                <a:latin typeface="Arial"/>
                <a:ea typeface="Arial"/>
                <a:cs typeface="Arial"/>
              </a:defRPr>
            </a:lvl1pPr>
            <a:lvl2pPr>
              <a:defRPr sz="1500" b="0">
                <a:solidFill>
                  <a:srgbClr val="536779"/>
                </a:solidFill>
                <a:latin typeface="Arial"/>
                <a:ea typeface="Arial"/>
                <a:cs typeface="Arial"/>
              </a:defRPr>
            </a:lvl2pPr>
            <a:lvl3pPr>
              <a:defRPr sz="1500" b="0">
                <a:solidFill>
                  <a:srgbClr val="536779"/>
                </a:solidFill>
                <a:latin typeface="Arial"/>
                <a:ea typeface="Arial"/>
                <a:cs typeface="Arial"/>
              </a:defRPr>
            </a:lvl3pPr>
            <a:lvl4pPr>
              <a:defRPr sz="1500" b="0">
                <a:solidFill>
                  <a:srgbClr val="536779"/>
                </a:solidFill>
                <a:latin typeface="Arial"/>
                <a:ea typeface="Arial"/>
                <a:cs typeface="Arial"/>
              </a:defRPr>
            </a:lvl4pPr>
            <a:lvl5pPr>
              <a:defRPr sz="1500" b="0">
                <a:solidFill>
                  <a:srgbClr val="536779"/>
                </a:solidFill>
                <a:latin typeface="Arial"/>
                <a:ea typeface="Arial"/>
                <a:cs typeface="Arial"/>
              </a:defRPr>
            </a:lvl5pPr>
            <a:lvl6pPr>
              <a:defRPr sz="1500" b="0">
                <a:solidFill>
                  <a:srgbClr val="536779"/>
                </a:solidFill>
                <a:latin typeface="Arial"/>
                <a:ea typeface="Arial"/>
                <a:cs typeface="Arial"/>
              </a:defRPr>
            </a:lvl6pPr>
            <a:lvl7pPr>
              <a:defRPr sz="1500" b="0">
                <a:solidFill>
                  <a:srgbClr val="536779"/>
                </a:solidFill>
                <a:latin typeface="Arial"/>
                <a:ea typeface="Arial"/>
                <a:cs typeface="Arial"/>
              </a:defRPr>
            </a:lvl7pPr>
            <a:lvl8pPr>
              <a:defRPr sz="1500" b="0">
                <a:solidFill>
                  <a:srgbClr val="536779"/>
                </a:solidFill>
                <a:latin typeface="Arial"/>
                <a:ea typeface="Arial"/>
                <a:cs typeface="Arial"/>
              </a:defRPr>
            </a:lvl8pPr>
            <a:lvl9pPr>
              <a:defRPr sz="1500" b="0">
                <a:solidFill>
                  <a:srgbClr val="536779"/>
                </a:solidFill>
                <a:latin typeface="Arial"/>
                <a:ea typeface="Arial"/>
                <a:cs typeface="Arial"/>
              </a:defRPr>
            </a:lvl9pPr>
          </a:lstStyle>
          <a:p xmlns:a="http://schemas.openxmlformats.org/drawingml/2006/main">
            <a:pPr>
              <a:defRPr sz="1500" b="0">
                <a:solidFill>
                  <a:srgbClr val="536779"/>
                </a:solidFill>
                <a:latin typeface="Arial"/>
                <a:ea typeface="Arial"/>
                <a:cs typeface="Arial"/>
              </a:defRPr>
            </a:pPr>
            <a:r>
              <a:rPr sz="1500" b="0">
                <a:solidFill>
                  <a:srgbClr val="536779"/>
                </a:solidFill>
                <a:latin typeface="Arial"/>
                <a:ea typeface="Arial"/>
                <a:cs typeface="Arial"/>
              </a:rPr>
              <a:t>Illustrative data</a:t>
            </a:r>
          </a:p>
        </p:txBody>
      </p:sp>
    </p:spTree>
    <p:extLst>
      <p:ext uri="{BB962C8B-B14F-4D97-AF65-F5344CB8AC3E}">
        <p14:creationId xmlns:p14="http://schemas.microsoft.com/office/powerpoint/2010/main" val="1030003294"/>
      </p:ext>
    </p:extLst>
  </p:cSld>
</p:sld>
</file>

<file path=ppt/slides/added3_slide3.xml><?xml version="1.0" encoding="utf-8"?>
<p:sld xmlns:p="http://schemas.openxmlformats.org/presentationml/2006/main">
  <p:cSld>
    <p:bg>
      <p:bgPr>
        <a:solidFill xmlns:a="http://schemas.openxmlformats.org/drawingml/2006/main">
          <a:srgbClr val="172D43"/>
        </a:solidFill>
      </p:bgPr>
    </p:bg>
    <p:spTree>
      <p:nvGrpSpPr>
        <p:cNvPr id="1" name=""/>
        <p:cNvGrpSpPr/>
        <p:nvPr/>
      </p:nvGrpSpPr>
      <p:grpSpPr>
        <a:xfrm xmlns:a="http://schemas.openxmlformats.org/drawingml/2006/main"/>
      </p:grpSpPr>
      <p:sp>
        <p:nvSpPr>
          <p:cNvPr id="11" name="OUR ANSWER">
            <a:extLst xmlns:a="http://schemas.openxmlformats.org/drawingml/2006/main">
              <a:ext uri="{FF2B5EF4-FFF2-40B4-BE49-F238E27FC236}">
                <a16:creationId xmlns:a16="http://schemas.microsoft.com/office/drawing/2014/main" id="{20CCF86A-92DB-4EDE-9E66-EC4785D6C454}"/>
              </a:ext>
            </a:extLst>
          </p:cNvPr>
          <p:cNvSpPr>
            <a:spLocks xmlns:a="http://schemas.openxmlformats.org/drawingml/2006/main" noGrp="1"/>
          </p:cNvSpPr>
          <p:nvPr/>
        </p:nvSpPr>
        <p:spPr>
          <a:xfrm xmlns:a="http://schemas.openxmlformats.org/drawingml/2006/main">
            <a:off x="533400" y="4095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9BBDE0"/>
                </a:solidFill>
                <a:latin typeface="Arial"/>
                <a:ea typeface="Arial"/>
                <a:cs typeface="Arial"/>
              </a:defRPr>
            </a:defPPr>
            <a:lvl1pPr>
              <a:defRPr sz="1575" b="1">
                <a:solidFill>
                  <a:srgbClr val="9BBDE0"/>
                </a:solidFill>
                <a:latin typeface="Arial"/>
                <a:ea typeface="Arial"/>
                <a:cs typeface="Arial"/>
              </a:defRPr>
            </a:lvl1pPr>
            <a:lvl2pPr>
              <a:defRPr sz="1575" b="1">
                <a:solidFill>
                  <a:srgbClr val="9BBDE0"/>
                </a:solidFill>
                <a:latin typeface="Arial"/>
                <a:ea typeface="Arial"/>
                <a:cs typeface="Arial"/>
              </a:defRPr>
            </a:lvl2pPr>
            <a:lvl3pPr>
              <a:defRPr sz="1575" b="1">
                <a:solidFill>
                  <a:srgbClr val="9BBDE0"/>
                </a:solidFill>
                <a:latin typeface="Arial"/>
                <a:ea typeface="Arial"/>
                <a:cs typeface="Arial"/>
              </a:defRPr>
            </a:lvl3pPr>
            <a:lvl4pPr>
              <a:defRPr sz="1575" b="1">
                <a:solidFill>
                  <a:srgbClr val="9BBDE0"/>
                </a:solidFill>
                <a:latin typeface="Arial"/>
                <a:ea typeface="Arial"/>
                <a:cs typeface="Arial"/>
              </a:defRPr>
            </a:lvl4pPr>
            <a:lvl5pPr>
              <a:defRPr sz="1575" b="1">
                <a:solidFill>
                  <a:srgbClr val="9BBDE0"/>
                </a:solidFill>
                <a:latin typeface="Arial"/>
                <a:ea typeface="Arial"/>
                <a:cs typeface="Arial"/>
              </a:defRPr>
            </a:lvl5pPr>
            <a:lvl6pPr>
              <a:defRPr sz="1575" b="1">
                <a:solidFill>
                  <a:srgbClr val="9BBDE0"/>
                </a:solidFill>
                <a:latin typeface="Arial"/>
                <a:ea typeface="Arial"/>
                <a:cs typeface="Arial"/>
              </a:defRPr>
            </a:lvl6pPr>
            <a:lvl7pPr>
              <a:defRPr sz="1575" b="1">
                <a:solidFill>
                  <a:srgbClr val="9BBDE0"/>
                </a:solidFill>
                <a:latin typeface="Arial"/>
                <a:ea typeface="Arial"/>
                <a:cs typeface="Arial"/>
              </a:defRPr>
            </a:lvl7pPr>
            <a:lvl8pPr>
              <a:defRPr sz="1575" b="1">
                <a:solidFill>
                  <a:srgbClr val="9BBDE0"/>
                </a:solidFill>
                <a:latin typeface="Arial"/>
                <a:ea typeface="Arial"/>
                <a:cs typeface="Arial"/>
              </a:defRPr>
            </a:lvl8pPr>
            <a:lvl9pPr>
              <a:defRPr sz="1575" b="1">
                <a:solidFill>
                  <a:srgbClr val="9BBDE0"/>
                </a:solidFill>
                <a:latin typeface="Arial"/>
                <a:ea typeface="Arial"/>
                <a:cs typeface="Arial"/>
              </a:defRPr>
            </a:lvl9pPr>
          </a:lstStyle>
          <a:p xmlns:a="http://schemas.openxmlformats.org/drawingml/2006/main">
            <a:pPr>
              <a:defRPr sz="1575" b="1">
                <a:solidFill>
                  <a:srgbClr val="9BBDE0"/>
                </a:solidFill>
                <a:latin typeface="Arial"/>
                <a:ea typeface="Arial"/>
                <a:cs typeface="Arial"/>
              </a:defRPr>
            </a:pPr>
            <a:r>
              <a:rPr sz="1575" b="1">
                <a:solidFill>
                  <a:srgbClr val="9BBDE0"/>
                </a:solidFill>
                <a:latin typeface="Arial"/>
                <a:ea typeface="Arial"/>
                <a:cs typeface="Arial"/>
              </a:rPr>
              <a:t>OUR ANSWER</a:t>
            </a:r>
          </a:p>
        </p:txBody>
      </p:sp>
      <p:sp>
        <p:nvSpPr>
          <p:cNvPr id="2" name="The useful interval depends&#10;on execution conditi">
            <a:extLst xmlns:a="http://schemas.openxmlformats.org/drawingml/2006/main">
              <a:ext uri="{FF2B5EF4-FFF2-40B4-BE49-F238E27FC236}">
                <a16:creationId xmlns:a16="http://schemas.microsoft.com/office/drawing/2014/main" id="{000747EA-F7B1-4710-A902-16F825FC8D95}"/>
              </a:ext>
            </a:extLst>
          </p:cNvPr>
          <p:cNvSpPr>
            <a:spLocks xmlns:a="http://schemas.openxmlformats.org/drawingml/2006/main" noGrp="1"/>
          </p:cNvSpPr>
          <p:nvPr/>
        </p:nvSpPr>
        <p:spPr>
          <a:xfrm xmlns:a="http://schemas.openxmlformats.org/drawingml/2006/main">
            <a:off x="533400" y="933450"/>
            <a:ext cx="111252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useful interval depends</a:t>
            </a:r>
          </a:p>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on execution conditions</a:t>
            </a:r>
          </a:p>
        </p:txBody>
      </p:sp>
      <p:sp>
        <p:nvSpPr>
          <p:cNvPr id="3" name="Clean execution: K=5 balances success and calls.">
            <a:extLst xmlns:a="http://schemas.openxmlformats.org/drawingml/2006/main">
              <a:ext uri="{FF2B5EF4-FFF2-40B4-BE49-F238E27FC236}">
                <a16:creationId xmlns:a16="http://schemas.microsoft.com/office/drawing/2014/main" id="{33865ABF-CCA4-4C74-BE74-C0EAB86CD23C}"/>
              </a:ext>
            </a:extLst>
          </p:cNvPr>
          <p:cNvSpPr>
            <a:spLocks xmlns:a="http://schemas.openxmlformats.org/drawingml/2006/main" noGrp="1"/>
          </p:cNvSpPr>
          <p:nvPr/>
        </p:nvSpPr>
        <p:spPr>
          <a:xfrm xmlns:a="http://schemas.openxmlformats.org/drawingml/2006/main">
            <a:off x="533400" y="242887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Clean execution: K=5 balances success and calls.</a:t>
            </a:r>
          </a:p>
        </p:txBody>
      </p:sp>
      <p:sp>
        <p:nvSpPr>
          <p:cNvPr id="4" name="26/30 with 31.3 calls, versus 23/30 with 162.0 c">
            <a:extLst xmlns:a="http://schemas.openxmlformats.org/drawingml/2006/main">
              <a:ext uri="{FF2B5EF4-FFF2-40B4-BE49-F238E27FC236}">
                <a16:creationId xmlns:a16="http://schemas.microsoft.com/office/drawing/2014/main" id="{801BDDD4-1D86-4151-9FA3-8C3188961FB4}"/>
              </a:ext>
            </a:extLst>
          </p:cNvPr>
          <p:cNvSpPr>
            <a:spLocks xmlns:a="http://schemas.openxmlformats.org/drawingml/2006/main" noGrp="1"/>
          </p:cNvSpPr>
          <p:nvPr/>
        </p:nvSpPr>
        <p:spPr>
          <a:xfrm xmlns:a="http://schemas.openxmlformats.org/drawingml/2006/main">
            <a:off x="533400" y="28956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BD7E3"/>
                </a:solidFill>
                <a:latin typeface="Arial"/>
                <a:ea typeface="Arial"/>
                <a:cs typeface="Arial"/>
              </a:defRPr>
            </a:defPPr>
            <a:lvl1pPr>
              <a:defRPr sz="1875" b="0">
                <a:solidFill>
                  <a:srgbClr val="CBD7E3"/>
                </a:solidFill>
                <a:latin typeface="Arial"/>
                <a:ea typeface="Arial"/>
                <a:cs typeface="Arial"/>
              </a:defRPr>
            </a:lvl1pPr>
            <a:lvl2pPr>
              <a:defRPr sz="1875" b="0">
                <a:solidFill>
                  <a:srgbClr val="CBD7E3"/>
                </a:solidFill>
                <a:latin typeface="Arial"/>
                <a:ea typeface="Arial"/>
                <a:cs typeface="Arial"/>
              </a:defRPr>
            </a:lvl2pPr>
            <a:lvl3pPr>
              <a:defRPr sz="1875" b="0">
                <a:solidFill>
                  <a:srgbClr val="CBD7E3"/>
                </a:solidFill>
                <a:latin typeface="Arial"/>
                <a:ea typeface="Arial"/>
                <a:cs typeface="Arial"/>
              </a:defRPr>
            </a:lvl3pPr>
            <a:lvl4pPr>
              <a:defRPr sz="1875" b="0">
                <a:solidFill>
                  <a:srgbClr val="CBD7E3"/>
                </a:solidFill>
                <a:latin typeface="Arial"/>
                <a:ea typeface="Arial"/>
                <a:cs typeface="Arial"/>
              </a:defRPr>
            </a:lvl4pPr>
            <a:lvl5pPr>
              <a:defRPr sz="1875" b="0">
                <a:solidFill>
                  <a:srgbClr val="CBD7E3"/>
                </a:solidFill>
                <a:latin typeface="Arial"/>
                <a:ea typeface="Arial"/>
                <a:cs typeface="Arial"/>
              </a:defRPr>
            </a:lvl5pPr>
            <a:lvl6pPr>
              <a:defRPr sz="1875" b="0">
                <a:solidFill>
                  <a:srgbClr val="CBD7E3"/>
                </a:solidFill>
                <a:latin typeface="Arial"/>
                <a:ea typeface="Arial"/>
                <a:cs typeface="Arial"/>
              </a:defRPr>
            </a:lvl6pPr>
            <a:lvl7pPr>
              <a:defRPr sz="1875" b="0">
                <a:solidFill>
                  <a:srgbClr val="CBD7E3"/>
                </a:solidFill>
                <a:latin typeface="Arial"/>
                <a:ea typeface="Arial"/>
                <a:cs typeface="Arial"/>
              </a:defRPr>
            </a:lvl7pPr>
            <a:lvl8pPr>
              <a:defRPr sz="1875" b="0">
                <a:solidFill>
                  <a:srgbClr val="CBD7E3"/>
                </a:solidFill>
                <a:latin typeface="Arial"/>
                <a:ea typeface="Arial"/>
                <a:cs typeface="Arial"/>
              </a:defRPr>
            </a:lvl8pPr>
            <a:lvl9pPr>
              <a:defRPr sz="1875" b="0">
                <a:solidFill>
                  <a:srgbClr val="CBD7E3"/>
                </a:solidFill>
                <a:latin typeface="Arial"/>
                <a:ea typeface="Arial"/>
                <a:cs typeface="Arial"/>
              </a:defRPr>
            </a:lvl9pPr>
          </a:lstStyle>
          <a:p xmlns:a="http://schemas.openxmlformats.org/drawingml/2006/main">
            <a:pPr>
              <a:defRPr sz="1875" b="0">
                <a:solidFill>
                  <a:srgbClr val="CBD7E3"/>
                </a:solidFill>
                <a:latin typeface="Arial"/>
                <a:ea typeface="Arial"/>
                <a:cs typeface="Arial"/>
              </a:defRPr>
            </a:pPr>
            <a:r>
              <a:rPr sz="1875" b="0">
                <a:solidFill>
                  <a:srgbClr val="CBD7E3"/>
                </a:solidFill>
                <a:latin typeface="Arial"/>
                <a:ea typeface="Arial"/>
                <a:cs typeface="Arial"/>
              </a:rPr>
              <a:t>26/30 with 31.3 calls, versus 23/30 with 162.0 calls for K=1.</a:t>
            </a:r>
          </a:p>
        </p:txBody>
      </p:sp>
      <p:sp>
        <p:nvSpPr>
          <p:cNvPr id="5" name="At p=0.3, K=1 gives the highest observed success">
            <a:extLst xmlns:a="http://schemas.openxmlformats.org/drawingml/2006/main">
              <a:ext uri="{FF2B5EF4-FFF2-40B4-BE49-F238E27FC236}">
                <a16:creationId xmlns:a16="http://schemas.microsoft.com/office/drawing/2014/main" id="{63532BFE-6D83-4CD8-BC84-183BB78909BD}"/>
              </a:ext>
            </a:extLst>
          </p:cNvPr>
          <p:cNvSpPr>
            <a:spLocks xmlns:a="http://schemas.openxmlformats.org/drawingml/2006/main" noGrp="1"/>
          </p:cNvSpPr>
          <p:nvPr/>
        </p:nvSpPr>
        <p:spPr>
          <a:xfrm xmlns:a="http://schemas.openxmlformats.org/drawingml/2006/main">
            <a:off x="533400" y="360045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At high dropout, K=1 wins on task success.</a:t>
            </a:r>
          </a:p>
        </p:txBody>
      </p:sp>
      <p:sp>
        <p:nvSpPr>
          <p:cNvPr id="6" name="23/30 with 187.8 calls. K=10 reaches 19/30 with ">
            <a:extLst xmlns:a="http://schemas.openxmlformats.org/drawingml/2006/main">
              <a:ext uri="{FF2B5EF4-FFF2-40B4-BE49-F238E27FC236}">
                <a16:creationId xmlns:a16="http://schemas.microsoft.com/office/drawing/2014/main" id="{AE12FBED-8F45-4189-A384-4A98E452064E}"/>
              </a:ext>
            </a:extLst>
          </p:cNvPr>
          <p:cNvSpPr>
            <a:spLocks xmlns:a="http://schemas.openxmlformats.org/drawingml/2006/main" noGrp="1"/>
          </p:cNvSpPr>
          <p:nvPr/>
        </p:nvSpPr>
        <p:spPr>
          <a:xfrm xmlns:a="http://schemas.openxmlformats.org/drawingml/2006/main">
            <a:off x="533400" y="40671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BD7E3"/>
                </a:solidFill>
                <a:latin typeface="Arial"/>
                <a:ea typeface="Arial"/>
                <a:cs typeface="Arial"/>
              </a:defRPr>
            </a:defPPr>
            <a:lvl1pPr>
              <a:defRPr sz="1875" b="0">
                <a:solidFill>
                  <a:srgbClr val="CBD7E3"/>
                </a:solidFill>
                <a:latin typeface="Arial"/>
                <a:ea typeface="Arial"/>
                <a:cs typeface="Arial"/>
              </a:defRPr>
            </a:lvl1pPr>
            <a:lvl2pPr>
              <a:defRPr sz="1875" b="0">
                <a:solidFill>
                  <a:srgbClr val="CBD7E3"/>
                </a:solidFill>
                <a:latin typeface="Arial"/>
                <a:ea typeface="Arial"/>
                <a:cs typeface="Arial"/>
              </a:defRPr>
            </a:lvl2pPr>
            <a:lvl3pPr>
              <a:defRPr sz="1875" b="0">
                <a:solidFill>
                  <a:srgbClr val="CBD7E3"/>
                </a:solidFill>
                <a:latin typeface="Arial"/>
                <a:ea typeface="Arial"/>
                <a:cs typeface="Arial"/>
              </a:defRPr>
            </a:lvl3pPr>
            <a:lvl4pPr>
              <a:defRPr sz="1875" b="0">
                <a:solidFill>
                  <a:srgbClr val="CBD7E3"/>
                </a:solidFill>
                <a:latin typeface="Arial"/>
                <a:ea typeface="Arial"/>
                <a:cs typeface="Arial"/>
              </a:defRPr>
            </a:lvl4pPr>
            <a:lvl5pPr>
              <a:defRPr sz="1875" b="0">
                <a:solidFill>
                  <a:srgbClr val="CBD7E3"/>
                </a:solidFill>
                <a:latin typeface="Arial"/>
                <a:ea typeface="Arial"/>
                <a:cs typeface="Arial"/>
              </a:defRPr>
            </a:lvl5pPr>
            <a:lvl6pPr>
              <a:defRPr sz="1875" b="0">
                <a:solidFill>
                  <a:srgbClr val="CBD7E3"/>
                </a:solidFill>
                <a:latin typeface="Arial"/>
                <a:ea typeface="Arial"/>
                <a:cs typeface="Arial"/>
              </a:defRPr>
            </a:lvl6pPr>
            <a:lvl7pPr>
              <a:defRPr sz="1875" b="0">
                <a:solidFill>
                  <a:srgbClr val="CBD7E3"/>
                </a:solidFill>
                <a:latin typeface="Arial"/>
                <a:ea typeface="Arial"/>
                <a:cs typeface="Arial"/>
              </a:defRPr>
            </a:lvl7pPr>
            <a:lvl8pPr>
              <a:defRPr sz="1875" b="0">
                <a:solidFill>
                  <a:srgbClr val="CBD7E3"/>
                </a:solidFill>
                <a:latin typeface="Arial"/>
                <a:ea typeface="Arial"/>
                <a:cs typeface="Arial"/>
              </a:defRPr>
            </a:lvl8pPr>
            <a:lvl9pPr>
              <a:defRPr sz="1875" b="0">
                <a:solidFill>
                  <a:srgbClr val="CBD7E3"/>
                </a:solidFill>
                <a:latin typeface="Arial"/>
                <a:ea typeface="Arial"/>
                <a:cs typeface="Arial"/>
              </a:defRPr>
            </a:lvl9pPr>
          </a:lstStyle>
          <a:p xmlns:a="http://schemas.openxmlformats.org/drawingml/2006/main">
            <a:pPr>
              <a:defRPr sz="1875" b="0">
                <a:solidFill>
                  <a:srgbClr val="CBD7E3"/>
                </a:solidFill>
                <a:latin typeface="Arial"/>
                <a:ea typeface="Arial"/>
                <a:cs typeface="Arial"/>
              </a:defRPr>
            </a:pPr>
            <a:r>
              <a:rPr sz="1875" b="0">
                <a:solidFill>
                  <a:srgbClr val="CBD7E3"/>
                </a:solidFill>
                <a:latin typeface="Arial"/>
                <a:ea typeface="Arial"/>
                <a:cs typeface="Arial"/>
              </a:rPr>
              <a:t>At p=0.3: 23/30 with 187.8 calls. K=10: 19/30 with 21.9 calls.</a:t>
            </a:r>
          </a:p>
        </p:txBody>
      </p:sp>
      <p:sp>
        <p:nvSpPr>
          <p:cNvPr id="7" name="Adaptive replanning also needs a suitable cap.">
            <a:extLst xmlns:a="http://schemas.openxmlformats.org/drawingml/2006/main">
              <a:ext uri="{FF2B5EF4-FFF2-40B4-BE49-F238E27FC236}">
                <a16:creationId xmlns:a16="http://schemas.microsoft.com/office/drawing/2014/main" id="{D63D80E5-F115-442F-95DE-284B21814A5C}"/>
              </a:ext>
            </a:extLst>
          </p:cNvPr>
          <p:cNvSpPr>
            <a:spLocks xmlns:a="http://schemas.openxmlformats.org/drawingml/2006/main" noGrp="1"/>
          </p:cNvSpPr>
          <p:nvPr/>
        </p:nvSpPr>
        <p:spPr>
          <a:xfrm xmlns:a="http://schemas.openxmlformats.org/drawingml/2006/main">
            <a:off x="533400" y="47720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On average, DVAC suffers more from random action dropout.</a:t>
            </a:r>
          </a:p>
        </p:txBody>
      </p:sp>
      <p:sp>
        <p:nvSpPr>
          <p:cNvPr id="8" name="DVAC C=50 falls from 25/30 at p=0 to 5/30 at p=0">
            <a:extLst xmlns:a="http://schemas.openxmlformats.org/drawingml/2006/main">
              <a:ext uri="{FF2B5EF4-FFF2-40B4-BE49-F238E27FC236}">
                <a16:creationId xmlns:a16="http://schemas.microsoft.com/office/drawing/2014/main" id="{56DF087B-5D0A-40E0-831A-0AEA4580B96C}"/>
              </a:ext>
            </a:extLst>
          </p:cNvPr>
          <p:cNvSpPr>
            <a:spLocks xmlns:a="http://schemas.openxmlformats.org/drawingml/2006/main" noGrp="1"/>
          </p:cNvSpPr>
          <p:nvPr/>
        </p:nvSpPr>
        <p:spPr>
          <a:xfrm xmlns:a="http://schemas.openxmlformats.org/drawingml/2006/main">
            <a:off x="533400" y="52387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BD7E3"/>
                </a:solidFill>
                <a:latin typeface="Arial"/>
                <a:ea typeface="Arial"/>
                <a:cs typeface="Arial"/>
              </a:defRPr>
            </a:defPPr>
            <a:lvl1pPr>
              <a:defRPr sz="1875" b="0">
                <a:solidFill>
                  <a:srgbClr val="CBD7E3"/>
                </a:solidFill>
                <a:latin typeface="Arial"/>
                <a:ea typeface="Arial"/>
                <a:cs typeface="Arial"/>
              </a:defRPr>
            </a:lvl1pPr>
            <a:lvl2pPr>
              <a:defRPr sz="1875" b="0">
                <a:solidFill>
                  <a:srgbClr val="CBD7E3"/>
                </a:solidFill>
                <a:latin typeface="Arial"/>
                <a:ea typeface="Arial"/>
                <a:cs typeface="Arial"/>
              </a:defRPr>
            </a:lvl2pPr>
            <a:lvl3pPr>
              <a:defRPr sz="1875" b="0">
                <a:solidFill>
                  <a:srgbClr val="CBD7E3"/>
                </a:solidFill>
                <a:latin typeface="Arial"/>
                <a:ea typeface="Arial"/>
                <a:cs typeface="Arial"/>
              </a:defRPr>
            </a:lvl3pPr>
            <a:lvl4pPr>
              <a:defRPr sz="1875" b="0">
                <a:solidFill>
                  <a:srgbClr val="CBD7E3"/>
                </a:solidFill>
                <a:latin typeface="Arial"/>
                <a:ea typeface="Arial"/>
                <a:cs typeface="Arial"/>
              </a:defRPr>
            </a:lvl4pPr>
            <a:lvl5pPr>
              <a:defRPr sz="1875" b="0">
                <a:solidFill>
                  <a:srgbClr val="CBD7E3"/>
                </a:solidFill>
                <a:latin typeface="Arial"/>
                <a:ea typeface="Arial"/>
                <a:cs typeface="Arial"/>
              </a:defRPr>
            </a:lvl5pPr>
            <a:lvl6pPr>
              <a:defRPr sz="1875" b="0">
                <a:solidFill>
                  <a:srgbClr val="CBD7E3"/>
                </a:solidFill>
                <a:latin typeface="Arial"/>
                <a:ea typeface="Arial"/>
                <a:cs typeface="Arial"/>
              </a:defRPr>
            </a:lvl6pPr>
            <a:lvl7pPr>
              <a:defRPr sz="1875" b="0">
                <a:solidFill>
                  <a:srgbClr val="CBD7E3"/>
                </a:solidFill>
                <a:latin typeface="Arial"/>
                <a:ea typeface="Arial"/>
                <a:cs typeface="Arial"/>
              </a:defRPr>
            </a:lvl7pPr>
            <a:lvl8pPr>
              <a:defRPr sz="1875" b="0">
                <a:solidFill>
                  <a:srgbClr val="CBD7E3"/>
                </a:solidFill>
                <a:latin typeface="Arial"/>
                <a:ea typeface="Arial"/>
                <a:cs typeface="Arial"/>
              </a:defRPr>
            </a:lvl8pPr>
            <a:lvl9pPr>
              <a:defRPr sz="1875" b="0">
                <a:solidFill>
                  <a:srgbClr val="CBD7E3"/>
                </a:solidFill>
                <a:latin typeface="Arial"/>
                <a:ea typeface="Arial"/>
                <a:cs typeface="Arial"/>
              </a:defRPr>
            </a:lvl9pPr>
          </a:lstStyle>
          <a:p xmlns:a="http://schemas.openxmlformats.org/drawingml/2006/main">
            <a:pPr>
              <a:defRPr sz="1875" b="0">
                <a:solidFill>
                  <a:srgbClr val="CBD7E3"/>
                </a:solidFill>
                <a:latin typeface="Arial"/>
                <a:ea typeface="Arial"/>
                <a:cs typeface="Arial"/>
              </a:defRPr>
            </a:pPr>
            <a:r>
              <a:rPr sz="1875" b="0">
                <a:solidFill>
                  <a:srgbClr val="CBD7E3"/>
                </a:solidFill>
                <a:latin typeface="Arial"/>
                <a:ea typeface="Arial"/>
                <a:cs typeface="Arial"/>
              </a:rPr>
              <a:t>Success drops 36.7 pp for DVAC versus 16.7 pp for fixed K.</a:t>
            </a:r>
          </a:p>
        </p:txBody>
      </p:sp>
      <p:sp>
        <p:nvSpPr>
          <p:cNvPr id="9" name="30 matched starts, one policy seed. Observed res">
            <a:extLst xmlns:a="http://schemas.openxmlformats.org/drawingml/2006/main">
              <a:ext uri="{FF2B5EF4-FFF2-40B4-BE49-F238E27FC236}">
                <a16:creationId xmlns:a16="http://schemas.microsoft.com/office/drawing/2014/main" id="{B8A5DCB7-1299-4003-9B87-4F8B0B89956C}"/>
              </a:ext>
            </a:extLst>
          </p:cNvPr>
          <p:cNvSpPr>
            <a:spLocks xmlns:a="http://schemas.openxmlformats.org/drawingml/2006/main" noGrp="1"/>
          </p:cNvSpPr>
          <p:nvPr/>
        </p:nvSpPr>
        <p:spPr>
          <a:xfrm xmlns:a="http://schemas.openxmlformats.org/drawingml/2006/main">
            <a:off x="533400" y="63627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9BBDE0"/>
                </a:solidFill>
                <a:latin typeface="Arial"/>
                <a:ea typeface="Arial"/>
                <a:cs typeface="Arial"/>
              </a:defRPr>
            </a:defPPr>
            <a:lvl1pPr>
              <a:defRPr sz="1425" b="0">
                <a:solidFill>
                  <a:srgbClr val="9BBDE0"/>
                </a:solidFill>
                <a:latin typeface="Arial"/>
                <a:ea typeface="Arial"/>
                <a:cs typeface="Arial"/>
              </a:defRPr>
            </a:lvl1pPr>
            <a:lvl2pPr>
              <a:defRPr sz="1425" b="0">
                <a:solidFill>
                  <a:srgbClr val="9BBDE0"/>
                </a:solidFill>
                <a:latin typeface="Arial"/>
                <a:ea typeface="Arial"/>
                <a:cs typeface="Arial"/>
              </a:defRPr>
            </a:lvl2pPr>
            <a:lvl3pPr>
              <a:defRPr sz="1425" b="0">
                <a:solidFill>
                  <a:srgbClr val="9BBDE0"/>
                </a:solidFill>
                <a:latin typeface="Arial"/>
                <a:ea typeface="Arial"/>
                <a:cs typeface="Arial"/>
              </a:defRPr>
            </a:lvl3pPr>
            <a:lvl4pPr>
              <a:defRPr sz="1425" b="0">
                <a:solidFill>
                  <a:srgbClr val="9BBDE0"/>
                </a:solidFill>
                <a:latin typeface="Arial"/>
                <a:ea typeface="Arial"/>
                <a:cs typeface="Arial"/>
              </a:defRPr>
            </a:lvl4pPr>
            <a:lvl5pPr>
              <a:defRPr sz="1425" b="0">
                <a:solidFill>
                  <a:srgbClr val="9BBDE0"/>
                </a:solidFill>
                <a:latin typeface="Arial"/>
                <a:ea typeface="Arial"/>
                <a:cs typeface="Arial"/>
              </a:defRPr>
            </a:lvl5pPr>
            <a:lvl6pPr>
              <a:defRPr sz="1425" b="0">
                <a:solidFill>
                  <a:srgbClr val="9BBDE0"/>
                </a:solidFill>
                <a:latin typeface="Arial"/>
                <a:ea typeface="Arial"/>
                <a:cs typeface="Arial"/>
              </a:defRPr>
            </a:lvl6pPr>
            <a:lvl7pPr>
              <a:defRPr sz="1425" b="0">
                <a:solidFill>
                  <a:srgbClr val="9BBDE0"/>
                </a:solidFill>
                <a:latin typeface="Arial"/>
                <a:ea typeface="Arial"/>
                <a:cs typeface="Arial"/>
              </a:defRPr>
            </a:lvl7pPr>
            <a:lvl8pPr>
              <a:defRPr sz="1425" b="0">
                <a:solidFill>
                  <a:srgbClr val="9BBDE0"/>
                </a:solidFill>
                <a:latin typeface="Arial"/>
                <a:ea typeface="Arial"/>
                <a:cs typeface="Arial"/>
              </a:defRPr>
            </a:lvl8pPr>
            <a:lvl9pPr>
              <a:defRPr sz="1425" b="0">
                <a:solidFill>
                  <a:srgbClr val="9BBDE0"/>
                </a:solidFill>
                <a:latin typeface="Arial"/>
                <a:ea typeface="Arial"/>
                <a:cs typeface="Arial"/>
              </a:defRPr>
            </a:lvl9pPr>
          </a:lstStyle>
          <a:p xmlns:a="http://schemas.openxmlformats.org/drawingml/2006/main">
            <a:pPr>
              <a:defRPr sz="1425" b="0">
                <a:solidFill>
                  <a:srgbClr val="9BBDE0"/>
                </a:solidFill>
                <a:latin typeface="Arial"/>
                <a:ea typeface="Arial"/>
                <a:cs typeface="Arial"/>
              </a:defRPr>
            </a:pPr>
            <a:r>
              <a:rPr sz="1425" b="0">
                <a:solidFill>
                  <a:srgbClr val="9BBDE0"/>
                </a:solidFill>
                <a:latin typeface="Arial"/>
                <a:ea typeface="Arial"/>
                <a:cs typeface="Arial"/>
              </a:rPr>
              <a:t>Drop from p=0 to p=0.3, averaged over K/C=5, 10, 25, 50. One policy seed.</a:t>
            </a:r>
          </a:p>
        </p:txBody>
      </p:sp>
      <p:sp>
        <p:nvSpPr>
          <p:cNvPr id="10" name="15">
            <a:extLst xmlns:a="http://schemas.openxmlformats.org/drawingml/2006/main">
              <a:ext uri="{FF2B5EF4-FFF2-40B4-BE49-F238E27FC236}">
                <a16:creationId xmlns:a16="http://schemas.microsoft.com/office/drawing/2014/main" id="{D5C7A062-EBAD-4678-89DD-7BBFAC2EE5AF}"/>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9BBDE0"/>
                </a:solidFill>
                <a:latin typeface="Arial"/>
                <a:ea typeface="Arial"/>
                <a:cs typeface="Arial"/>
              </a:defRPr>
            </a:defPPr>
            <a:lvl1pPr>
              <a:defRPr sz="1200" b="0">
                <a:solidFill>
                  <a:srgbClr val="9BBDE0"/>
                </a:solidFill>
                <a:latin typeface="Arial"/>
                <a:ea typeface="Arial"/>
                <a:cs typeface="Arial"/>
              </a:defRPr>
            </a:lvl1pPr>
            <a:lvl2pPr>
              <a:defRPr sz="1200" b="0">
                <a:solidFill>
                  <a:srgbClr val="9BBDE0"/>
                </a:solidFill>
                <a:latin typeface="Arial"/>
                <a:ea typeface="Arial"/>
                <a:cs typeface="Arial"/>
              </a:defRPr>
            </a:lvl2pPr>
            <a:lvl3pPr>
              <a:defRPr sz="1200" b="0">
                <a:solidFill>
                  <a:srgbClr val="9BBDE0"/>
                </a:solidFill>
                <a:latin typeface="Arial"/>
                <a:ea typeface="Arial"/>
                <a:cs typeface="Arial"/>
              </a:defRPr>
            </a:lvl3pPr>
            <a:lvl4pPr>
              <a:defRPr sz="1200" b="0">
                <a:solidFill>
                  <a:srgbClr val="9BBDE0"/>
                </a:solidFill>
                <a:latin typeface="Arial"/>
                <a:ea typeface="Arial"/>
                <a:cs typeface="Arial"/>
              </a:defRPr>
            </a:lvl4pPr>
            <a:lvl5pPr>
              <a:defRPr sz="1200" b="0">
                <a:solidFill>
                  <a:srgbClr val="9BBDE0"/>
                </a:solidFill>
                <a:latin typeface="Arial"/>
                <a:ea typeface="Arial"/>
                <a:cs typeface="Arial"/>
              </a:defRPr>
            </a:lvl5pPr>
            <a:lvl6pPr>
              <a:defRPr sz="1200" b="0">
                <a:solidFill>
                  <a:srgbClr val="9BBDE0"/>
                </a:solidFill>
                <a:latin typeface="Arial"/>
                <a:ea typeface="Arial"/>
                <a:cs typeface="Arial"/>
              </a:defRPr>
            </a:lvl6pPr>
            <a:lvl7pPr>
              <a:defRPr sz="1200" b="0">
                <a:solidFill>
                  <a:srgbClr val="9BBDE0"/>
                </a:solidFill>
                <a:latin typeface="Arial"/>
                <a:ea typeface="Arial"/>
                <a:cs typeface="Arial"/>
              </a:defRPr>
            </a:lvl7pPr>
            <a:lvl8pPr>
              <a:defRPr sz="1200" b="0">
                <a:solidFill>
                  <a:srgbClr val="9BBDE0"/>
                </a:solidFill>
                <a:latin typeface="Arial"/>
                <a:ea typeface="Arial"/>
                <a:cs typeface="Arial"/>
              </a:defRPr>
            </a:lvl8pPr>
            <a:lvl9pPr>
              <a:defRPr sz="1200" b="0">
                <a:solidFill>
                  <a:srgbClr val="9BBDE0"/>
                </a:solidFill>
                <a:latin typeface="Arial"/>
                <a:ea typeface="Arial"/>
                <a:cs typeface="Arial"/>
              </a:defRPr>
            </a:lvl9pPr>
          </a:lstStyle>
          <a:p xmlns:a="http://schemas.openxmlformats.org/drawingml/2006/main">
            <a:pPr>
              <a:defRPr sz="1200" b="0">
                <a:solidFill>
                  <a:srgbClr val="9BBDE0"/>
                </a:solidFill>
                <a:latin typeface="Arial"/>
                <a:ea typeface="Arial"/>
                <a:cs typeface="Arial"/>
              </a:defRPr>
            </a:pPr>
            <a:r>
              <a:rPr sz="1200" b="0">
                <a:solidFill>
                  <a:srgbClr val="9BBDE0"/>
                </a:solidFill>
                <a:latin typeface="Arial"/>
                <a:ea typeface="Arial"/>
                <a:cs typeface="Arial"/>
              </a:rPr>
              <a:t>15</a:t>
            </a:r>
          </a:p>
        </p:txBody>
      </p:sp>
    </p:spTree>
    <p:extLst>
      <p:ext uri="{BB962C8B-B14F-4D97-AF65-F5344CB8AC3E}">
        <p14:creationId xmlns:p14="http://schemas.microsoft.com/office/powerpoint/2010/main" val="343240737"/>
      </p:ext>
    </p:extLst>
  </p:cSld>
</p:sld>
</file>

<file path=ppt/slides/added3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 main results (p=0)">
            <a:extLst xmlns:a="http://schemas.openxmlformats.org/drawingml/2006/main">
              <a:ext uri="{FF2B5EF4-FFF2-40B4-BE49-F238E27FC236}">
                <a16:creationId xmlns:a16="http://schemas.microsoft.com/office/drawing/2014/main" id="{A1ABFFC0-F1A9-4FE3-B5E5-5E54065AFA21}"/>
              </a:ext>
            </a:extLst>
          </p:cNvPr>
          <p:cNvSpPr>
            <a:spLocks xmlns:a="http://schemas.openxmlformats.org/drawingml/2006/main" noGrp="1"/>
          </p:cNvSpPr>
          <p:nvPr/>
        </p:nvSpPr>
        <p:spPr>
          <a:xfrm xmlns:a="http://schemas.openxmlformats.org/drawingml/2006/main">
            <a:off x="533400" y="4095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Appendix: main results (p=0)</a:t>
            </a:r>
          </a:p>
        </p:txBody>
      </p:sp>
      <p:sp>
        <p:nvSpPr>
          <p:cNvPr id="2" name="The same 30 starting settings for all nine execu">
            <a:extLst xmlns:a="http://schemas.openxmlformats.org/drawingml/2006/main">
              <a:ext uri="{FF2B5EF4-FFF2-40B4-BE49-F238E27FC236}">
                <a16:creationId xmlns:a16="http://schemas.microsoft.com/office/drawing/2014/main" id="{C618B9C0-56EE-4AE6-8893-AC3944DC9E8F}"/>
              </a:ext>
            </a:extLst>
          </p:cNvPr>
          <p:cNvSpPr>
            <a:spLocks xmlns:a="http://schemas.openxmlformats.org/drawingml/2006/main" noGrp="1"/>
          </p:cNvSpPr>
          <p:nvPr/>
        </p:nvSpPr>
        <p:spPr>
          <a:xfrm xmlns:a="http://schemas.openxmlformats.org/drawingml/2006/main">
            <a:off x="533400" y="1162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The same 30 starting settings for all nine execution rules.</a:t>
            </a:r>
          </a:p>
        </p:txBody>
      </p:sp>
      <p:sp>
        <p:nvSpPr>
          <p:cNvPr id="3" name="16">
            <a:extLst xmlns:a="http://schemas.openxmlformats.org/drawingml/2006/main">
              <a:ext uri="{FF2B5EF4-FFF2-40B4-BE49-F238E27FC236}">
                <a16:creationId xmlns:a16="http://schemas.microsoft.com/office/drawing/2014/main" id="{993E1596-8C70-4B3A-B84C-04544140635A}"/>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18A5CA36-95C3-4BF7-8736-99822CAC06B1}"/>
              </a:ext>
            </a:extLst>
          </p:cNvPr>
          <p:cNvGraphicFramePr/>
          <p:nvPr/>
        </p:nvGraphicFramePr>
        <p:xfrm>
          <a:off xmlns:a="http://schemas.openxmlformats.org/drawingml/2006/main" x="533400" y="1857375"/>
          <a:ext xmlns:a="http://schemas.openxmlformats.org/drawingml/2006/main" cx="11125200" cy="4000500"/>
        </p:xfrm>
        <a:graphic xmlns:a="http://schemas.openxmlformats.org/drawingml/2006/main">
          <a:graphicData uri="http://schemas.openxmlformats.org/drawingml/2006/table">
            <a:tbl>
              <a:tblPr firstRow="0" bandRow="0"/>
              <a:tblGrid>
                <a:gridCol w="3124200"/>
                <a:gridCol w="1600200"/>
                <a:gridCol w="1600200"/>
                <a:gridCol w="1600200"/>
                <a:gridCol w="1600200"/>
                <a:gridCol w="1600200"/>
              </a:tblGrid>
              <a:tr h="400050">
                <a:tc>
                  <a:txBody>
                    <a:bodyPr lIns="114300" tIns="19050" rIns="114300" bIns="19050"/>
                    <a:lstStyle/>
                    <a:p>
                      <a:r>
                        <a:rPr sz="1650" b="1">
                          <a:solidFill>
                            <a:srgbClr val="2563A5"/>
                          </a:solidFill>
                          <a:latin typeface="Arial"/>
                          <a:ea typeface="Arial"/>
                          <a:cs typeface="Arial"/>
                        </a:rPr>
                        <a:t>Method</a:t>
                      </a:r>
                    </a:p>
                  </a:txBody>
                  <a:tcPr marL="114300" marR="114300" marT="19050" marB="1905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19050" rIns="114300" bIns="19050"/>
                    <a:lstStyle/>
                    <a:p>
                      <a:r>
                        <a:rPr sz="1650" b="1">
                          <a:solidFill>
                            <a:srgbClr val="172D43"/>
                          </a:solidFill>
                          <a:latin typeface="Arial"/>
                          <a:ea typeface="Arial"/>
                          <a:cs typeface="Arial"/>
                        </a:rPr>
                        <a:t>Soup /10</a:t>
                      </a:r>
                    </a:p>
                  </a:txBody>
                  <a:tcPr marL="114300" marR="114300" marT="19050" marB="19050" anchor="ctr">
                    <a:lnR w="0">
                      <a:solidFill>
                        <a:srgbClr val="FFFFFF"/>
                      </a:solidFill>
                    </a:lnR>
                    <a:lnT w="0">
                      <a:solidFill>
                        <a:srgbClr val="FFFFFF"/>
                      </a:solidFill>
                    </a:lnT>
                    <a:lnB w="0">
                      <a:solidFill>
                        <a:srgbClr val="FFFFFF"/>
                      </a:solidFill>
                    </a:lnB>
                    <a:solidFill>
                      <a:srgbClr val="EDF2F6"/>
                    </a:solidFill>
                  </a:tcPr>
                </a:tc>
                <a:tc>
                  <a:txBody>
                    <a:bodyPr lIns="114300" tIns="19050" rIns="114300" bIns="19050"/>
                    <a:lstStyle/>
                    <a:p>
                      <a:r>
                        <a:rPr sz="1650" b="1">
                          <a:solidFill>
                            <a:srgbClr val="172D43"/>
                          </a:solidFill>
                          <a:latin typeface="Arial"/>
                          <a:ea typeface="Arial"/>
                          <a:cs typeface="Arial"/>
                        </a:rPr>
                        <a:t>Bowl /10</a:t>
                      </a:r>
                    </a:p>
                  </a:txBody>
                  <a:tcPr marL="114300" marR="114300" marT="19050" marB="19050" anchor="ctr">
                    <a:lnR w="0">
                      <a:solidFill>
                        <a:srgbClr val="FFFFFF"/>
                      </a:solidFill>
                    </a:lnR>
                    <a:lnT w="0">
                      <a:solidFill>
                        <a:srgbClr val="FFFFFF"/>
                      </a:solidFill>
                    </a:lnT>
                    <a:lnB w="0">
                      <a:solidFill>
                        <a:srgbClr val="FFFFFF"/>
                      </a:solidFill>
                    </a:lnB>
                    <a:solidFill>
                      <a:srgbClr val="EDF2F6"/>
                    </a:solidFill>
                  </a:tcPr>
                </a:tc>
                <a:tc>
                  <a:txBody>
                    <a:bodyPr lIns="114300" tIns="19050" rIns="114300" bIns="19050"/>
                    <a:lstStyle/>
                    <a:p>
                      <a:r>
                        <a:rPr sz="1650" b="1">
                          <a:solidFill>
                            <a:srgbClr val="172D43"/>
                          </a:solidFill>
                          <a:latin typeface="Arial"/>
                          <a:ea typeface="Arial"/>
                          <a:cs typeface="Arial"/>
                        </a:rPr>
                        <a:t>Drawer /10</a:t>
                      </a:r>
                    </a:p>
                  </a:txBody>
                  <a:tcPr marL="114300" marR="114300" marT="19050" marB="19050" anchor="ctr">
                    <a:lnR w="0">
                      <a:solidFill>
                        <a:srgbClr val="FFFFFF"/>
                      </a:solidFill>
                    </a:lnR>
                    <a:lnT w="0">
                      <a:solidFill>
                        <a:srgbClr val="FFFFFF"/>
                      </a:solidFill>
                    </a:lnT>
                    <a:lnB w="0">
                      <a:solidFill>
                        <a:srgbClr val="FFFFFF"/>
                      </a:solidFill>
                    </a:lnB>
                    <a:solidFill>
                      <a:srgbClr val="EDF2F6"/>
                    </a:solidFill>
                  </a:tcPr>
                </a:tc>
                <a:tc>
                  <a:txBody>
                    <a:bodyPr lIns="114300" tIns="19050" rIns="114300" bIns="19050"/>
                    <a:lstStyle/>
                    <a:p>
                      <a:r>
                        <a:rPr sz="1650" b="1">
                          <a:solidFill>
                            <a:srgbClr val="172D43"/>
                          </a:solidFill>
                          <a:latin typeface="Arial"/>
                          <a:ea typeface="Arial"/>
                          <a:cs typeface="Arial"/>
                        </a:rPr>
                        <a:t>Total /30</a:t>
                      </a:r>
                    </a:p>
                  </a:txBody>
                  <a:tcPr marL="114300" marR="114300" marT="19050" marB="19050" anchor="ctr">
                    <a:lnR w="0">
                      <a:solidFill>
                        <a:srgbClr val="FFFFFF"/>
                      </a:solidFill>
                    </a:lnR>
                    <a:lnT w="0">
                      <a:solidFill>
                        <a:srgbClr val="FFFFFF"/>
                      </a:solidFill>
                    </a:lnT>
                    <a:lnB w="0">
                      <a:solidFill>
                        <a:srgbClr val="FFFFFF"/>
                      </a:solidFill>
                    </a:lnB>
                    <a:solidFill>
                      <a:srgbClr val="EDF2F6"/>
                    </a:solidFill>
                  </a:tcPr>
                </a:tc>
                <a:tc>
                  <a:txBody>
                    <a:bodyPr lIns="114300" tIns="19050" rIns="114300" bIns="19050"/>
                    <a:lstStyle/>
                    <a:p>
                      <a:r>
                        <a:rPr sz="1650" b="1">
                          <a:solidFill>
                            <a:srgbClr val="172D43"/>
                          </a:solidFill>
                          <a:latin typeface="Arial"/>
                          <a:ea typeface="Arial"/>
                          <a:cs typeface="Arial"/>
                        </a:rPr>
                        <a:t>Mean calls</a:t>
                      </a:r>
                    </a:p>
                  </a:txBody>
                  <a:tcPr marL="114300" marR="114300" marT="19050" marB="19050" anchor="ctr">
                    <a:lnR w="0">
                      <a:solidFill>
                        <a:srgbClr val="FFFFFF"/>
                      </a:solidFill>
                    </a:lnR>
                    <a:lnT w="0">
                      <a:solidFill>
                        <a:srgbClr val="FFFFFF"/>
                      </a:solidFill>
                    </a:lnT>
                    <a:lnB w="0">
                      <a:solidFill>
                        <a:srgbClr val="FFFFFF"/>
                      </a:solidFill>
                    </a:lnB>
                    <a:solidFill>
                      <a:srgbClr val="EDF2F6"/>
                    </a:solidFill>
                  </a:tcPr>
                </a:tc>
              </a:tr>
              <a:tr h="400050">
                <a:tc>
                  <a:txBody>
                    <a:bodyPr lIns="114300" tIns="19050" rIns="114300" bIns="19050"/>
                    <a:lstStyle/>
                    <a:p>
                      <a:r>
                        <a:rPr sz="1800" b="1">
                          <a:solidFill>
                            <a:srgbClr val="2563A5"/>
                          </a:solidFill>
                          <a:latin typeface="Arial"/>
                          <a:ea typeface="Arial"/>
                          <a:cs typeface="Arial"/>
                        </a:rPr>
                        <a:t>Fixed K=1</a:t>
                      </a:r>
                    </a:p>
                  </a:txBody>
                  <a:tcPr marL="114300" marR="114300" marT="19050" marB="19050" anchor="ctr">
                    <a:lnL w="0">
                      <a:solidFill>
                        <a:srgbClr val="FFFFFF"/>
                      </a:solidFill>
                    </a:lnL>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6</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8</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9</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23</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162.0</a:t>
                      </a:r>
                    </a:p>
                  </a:txBody>
                  <a:tcPr marL="114300" marR="114300" marT="19050" marB="19050" anchor="ctr">
                    <a:lnR w="0">
                      <a:solidFill>
                        <a:srgbClr val="FFFFFF"/>
                      </a:solidFill>
                    </a:lnR>
                    <a:lnB w="0">
                      <a:solidFill>
                        <a:srgbClr val="FFFFFF"/>
                      </a:solidFill>
                    </a:lnB>
                    <a:solidFill>
                      <a:srgbClr val="FFFFFF"/>
                    </a:solidFill>
                  </a:tcPr>
                </a:tc>
              </a:tr>
              <a:tr h="400050">
                <a:tc>
                  <a:txBody>
                    <a:bodyPr lIns="114300" tIns="19050" rIns="114300" bIns="19050"/>
                    <a:lstStyle/>
                    <a:p>
                      <a:r>
                        <a:rPr sz="1800" b="1">
                          <a:solidFill>
                            <a:srgbClr val="2563A5"/>
                          </a:solidFill>
                          <a:latin typeface="Arial"/>
                          <a:ea typeface="Arial"/>
                          <a:cs typeface="Arial"/>
                        </a:rPr>
                        <a:t>Fixed K=5</a:t>
                      </a:r>
                    </a:p>
                  </a:txBody>
                  <a:tcPr marL="114300" marR="114300" marT="19050" marB="19050" anchor="ctr">
                    <a:lnL w="0">
                      <a:solidFill>
                        <a:srgbClr val="FFFFFF"/>
                      </a:solidFill>
                    </a:lnL>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9</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7</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26</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31.3</a:t>
                      </a:r>
                    </a:p>
                  </a:txBody>
                  <a:tcPr marL="114300" marR="114300" marT="19050" marB="19050" anchor="ctr">
                    <a:lnR w="0">
                      <a:solidFill>
                        <a:srgbClr val="FFFFFF"/>
                      </a:solidFill>
                    </a:lnR>
                    <a:lnB w="0">
                      <a:solidFill>
                        <a:srgbClr val="FFFFFF"/>
                      </a:solidFill>
                    </a:lnB>
                    <a:solidFill>
                      <a:srgbClr val="F7F9FB"/>
                    </a:solidFill>
                  </a:tcPr>
                </a:tc>
              </a:tr>
              <a:tr h="400050">
                <a:tc>
                  <a:txBody>
                    <a:bodyPr lIns="114300" tIns="19050" rIns="114300" bIns="19050"/>
                    <a:lstStyle/>
                    <a:p>
                      <a:r>
                        <a:rPr sz="1800" b="1">
                          <a:solidFill>
                            <a:srgbClr val="2563A5"/>
                          </a:solidFill>
                          <a:latin typeface="Arial"/>
                          <a:ea typeface="Arial"/>
                          <a:cs typeface="Arial"/>
                        </a:rPr>
                        <a:t>Fixed K=10</a:t>
                      </a:r>
                    </a:p>
                  </a:txBody>
                  <a:tcPr marL="114300" marR="114300" marT="19050" marB="19050" anchor="ctr">
                    <a:lnL w="0">
                      <a:solidFill>
                        <a:srgbClr val="FFFFFF"/>
                      </a:solidFill>
                    </a:lnL>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4</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24</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15.5</a:t>
                      </a:r>
                    </a:p>
                  </a:txBody>
                  <a:tcPr marL="114300" marR="114300" marT="19050" marB="19050" anchor="ctr">
                    <a:lnR w="0">
                      <a:solidFill>
                        <a:srgbClr val="FFFFFF"/>
                      </a:solidFill>
                    </a:lnR>
                    <a:lnB w="0">
                      <a:solidFill>
                        <a:srgbClr val="FFFFFF"/>
                      </a:solidFill>
                    </a:lnB>
                    <a:solidFill>
                      <a:srgbClr val="FFFFFF"/>
                    </a:solidFill>
                  </a:tcPr>
                </a:tc>
              </a:tr>
              <a:tr h="400050">
                <a:tc>
                  <a:txBody>
                    <a:bodyPr lIns="114300" tIns="19050" rIns="114300" bIns="19050"/>
                    <a:lstStyle/>
                    <a:p>
                      <a:r>
                        <a:rPr sz="1800" b="1">
                          <a:solidFill>
                            <a:srgbClr val="2563A5"/>
                          </a:solidFill>
                          <a:latin typeface="Arial"/>
                          <a:ea typeface="Arial"/>
                          <a:cs typeface="Arial"/>
                        </a:rPr>
                        <a:t>Fixed K=25</a:t>
                      </a:r>
                    </a:p>
                  </a:txBody>
                  <a:tcPr marL="114300" marR="114300" marT="19050" marB="19050" anchor="ctr">
                    <a:lnL w="0">
                      <a:solidFill>
                        <a:srgbClr val="FFFFFF"/>
                      </a:solidFill>
                    </a:lnL>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6</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4</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11</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9.6</a:t>
                      </a:r>
                    </a:p>
                  </a:txBody>
                  <a:tcPr marL="114300" marR="114300" marT="19050" marB="19050" anchor="ctr">
                    <a:lnR w="0">
                      <a:solidFill>
                        <a:srgbClr val="FFFFFF"/>
                      </a:solidFill>
                    </a:lnR>
                    <a:lnB w="0">
                      <a:solidFill>
                        <a:srgbClr val="FFFFFF"/>
                      </a:solidFill>
                    </a:lnB>
                    <a:solidFill>
                      <a:srgbClr val="F7F9FB"/>
                    </a:solidFill>
                  </a:tcPr>
                </a:tc>
              </a:tr>
              <a:tr h="400050">
                <a:tc>
                  <a:txBody>
                    <a:bodyPr lIns="114300" tIns="19050" rIns="114300" bIns="19050"/>
                    <a:lstStyle/>
                    <a:p>
                      <a:r>
                        <a:rPr sz="1800" b="1">
                          <a:solidFill>
                            <a:srgbClr val="2563A5"/>
                          </a:solidFill>
                          <a:latin typeface="Arial"/>
                          <a:ea typeface="Arial"/>
                          <a:cs typeface="Arial"/>
                        </a:rPr>
                        <a:t>Fixed K=50</a:t>
                      </a:r>
                    </a:p>
                  </a:txBody>
                  <a:tcPr marL="114300" marR="114300" marT="19050" marB="19050" anchor="ctr">
                    <a:lnL w="0">
                      <a:solidFill>
                        <a:srgbClr val="FFFFFF"/>
                      </a:solidFill>
                    </a:lnL>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3</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3</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3</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9</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5.1</a:t>
                      </a:r>
                    </a:p>
                  </a:txBody>
                  <a:tcPr marL="114300" marR="114300" marT="19050" marB="19050" anchor="ctr">
                    <a:lnR w="0">
                      <a:solidFill>
                        <a:srgbClr val="FFFFFF"/>
                      </a:solidFill>
                    </a:lnR>
                    <a:lnB w="0">
                      <a:solidFill>
                        <a:srgbClr val="FFFFFF"/>
                      </a:solidFill>
                    </a:lnB>
                    <a:solidFill>
                      <a:srgbClr val="FFFFFF"/>
                    </a:solidFill>
                  </a:tcPr>
                </a:tc>
              </a:tr>
              <a:tr h="400050">
                <a:tc>
                  <a:txBody>
                    <a:bodyPr lIns="114300" tIns="19050" rIns="114300" bIns="19050"/>
                    <a:lstStyle/>
                    <a:p>
                      <a:r>
                        <a:rPr sz="1800" b="1">
                          <a:solidFill>
                            <a:srgbClr val="D07832"/>
                          </a:solidFill>
                          <a:latin typeface="Arial"/>
                          <a:ea typeface="Arial"/>
                          <a:cs typeface="Arial"/>
                        </a:rPr>
                        <a:t>DVAC C=5</a:t>
                      </a:r>
                    </a:p>
                  </a:txBody>
                  <a:tcPr marL="114300" marR="114300" marT="19050" marB="19050" anchor="ctr">
                    <a:lnL w="0">
                      <a:solidFill>
                        <a:srgbClr val="FFFFFF"/>
                      </a:solidFill>
                    </a:lnL>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7</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27</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40.2</a:t>
                      </a:r>
                    </a:p>
                  </a:txBody>
                  <a:tcPr marL="114300" marR="114300" marT="19050" marB="19050" anchor="ctr">
                    <a:lnR w="0">
                      <a:solidFill>
                        <a:srgbClr val="FFFFFF"/>
                      </a:solidFill>
                    </a:lnR>
                    <a:lnB w="0">
                      <a:solidFill>
                        <a:srgbClr val="FFFFFF"/>
                      </a:solidFill>
                    </a:lnB>
                    <a:solidFill>
                      <a:srgbClr val="F7F9FB"/>
                    </a:solidFill>
                  </a:tcPr>
                </a:tc>
              </a:tr>
              <a:tr h="400050">
                <a:tc>
                  <a:txBody>
                    <a:bodyPr lIns="114300" tIns="19050" rIns="114300" bIns="19050"/>
                    <a:lstStyle/>
                    <a:p>
                      <a:r>
                        <a:rPr sz="1800" b="1">
                          <a:solidFill>
                            <a:srgbClr val="D07832"/>
                          </a:solidFill>
                          <a:latin typeface="Arial"/>
                          <a:ea typeface="Arial"/>
                          <a:cs typeface="Arial"/>
                        </a:rPr>
                        <a:t>DVAC C=10</a:t>
                      </a:r>
                    </a:p>
                  </a:txBody>
                  <a:tcPr marL="114300" marR="114300" marT="19050" marB="19050" anchor="ctr">
                    <a:lnL w="0">
                      <a:solidFill>
                        <a:srgbClr val="FFFFFF"/>
                      </a:solidFill>
                    </a:lnL>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7</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8</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25</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26.4</a:t>
                      </a:r>
                    </a:p>
                  </a:txBody>
                  <a:tcPr marL="114300" marR="114300" marT="19050" marB="19050" anchor="ctr">
                    <a:lnR w="0">
                      <a:solidFill>
                        <a:srgbClr val="FFFFFF"/>
                      </a:solidFill>
                    </a:lnR>
                    <a:lnB w="0">
                      <a:solidFill>
                        <a:srgbClr val="FFFFFF"/>
                      </a:solidFill>
                    </a:lnB>
                    <a:solidFill>
                      <a:srgbClr val="FFFFFF"/>
                    </a:solidFill>
                  </a:tcPr>
                </a:tc>
              </a:tr>
              <a:tr h="400050">
                <a:tc>
                  <a:txBody>
                    <a:bodyPr lIns="114300" tIns="19050" rIns="114300" bIns="19050"/>
                    <a:lstStyle/>
                    <a:p>
                      <a:r>
                        <a:rPr sz="1800" b="1">
                          <a:solidFill>
                            <a:srgbClr val="D07832"/>
                          </a:solidFill>
                          <a:latin typeface="Arial"/>
                          <a:ea typeface="Arial"/>
                          <a:cs typeface="Arial"/>
                        </a:rPr>
                        <a:t>DVAC C=25</a:t>
                      </a:r>
                    </a:p>
                  </a:txBody>
                  <a:tcPr marL="114300" marR="114300" marT="19050" marB="19050" anchor="ctr">
                    <a:lnL w="0">
                      <a:solidFill>
                        <a:srgbClr val="FFFFFF"/>
                      </a:solidFill>
                    </a:lnL>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10</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8</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7</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25</a:t>
                      </a:r>
                    </a:p>
                  </a:txBody>
                  <a:tcPr marL="114300" marR="114300" marT="19050" marB="19050" anchor="ctr">
                    <a:lnR w="0">
                      <a:solidFill>
                        <a:srgbClr val="FFFFFF"/>
                      </a:solidFill>
                    </a:lnR>
                    <a:lnB w="0">
                      <a:solidFill>
                        <a:srgbClr val="FFFFFF"/>
                      </a:solidFill>
                    </a:lnB>
                    <a:solidFill>
                      <a:srgbClr val="F7F9FB"/>
                    </a:solidFill>
                  </a:tcPr>
                </a:tc>
                <a:tc>
                  <a:txBody>
                    <a:bodyPr lIns="114300" tIns="19050" rIns="114300" bIns="19050"/>
                    <a:lstStyle/>
                    <a:p>
                      <a:r>
                        <a:rPr sz="1800" b="0">
                          <a:solidFill>
                            <a:srgbClr val="172D43"/>
                          </a:solidFill>
                          <a:latin typeface="Arial"/>
                          <a:ea typeface="Arial"/>
                          <a:cs typeface="Arial"/>
                        </a:rPr>
                        <a:t>14.1</a:t>
                      </a:r>
                    </a:p>
                  </a:txBody>
                  <a:tcPr marL="114300" marR="114300" marT="19050" marB="19050" anchor="ctr">
                    <a:lnR w="0">
                      <a:solidFill>
                        <a:srgbClr val="FFFFFF"/>
                      </a:solidFill>
                    </a:lnR>
                    <a:lnB w="0">
                      <a:solidFill>
                        <a:srgbClr val="FFFFFF"/>
                      </a:solidFill>
                    </a:lnB>
                    <a:solidFill>
                      <a:srgbClr val="F7F9FB"/>
                    </a:solidFill>
                  </a:tcPr>
                </a:tc>
              </a:tr>
              <a:tr h="400050">
                <a:tc>
                  <a:txBody>
                    <a:bodyPr lIns="114300" tIns="19050" rIns="114300" bIns="19050"/>
                    <a:lstStyle/>
                    <a:p>
                      <a:r>
                        <a:rPr sz="1800" b="1">
                          <a:solidFill>
                            <a:srgbClr val="D07832"/>
                          </a:solidFill>
                          <a:latin typeface="Arial"/>
                          <a:ea typeface="Arial"/>
                          <a:cs typeface="Arial"/>
                        </a:rPr>
                        <a:t>DVAC C=50</a:t>
                      </a:r>
                    </a:p>
                  </a:txBody>
                  <a:tcPr marL="114300" marR="114300" marT="19050" marB="19050" anchor="ctr">
                    <a:lnL w="0">
                      <a:solidFill>
                        <a:srgbClr val="FFFFFF"/>
                      </a:solidFill>
                    </a:lnL>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9</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7</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9</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25</a:t>
                      </a:r>
                    </a:p>
                  </a:txBody>
                  <a:tcPr marL="114300" marR="114300" marT="19050" marB="19050" anchor="ctr">
                    <a:lnR w="0">
                      <a:solidFill>
                        <a:srgbClr val="FFFFFF"/>
                      </a:solidFill>
                    </a:lnR>
                    <a:lnB w="0">
                      <a:solidFill>
                        <a:srgbClr val="FFFFFF"/>
                      </a:solidFill>
                    </a:lnB>
                    <a:solidFill>
                      <a:srgbClr val="FFFFFF"/>
                    </a:solidFill>
                  </a:tcPr>
                </a:tc>
                <a:tc>
                  <a:txBody>
                    <a:bodyPr lIns="114300" tIns="19050" rIns="114300" bIns="19050"/>
                    <a:lstStyle/>
                    <a:p>
                      <a:r>
                        <a:rPr sz="1800" b="0">
                          <a:solidFill>
                            <a:srgbClr val="172D43"/>
                          </a:solidFill>
                          <a:latin typeface="Arial"/>
                          <a:ea typeface="Arial"/>
                          <a:cs typeface="Arial"/>
                        </a:rPr>
                        <a:t>9.5</a:t>
                      </a:r>
                    </a:p>
                  </a:txBody>
                  <a:tcPr marL="114300" marR="114300" marT="19050" marB="19050" anchor="ctr">
                    <a:lnR w="0">
                      <a:solidFill>
                        <a:srgbClr val="FFFFFF"/>
                      </a:solidFill>
                    </a:lnR>
                    <a:lnB w="0">
                      <a:solidFill>
                        <a:srgbClr val="FFFFFF"/>
                      </a:solidFill>
                    </a:lnB>
                    <a:solidFill>
                      <a:srgbClr val="FFFFFF"/>
                    </a:solidFill>
                  </a:tcPr>
                </a:tc>
              </a:tr>
            </a:tbl>
          </a:graphicData>
        </a:graphic>
      </p:graphicFrame>
      <p:sp>
        <p:nvSpPr>
          <p:cNvPr id="5" name="Task columns show successful episodes out of 10.">
            <a:extLst xmlns:a="http://schemas.openxmlformats.org/drawingml/2006/main">
              <a:ext uri="{FF2B5EF4-FFF2-40B4-BE49-F238E27FC236}">
                <a16:creationId xmlns:a16="http://schemas.microsoft.com/office/drawing/2014/main" id="{BA5A626E-8488-42B2-B7D4-B3BF4DFF99F8}"/>
              </a:ext>
            </a:extLst>
          </p:cNvPr>
          <p:cNvSpPr>
            <a:spLocks xmlns:a="http://schemas.openxmlformats.org/drawingml/2006/main" noGrp="1"/>
          </p:cNvSpPr>
          <p:nvPr/>
        </p:nvSpPr>
        <p:spPr>
          <a:xfrm xmlns:a="http://schemas.openxmlformats.org/drawingml/2006/main">
            <a:off x="533400" y="607695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779"/>
                </a:solidFill>
                <a:latin typeface="Arial"/>
                <a:ea typeface="Arial"/>
                <a:cs typeface="Arial"/>
              </a:defRPr>
            </a:defPPr>
            <a:lvl1pPr>
              <a:defRPr sz="1725" b="0">
                <a:solidFill>
                  <a:srgbClr val="536779"/>
                </a:solidFill>
                <a:latin typeface="Arial"/>
                <a:ea typeface="Arial"/>
                <a:cs typeface="Arial"/>
              </a:defRPr>
            </a:lvl1pPr>
            <a:lvl2pPr>
              <a:defRPr sz="1725" b="0">
                <a:solidFill>
                  <a:srgbClr val="536779"/>
                </a:solidFill>
                <a:latin typeface="Arial"/>
                <a:ea typeface="Arial"/>
                <a:cs typeface="Arial"/>
              </a:defRPr>
            </a:lvl2pPr>
            <a:lvl3pPr>
              <a:defRPr sz="1725" b="0">
                <a:solidFill>
                  <a:srgbClr val="536779"/>
                </a:solidFill>
                <a:latin typeface="Arial"/>
                <a:ea typeface="Arial"/>
                <a:cs typeface="Arial"/>
              </a:defRPr>
            </a:lvl3pPr>
            <a:lvl4pPr>
              <a:defRPr sz="1725" b="0">
                <a:solidFill>
                  <a:srgbClr val="536779"/>
                </a:solidFill>
                <a:latin typeface="Arial"/>
                <a:ea typeface="Arial"/>
                <a:cs typeface="Arial"/>
              </a:defRPr>
            </a:lvl4pPr>
            <a:lvl5pPr>
              <a:defRPr sz="1725" b="0">
                <a:solidFill>
                  <a:srgbClr val="536779"/>
                </a:solidFill>
                <a:latin typeface="Arial"/>
                <a:ea typeface="Arial"/>
                <a:cs typeface="Arial"/>
              </a:defRPr>
            </a:lvl5pPr>
            <a:lvl6pPr>
              <a:defRPr sz="1725" b="0">
                <a:solidFill>
                  <a:srgbClr val="536779"/>
                </a:solidFill>
                <a:latin typeface="Arial"/>
                <a:ea typeface="Arial"/>
                <a:cs typeface="Arial"/>
              </a:defRPr>
            </a:lvl6pPr>
            <a:lvl7pPr>
              <a:defRPr sz="1725" b="0">
                <a:solidFill>
                  <a:srgbClr val="536779"/>
                </a:solidFill>
                <a:latin typeface="Arial"/>
                <a:ea typeface="Arial"/>
                <a:cs typeface="Arial"/>
              </a:defRPr>
            </a:lvl7pPr>
            <a:lvl8pPr>
              <a:defRPr sz="1725" b="0">
                <a:solidFill>
                  <a:srgbClr val="536779"/>
                </a:solidFill>
                <a:latin typeface="Arial"/>
                <a:ea typeface="Arial"/>
                <a:cs typeface="Arial"/>
              </a:defRPr>
            </a:lvl8pPr>
            <a:lvl9pPr>
              <a:defRPr sz="1725" b="0">
                <a:solidFill>
                  <a:srgbClr val="536779"/>
                </a:solidFill>
                <a:latin typeface="Arial"/>
                <a:ea typeface="Arial"/>
                <a:cs typeface="Arial"/>
              </a:defRPr>
            </a:lvl9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Task columns show successful episodes out of 10. Total is out of 30.</a:t>
            </a:r>
          </a:p>
        </p:txBody>
      </p:sp>
      <p:sp>
        <p:nvSpPr>
          <p:cNvPr id="6" name="Calls are means across all episodes, including f">
            <a:extLst xmlns:a="http://schemas.openxmlformats.org/drawingml/2006/main">
              <a:ext uri="{FF2B5EF4-FFF2-40B4-BE49-F238E27FC236}">
                <a16:creationId xmlns:a16="http://schemas.microsoft.com/office/drawing/2014/main" id="{90583E89-FA67-4E61-B7B2-DB496D7850EF}"/>
              </a:ext>
            </a:extLst>
          </p:cNvPr>
          <p:cNvSpPr>
            <a:spLocks xmlns:a="http://schemas.openxmlformats.org/drawingml/2006/main" noGrp="1"/>
          </p:cNvSpPr>
          <p:nvPr/>
        </p:nvSpPr>
        <p:spPr>
          <a:xfrm xmlns:a="http://schemas.openxmlformats.org/drawingml/2006/main">
            <a:off x="533400" y="64865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36779"/>
                </a:solidFill>
                <a:latin typeface="Arial"/>
                <a:ea typeface="Arial"/>
                <a:cs typeface="Arial"/>
              </a:defRPr>
            </a:defPPr>
            <a:lvl1pPr>
              <a:defRPr sz="1350" b="0">
                <a:solidFill>
                  <a:srgbClr val="536779"/>
                </a:solidFill>
                <a:latin typeface="Arial"/>
                <a:ea typeface="Arial"/>
                <a:cs typeface="Arial"/>
              </a:defRPr>
            </a:lvl1pPr>
            <a:lvl2pPr>
              <a:defRPr sz="1350" b="0">
                <a:solidFill>
                  <a:srgbClr val="536779"/>
                </a:solidFill>
                <a:latin typeface="Arial"/>
                <a:ea typeface="Arial"/>
                <a:cs typeface="Arial"/>
              </a:defRPr>
            </a:lvl2pPr>
            <a:lvl3pPr>
              <a:defRPr sz="1350" b="0">
                <a:solidFill>
                  <a:srgbClr val="536779"/>
                </a:solidFill>
                <a:latin typeface="Arial"/>
                <a:ea typeface="Arial"/>
                <a:cs typeface="Arial"/>
              </a:defRPr>
            </a:lvl3pPr>
            <a:lvl4pPr>
              <a:defRPr sz="1350" b="0">
                <a:solidFill>
                  <a:srgbClr val="536779"/>
                </a:solidFill>
                <a:latin typeface="Arial"/>
                <a:ea typeface="Arial"/>
                <a:cs typeface="Arial"/>
              </a:defRPr>
            </a:lvl4pPr>
            <a:lvl5pPr>
              <a:defRPr sz="1350" b="0">
                <a:solidFill>
                  <a:srgbClr val="536779"/>
                </a:solidFill>
                <a:latin typeface="Arial"/>
                <a:ea typeface="Arial"/>
                <a:cs typeface="Arial"/>
              </a:defRPr>
            </a:lvl5pPr>
            <a:lvl6pPr>
              <a:defRPr sz="1350" b="0">
                <a:solidFill>
                  <a:srgbClr val="536779"/>
                </a:solidFill>
                <a:latin typeface="Arial"/>
                <a:ea typeface="Arial"/>
                <a:cs typeface="Arial"/>
              </a:defRPr>
            </a:lvl6pPr>
            <a:lvl7pPr>
              <a:defRPr sz="1350" b="0">
                <a:solidFill>
                  <a:srgbClr val="536779"/>
                </a:solidFill>
                <a:latin typeface="Arial"/>
                <a:ea typeface="Arial"/>
                <a:cs typeface="Arial"/>
              </a:defRPr>
            </a:lvl7pPr>
            <a:lvl8pPr>
              <a:defRPr sz="1350" b="0">
                <a:solidFill>
                  <a:srgbClr val="536779"/>
                </a:solidFill>
                <a:latin typeface="Arial"/>
                <a:ea typeface="Arial"/>
                <a:cs typeface="Arial"/>
              </a:defRPr>
            </a:lvl8pPr>
            <a:lvl9pPr>
              <a:defRPr sz="1350" b="0">
                <a:solidFill>
                  <a:srgbClr val="536779"/>
                </a:solidFill>
                <a:latin typeface="Arial"/>
                <a:ea typeface="Arial"/>
                <a:cs typeface="Arial"/>
              </a:defRPr>
            </a:lvl9pPr>
          </a:lstStyle>
          <a:p xmlns:a="http://schemas.openxmlformats.org/drawingml/2006/main">
            <a:pPr>
              <a:defRPr sz="1350" b="0">
                <a:solidFill>
                  <a:srgbClr val="536779"/>
                </a:solidFill>
                <a:latin typeface="Arial"/>
                <a:ea typeface="Arial"/>
                <a:cs typeface="Arial"/>
              </a:defRPr>
            </a:pPr>
            <a:r>
              <a:rPr sz="1350" b="0">
                <a:solidFill>
                  <a:srgbClr val="536779"/>
                </a:solidFill>
                <a:latin typeface="Arial"/>
                <a:ea typeface="Arial"/>
                <a:cs typeface="Arial"/>
              </a:rPr>
              <a:t>Calls are means across all episodes, including failures.</a:t>
            </a:r>
          </a:p>
        </p:txBody>
      </p:sp>
    </p:spTree>
    <p:extLst>
      <p:ext uri="{BB962C8B-B14F-4D97-AF65-F5344CB8AC3E}">
        <p14:creationId xmlns:p14="http://schemas.microsoft.com/office/powerpoint/2010/main" val="543091218"/>
      </p:ext>
    </p:extLst>
  </p:cSld>
</p:sld>
</file>

<file path=ppt/slides/added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best observed K depends on the task">
            <a:extLst xmlns:a="http://schemas.openxmlformats.org/drawingml/2006/main">
              <a:ext uri="{FF2B5EF4-FFF2-40B4-BE49-F238E27FC236}">
                <a16:creationId xmlns:a16="http://schemas.microsoft.com/office/drawing/2014/main" id="{E7508447-0F12-436D-913B-603602A5B740}"/>
              </a:ext>
            </a:extLst>
          </p:cNvPr>
          <p:cNvSpPr>
            <a:spLocks xmlns:a="http://schemas.openxmlformats.org/drawingml/2006/main" noGrp="1"/>
          </p:cNvSpPr>
          <p:nvPr/>
        </p:nvSpPr>
        <p:spPr>
          <a:xfrm xmlns:a="http://schemas.openxmlformats.org/drawingml/2006/main">
            <a:off x="533400" y="409575"/>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The best observed K depends on the task</a:t>
            </a:r>
          </a:p>
        </p:txBody>
      </p:sp>
      <p:sp>
        <p:nvSpPr>
          <p:cNvPr id="2" name="Task success rate over the same 10 initial state">
            <a:extLst xmlns:a="http://schemas.openxmlformats.org/drawingml/2006/main">
              <a:ext uri="{FF2B5EF4-FFF2-40B4-BE49-F238E27FC236}">
                <a16:creationId xmlns:a16="http://schemas.microsoft.com/office/drawing/2014/main" id="{274ED496-3C19-4F88-9720-40227B772F3F}"/>
              </a:ext>
            </a:extLst>
          </p:cNvPr>
          <p:cNvSpPr>
            <a:spLocks xmlns:a="http://schemas.openxmlformats.org/drawingml/2006/main" noGrp="1"/>
          </p:cNvSpPr>
          <p:nvPr/>
        </p:nvSpPr>
        <p:spPr>
          <a:xfrm xmlns:a="http://schemas.openxmlformats.org/drawingml/2006/main">
            <a:off x="533400" y="11620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36779"/>
                </a:solidFill>
                <a:latin typeface="Arial"/>
                <a:ea typeface="Arial"/>
                <a:cs typeface="Arial"/>
              </a:defRPr>
            </a:defPPr>
            <a:lvl1pPr>
              <a:defRPr sz="1650" b="0">
                <a:solidFill>
                  <a:srgbClr val="536779"/>
                </a:solidFill>
                <a:latin typeface="Arial"/>
                <a:ea typeface="Arial"/>
                <a:cs typeface="Arial"/>
              </a:defRPr>
            </a:lvl1pPr>
            <a:lvl2pPr>
              <a:defRPr sz="1650" b="0">
                <a:solidFill>
                  <a:srgbClr val="536779"/>
                </a:solidFill>
                <a:latin typeface="Arial"/>
                <a:ea typeface="Arial"/>
                <a:cs typeface="Arial"/>
              </a:defRPr>
            </a:lvl2pPr>
            <a:lvl3pPr>
              <a:defRPr sz="1650" b="0">
                <a:solidFill>
                  <a:srgbClr val="536779"/>
                </a:solidFill>
                <a:latin typeface="Arial"/>
                <a:ea typeface="Arial"/>
                <a:cs typeface="Arial"/>
              </a:defRPr>
            </a:lvl3pPr>
            <a:lvl4pPr>
              <a:defRPr sz="1650" b="0">
                <a:solidFill>
                  <a:srgbClr val="536779"/>
                </a:solidFill>
                <a:latin typeface="Arial"/>
                <a:ea typeface="Arial"/>
                <a:cs typeface="Arial"/>
              </a:defRPr>
            </a:lvl4pPr>
            <a:lvl5pPr>
              <a:defRPr sz="1650" b="0">
                <a:solidFill>
                  <a:srgbClr val="536779"/>
                </a:solidFill>
                <a:latin typeface="Arial"/>
                <a:ea typeface="Arial"/>
                <a:cs typeface="Arial"/>
              </a:defRPr>
            </a:lvl5pPr>
            <a:lvl6pPr>
              <a:defRPr sz="1650" b="0">
                <a:solidFill>
                  <a:srgbClr val="536779"/>
                </a:solidFill>
                <a:latin typeface="Arial"/>
                <a:ea typeface="Arial"/>
                <a:cs typeface="Arial"/>
              </a:defRPr>
            </a:lvl6pPr>
            <a:lvl7pPr>
              <a:defRPr sz="1650" b="0">
                <a:solidFill>
                  <a:srgbClr val="536779"/>
                </a:solidFill>
                <a:latin typeface="Arial"/>
                <a:ea typeface="Arial"/>
                <a:cs typeface="Arial"/>
              </a:defRPr>
            </a:lvl7pPr>
            <a:lvl8pPr>
              <a:defRPr sz="1650" b="0">
                <a:solidFill>
                  <a:srgbClr val="536779"/>
                </a:solidFill>
                <a:latin typeface="Arial"/>
                <a:ea typeface="Arial"/>
                <a:cs typeface="Arial"/>
              </a:defRPr>
            </a:lvl8pPr>
            <a:lvl9pPr>
              <a:defRPr sz="1650" b="0">
                <a:solidFill>
                  <a:srgbClr val="536779"/>
                </a:solidFill>
                <a:latin typeface="Arial"/>
                <a:ea typeface="Arial"/>
                <a:cs typeface="Arial"/>
              </a:defRPr>
            </a:lvl9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Task success rate over the same 10 initial states per task (fixed K).</a:t>
            </a:r>
          </a:p>
        </p:txBody>
      </p:sp>
      <p:sp>
        <p:nvSpPr>
          <p:cNvPr id="3" name="07">
            <a:extLst xmlns:a="http://schemas.openxmlformats.org/drawingml/2006/main">
              <a:ext uri="{FF2B5EF4-FFF2-40B4-BE49-F238E27FC236}">
                <a16:creationId xmlns:a16="http://schemas.microsoft.com/office/drawing/2014/main" id="{2271BA51-1783-475E-BEFA-2FF7B795A984}"/>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434ACEA6-5000-447E-8A0E-0D028FC78BCF}"/>
              </a:ext>
            </a:extLst>
          </p:cNvPr>
          <p:cNvGraphicFramePr/>
          <p:nvPr/>
        </p:nvGraphicFramePr>
        <p:xfrm>
          <a:off xmlns:a="http://schemas.openxmlformats.org/drawingml/2006/main" x="361950" y="1704975"/>
          <a:ext xmlns:a="http://schemas.openxmlformats.org/drawingml/2006/main" cx="3705225" cy="3886200"/>
        </p:xfrm>
        <a:graphic xmlns:a="http://schemas.openxmlformats.org/drawingml/2006/main">
          <a:graphicData uri="http://schemas.openxmlformats.org/drawingml/2006/chart">
            <c:chart xmlns:r="http://schemas.openxmlformats.org/officeDocument/2006/relationships" xmlns:c="http://schemas.openxmlformats.org/drawingml/2006/chart" r:id="R470f6aa3917741d5"/>
          </a:graphicData>
        </a:graphic>
      </p:graphicFrame>
      <p:graphicFrame>
        <p:nvGraphicFramePr>
          <p:cNvPr id="5" name="Chart">
            <a:extLst xmlns:a="http://schemas.openxmlformats.org/drawingml/2006/main">
              <a:ext uri="{FF2B5EF4-FFF2-40B4-BE49-F238E27FC236}">
                <a16:creationId xmlns:a16="http://schemas.microsoft.com/office/drawing/2014/main" id="{6891FA37-8DD7-4B5D-BC58-7F91E9CE1742}"/>
              </a:ext>
            </a:extLst>
          </p:cNvPr>
          <p:cNvGraphicFramePr/>
          <p:nvPr/>
        </p:nvGraphicFramePr>
        <p:xfrm>
          <a:off xmlns:a="http://schemas.openxmlformats.org/drawingml/2006/main" x="4305300" y="1704975"/>
          <a:ext xmlns:a="http://schemas.openxmlformats.org/drawingml/2006/main" cx="3705225" cy="3886200"/>
        </p:xfrm>
        <a:graphic xmlns:a="http://schemas.openxmlformats.org/drawingml/2006/main">
          <a:graphicData uri="http://schemas.openxmlformats.org/drawingml/2006/chart">
            <c:chart xmlns:r="http://schemas.openxmlformats.org/officeDocument/2006/relationships" xmlns:c="http://schemas.openxmlformats.org/drawingml/2006/chart" r:id="R04fa9bc80add4ef0"/>
          </a:graphicData>
        </a:graphic>
      </p:graphicFrame>
      <p:graphicFrame>
        <p:nvGraphicFramePr>
          <p:cNvPr id="6" name="Chart">
            <a:extLst xmlns:a="http://schemas.openxmlformats.org/drawingml/2006/main">
              <a:ext uri="{FF2B5EF4-FFF2-40B4-BE49-F238E27FC236}">
                <a16:creationId xmlns:a16="http://schemas.microsoft.com/office/drawing/2014/main" id="{FE5CC62E-02EB-4EFA-AAF2-B8036BB73C3C}"/>
              </a:ext>
            </a:extLst>
          </p:cNvPr>
          <p:cNvGraphicFramePr/>
          <p:nvPr/>
        </p:nvGraphicFramePr>
        <p:xfrm>
          <a:off xmlns:a="http://schemas.openxmlformats.org/drawingml/2006/main" x="8248650" y="1704975"/>
          <a:ext xmlns:a="http://schemas.openxmlformats.org/drawingml/2006/main" cx="3705225" cy="3886200"/>
        </p:xfrm>
        <a:graphic xmlns:a="http://schemas.openxmlformats.org/drawingml/2006/main">
          <a:graphicData uri="http://schemas.openxmlformats.org/drawingml/2006/chart">
            <c:chart xmlns:r="http://schemas.openxmlformats.org/officeDocument/2006/relationships" xmlns:c="http://schemas.openxmlformats.org/drawingml/2006/chart" r:id="R56cf8828aa4444b2"/>
          </a:graphicData>
        </a:graphic>
      </p:graphicFrame>
      <p:sp>
        <p:nvSpPr>
          <p:cNvPr id="7" name="Best observed K: soup 10, bowl 1, drawer 5 or 10">
            <a:extLst xmlns:a="http://schemas.openxmlformats.org/drawingml/2006/main">
              <a:ext uri="{FF2B5EF4-FFF2-40B4-BE49-F238E27FC236}">
                <a16:creationId xmlns:a16="http://schemas.microsoft.com/office/drawing/2014/main" id="{D2DB4279-E433-462C-84A7-89E06B14DDF3}"/>
              </a:ext>
            </a:extLst>
          </p:cNvPr>
          <p:cNvSpPr>
            <a:spLocks xmlns:a="http://schemas.openxmlformats.org/drawingml/2006/main" noGrp="1"/>
          </p:cNvSpPr>
          <p:nvPr/>
        </p:nvSpPr>
        <p:spPr>
          <a:xfrm xmlns:a="http://schemas.openxmlformats.org/drawingml/2006/main">
            <a:off x="533400" y="57340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2D43"/>
                </a:solidFill>
                <a:latin typeface="Arial"/>
                <a:ea typeface="Arial"/>
                <a:cs typeface="Arial"/>
              </a:defRPr>
            </a:defPPr>
            <a:lvl1pPr>
              <a:defRPr sz="2100" b="1">
                <a:solidFill>
                  <a:srgbClr val="172D43"/>
                </a:solidFill>
                <a:latin typeface="Arial"/>
                <a:ea typeface="Arial"/>
                <a:cs typeface="Arial"/>
              </a:defRPr>
            </a:lvl1pPr>
            <a:lvl2pPr>
              <a:defRPr sz="2100" b="1">
                <a:solidFill>
                  <a:srgbClr val="172D43"/>
                </a:solidFill>
                <a:latin typeface="Arial"/>
                <a:ea typeface="Arial"/>
                <a:cs typeface="Arial"/>
              </a:defRPr>
            </a:lvl2pPr>
            <a:lvl3pPr>
              <a:defRPr sz="2100" b="1">
                <a:solidFill>
                  <a:srgbClr val="172D43"/>
                </a:solidFill>
                <a:latin typeface="Arial"/>
                <a:ea typeface="Arial"/>
                <a:cs typeface="Arial"/>
              </a:defRPr>
            </a:lvl3pPr>
            <a:lvl4pPr>
              <a:defRPr sz="2100" b="1">
                <a:solidFill>
                  <a:srgbClr val="172D43"/>
                </a:solidFill>
                <a:latin typeface="Arial"/>
                <a:ea typeface="Arial"/>
                <a:cs typeface="Arial"/>
              </a:defRPr>
            </a:lvl4pPr>
            <a:lvl5pPr>
              <a:defRPr sz="2100" b="1">
                <a:solidFill>
                  <a:srgbClr val="172D43"/>
                </a:solidFill>
                <a:latin typeface="Arial"/>
                <a:ea typeface="Arial"/>
                <a:cs typeface="Arial"/>
              </a:defRPr>
            </a:lvl5pPr>
            <a:lvl6pPr>
              <a:defRPr sz="2100" b="1">
                <a:solidFill>
                  <a:srgbClr val="172D43"/>
                </a:solidFill>
                <a:latin typeface="Arial"/>
                <a:ea typeface="Arial"/>
                <a:cs typeface="Arial"/>
              </a:defRPr>
            </a:lvl6pPr>
            <a:lvl7pPr>
              <a:defRPr sz="2100" b="1">
                <a:solidFill>
                  <a:srgbClr val="172D43"/>
                </a:solidFill>
                <a:latin typeface="Arial"/>
                <a:ea typeface="Arial"/>
                <a:cs typeface="Arial"/>
              </a:defRPr>
            </a:lvl7pPr>
            <a:lvl8pPr>
              <a:defRPr sz="2100" b="1">
                <a:solidFill>
                  <a:srgbClr val="172D43"/>
                </a:solidFill>
                <a:latin typeface="Arial"/>
                <a:ea typeface="Arial"/>
                <a:cs typeface="Arial"/>
              </a:defRPr>
            </a:lvl8pPr>
            <a:lvl9pPr>
              <a:defRPr sz="2100" b="1">
                <a:solidFill>
                  <a:srgbClr val="172D43"/>
                </a:solidFill>
                <a:latin typeface="Arial"/>
                <a:ea typeface="Arial"/>
                <a:cs typeface="Arial"/>
              </a:defRPr>
            </a:lvl9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Best observed K: soup 10, bowl 1, drawer 5 or 10.</a:t>
            </a:r>
          </a:p>
        </p:txBody>
      </p:sp>
      <p:sp>
        <p:nvSpPr>
          <p:cNvPr id="8" name="Small samples: descriptive results, not a univer">
            <a:extLst xmlns:a="http://schemas.openxmlformats.org/drawingml/2006/main">
              <a:ext uri="{FF2B5EF4-FFF2-40B4-BE49-F238E27FC236}">
                <a16:creationId xmlns:a16="http://schemas.microsoft.com/office/drawing/2014/main" id="{7EA46432-C113-44CA-8E10-06E95A70D123}"/>
              </a:ext>
            </a:extLst>
          </p:cNvPr>
          <p:cNvSpPr>
            <a:spLocks xmlns:a="http://schemas.openxmlformats.org/drawingml/2006/main" noGrp="1"/>
          </p:cNvSpPr>
          <p:nvPr/>
        </p:nvSpPr>
        <p:spPr>
          <a:xfrm xmlns:a="http://schemas.openxmlformats.org/drawingml/2006/main">
            <a:off x="533400" y="62007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36779"/>
                </a:solidFill>
                <a:latin typeface="Arial"/>
                <a:ea typeface="Arial"/>
                <a:cs typeface="Arial"/>
              </a:defRPr>
            </a:defPPr>
            <a:lvl1pPr>
              <a:defRPr sz="1575" b="0">
                <a:solidFill>
                  <a:srgbClr val="536779"/>
                </a:solidFill>
                <a:latin typeface="Arial"/>
                <a:ea typeface="Arial"/>
                <a:cs typeface="Arial"/>
              </a:defRPr>
            </a:lvl1pPr>
            <a:lvl2pPr>
              <a:defRPr sz="1575" b="0">
                <a:solidFill>
                  <a:srgbClr val="536779"/>
                </a:solidFill>
                <a:latin typeface="Arial"/>
                <a:ea typeface="Arial"/>
                <a:cs typeface="Arial"/>
              </a:defRPr>
            </a:lvl2pPr>
            <a:lvl3pPr>
              <a:defRPr sz="1575" b="0">
                <a:solidFill>
                  <a:srgbClr val="536779"/>
                </a:solidFill>
                <a:latin typeface="Arial"/>
                <a:ea typeface="Arial"/>
                <a:cs typeface="Arial"/>
              </a:defRPr>
            </a:lvl3pPr>
            <a:lvl4pPr>
              <a:defRPr sz="1575" b="0">
                <a:solidFill>
                  <a:srgbClr val="536779"/>
                </a:solidFill>
                <a:latin typeface="Arial"/>
                <a:ea typeface="Arial"/>
                <a:cs typeface="Arial"/>
              </a:defRPr>
            </a:lvl4pPr>
            <a:lvl5pPr>
              <a:defRPr sz="1575" b="0">
                <a:solidFill>
                  <a:srgbClr val="536779"/>
                </a:solidFill>
                <a:latin typeface="Arial"/>
                <a:ea typeface="Arial"/>
                <a:cs typeface="Arial"/>
              </a:defRPr>
            </a:lvl5pPr>
            <a:lvl6pPr>
              <a:defRPr sz="1575" b="0">
                <a:solidFill>
                  <a:srgbClr val="536779"/>
                </a:solidFill>
                <a:latin typeface="Arial"/>
                <a:ea typeface="Arial"/>
                <a:cs typeface="Arial"/>
              </a:defRPr>
            </a:lvl6pPr>
            <a:lvl7pPr>
              <a:defRPr sz="1575" b="0">
                <a:solidFill>
                  <a:srgbClr val="536779"/>
                </a:solidFill>
                <a:latin typeface="Arial"/>
                <a:ea typeface="Arial"/>
                <a:cs typeface="Arial"/>
              </a:defRPr>
            </a:lvl7pPr>
            <a:lvl8pPr>
              <a:defRPr sz="1575" b="0">
                <a:solidFill>
                  <a:srgbClr val="536779"/>
                </a:solidFill>
                <a:latin typeface="Arial"/>
                <a:ea typeface="Arial"/>
                <a:cs typeface="Arial"/>
              </a:defRPr>
            </a:lvl8pPr>
            <a:lvl9pPr>
              <a:defRPr sz="1575" b="0">
                <a:solidFill>
                  <a:srgbClr val="536779"/>
                </a:solidFill>
                <a:latin typeface="Arial"/>
                <a:ea typeface="Arial"/>
                <a:cs typeface="Arial"/>
              </a:defRPr>
            </a:lvl9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Small samples: descriptive results, not a universal optimum.</a:t>
            </a:r>
          </a:p>
        </p:txBody>
      </p:sp>
    </p:spTree>
    <p:extLst>
      <p:ext uri="{BB962C8B-B14F-4D97-AF65-F5344CB8AC3E}">
        <p14:creationId xmlns:p14="http://schemas.microsoft.com/office/powerpoint/2010/main" val="2091756702"/>
      </p:ext>
    </p:extLst>
  </p:cSld>
</p:sld>
</file>

<file path=ppt/slides/added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del calls fall as K increases">
            <a:extLst xmlns:a="http://schemas.openxmlformats.org/drawingml/2006/main">
              <a:ext uri="{FF2B5EF4-FFF2-40B4-BE49-F238E27FC236}">
                <a16:creationId xmlns:a16="http://schemas.microsoft.com/office/drawing/2014/main" id="{1A64331E-9EEA-4CCB-9D28-876CF960A670}"/>
              </a:ext>
            </a:extLst>
          </p:cNvPr>
          <p:cNvSpPr>
            <a:spLocks xmlns:a="http://schemas.openxmlformats.org/drawingml/2006/main" noGrp="1"/>
          </p:cNvSpPr>
          <p:nvPr/>
        </p:nvSpPr>
        <p:spPr>
          <a:xfrm xmlns:a="http://schemas.openxmlformats.org/drawingml/2006/main">
            <a:off x="533400" y="409575"/>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D43"/>
                </a:solidFill>
                <a:latin typeface="Arial"/>
                <a:ea typeface="Arial"/>
                <a:cs typeface="Arial"/>
              </a:defRPr>
            </a:defPPr>
            <a:lvl1pPr>
              <a:defRPr sz="3150" b="1">
                <a:solidFill>
                  <a:srgbClr val="172D43"/>
                </a:solidFill>
                <a:latin typeface="Arial"/>
                <a:ea typeface="Arial"/>
                <a:cs typeface="Arial"/>
              </a:defRPr>
            </a:lvl1pPr>
            <a:lvl2pPr>
              <a:defRPr sz="3150" b="1">
                <a:solidFill>
                  <a:srgbClr val="172D43"/>
                </a:solidFill>
                <a:latin typeface="Arial"/>
                <a:ea typeface="Arial"/>
                <a:cs typeface="Arial"/>
              </a:defRPr>
            </a:lvl2pPr>
            <a:lvl3pPr>
              <a:defRPr sz="3150" b="1">
                <a:solidFill>
                  <a:srgbClr val="172D43"/>
                </a:solidFill>
                <a:latin typeface="Arial"/>
                <a:ea typeface="Arial"/>
                <a:cs typeface="Arial"/>
              </a:defRPr>
            </a:lvl3pPr>
            <a:lvl4pPr>
              <a:defRPr sz="3150" b="1">
                <a:solidFill>
                  <a:srgbClr val="172D43"/>
                </a:solidFill>
                <a:latin typeface="Arial"/>
                <a:ea typeface="Arial"/>
                <a:cs typeface="Arial"/>
              </a:defRPr>
            </a:lvl4pPr>
            <a:lvl5pPr>
              <a:defRPr sz="3150" b="1">
                <a:solidFill>
                  <a:srgbClr val="172D43"/>
                </a:solidFill>
                <a:latin typeface="Arial"/>
                <a:ea typeface="Arial"/>
                <a:cs typeface="Arial"/>
              </a:defRPr>
            </a:lvl5pPr>
            <a:lvl6pPr>
              <a:defRPr sz="3150" b="1">
                <a:solidFill>
                  <a:srgbClr val="172D43"/>
                </a:solidFill>
                <a:latin typeface="Arial"/>
                <a:ea typeface="Arial"/>
                <a:cs typeface="Arial"/>
              </a:defRPr>
            </a:lvl6pPr>
            <a:lvl7pPr>
              <a:defRPr sz="3150" b="1">
                <a:solidFill>
                  <a:srgbClr val="172D43"/>
                </a:solidFill>
                <a:latin typeface="Arial"/>
                <a:ea typeface="Arial"/>
                <a:cs typeface="Arial"/>
              </a:defRPr>
            </a:lvl7pPr>
            <a:lvl8pPr>
              <a:defRPr sz="3150" b="1">
                <a:solidFill>
                  <a:srgbClr val="172D43"/>
                </a:solidFill>
                <a:latin typeface="Arial"/>
                <a:ea typeface="Arial"/>
                <a:cs typeface="Arial"/>
              </a:defRPr>
            </a:lvl8pPr>
            <a:lvl9pPr>
              <a:defRPr sz="3150" b="1">
                <a:solidFill>
                  <a:srgbClr val="172D43"/>
                </a:solidFill>
                <a:latin typeface="Arial"/>
                <a:ea typeface="Arial"/>
                <a:cs typeface="Arial"/>
              </a:defRPr>
            </a:lvl9pPr>
          </a:lstStyle>
          <a:p xmlns:a="http://schemas.openxmlformats.org/drawingml/2006/main">
            <a:pPr>
              <a:defRPr sz="3150" b="1">
                <a:solidFill>
                  <a:srgbClr val="172D43"/>
                </a:solidFill>
                <a:latin typeface="Arial"/>
                <a:ea typeface="Arial"/>
                <a:cs typeface="Arial"/>
              </a:defRPr>
            </a:pPr>
            <a:r>
              <a:rPr sz="3150" b="1">
                <a:solidFill>
                  <a:srgbClr val="172D43"/>
                </a:solidFill>
                <a:latin typeface="Arial"/>
                <a:ea typeface="Arial"/>
                <a:cs typeface="Arial"/>
              </a:rPr>
              <a:t>Model calls fall as K increases</a:t>
            </a:r>
          </a:p>
        </p:txBody>
      </p:sp>
      <p:sp>
        <p:nvSpPr>
          <p:cNvPr id="2" name="Fixed intervals. The same 30 starting settings f">
            <a:extLst xmlns:a="http://schemas.openxmlformats.org/drawingml/2006/main">
              <a:ext uri="{FF2B5EF4-FFF2-40B4-BE49-F238E27FC236}">
                <a16:creationId xmlns:a16="http://schemas.microsoft.com/office/drawing/2014/main" id="{10819D95-8A01-42C2-AFAB-022A52EE9D8A}"/>
              </a:ext>
            </a:extLst>
          </p:cNvPr>
          <p:cNvSpPr>
            <a:spLocks xmlns:a="http://schemas.openxmlformats.org/drawingml/2006/main" noGrp="1"/>
          </p:cNvSpPr>
          <p:nvPr/>
        </p:nvSpPr>
        <p:spPr>
          <a:xfrm xmlns:a="http://schemas.openxmlformats.org/drawingml/2006/main">
            <a:off x="533400" y="11620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36779"/>
                </a:solidFill>
                <a:latin typeface="Arial"/>
                <a:ea typeface="Arial"/>
                <a:cs typeface="Arial"/>
              </a:defRPr>
            </a:defPPr>
            <a:lvl1pPr>
              <a:defRPr sz="1650" b="0">
                <a:solidFill>
                  <a:srgbClr val="536779"/>
                </a:solidFill>
                <a:latin typeface="Arial"/>
                <a:ea typeface="Arial"/>
                <a:cs typeface="Arial"/>
              </a:defRPr>
            </a:lvl1pPr>
            <a:lvl2pPr>
              <a:defRPr sz="1650" b="0">
                <a:solidFill>
                  <a:srgbClr val="536779"/>
                </a:solidFill>
                <a:latin typeface="Arial"/>
                <a:ea typeface="Arial"/>
                <a:cs typeface="Arial"/>
              </a:defRPr>
            </a:lvl2pPr>
            <a:lvl3pPr>
              <a:defRPr sz="1650" b="0">
                <a:solidFill>
                  <a:srgbClr val="536779"/>
                </a:solidFill>
                <a:latin typeface="Arial"/>
                <a:ea typeface="Arial"/>
                <a:cs typeface="Arial"/>
              </a:defRPr>
            </a:lvl3pPr>
            <a:lvl4pPr>
              <a:defRPr sz="1650" b="0">
                <a:solidFill>
                  <a:srgbClr val="536779"/>
                </a:solidFill>
                <a:latin typeface="Arial"/>
                <a:ea typeface="Arial"/>
                <a:cs typeface="Arial"/>
              </a:defRPr>
            </a:lvl4pPr>
            <a:lvl5pPr>
              <a:defRPr sz="1650" b="0">
                <a:solidFill>
                  <a:srgbClr val="536779"/>
                </a:solidFill>
                <a:latin typeface="Arial"/>
                <a:ea typeface="Arial"/>
                <a:cs typeface="Arial"/>
              </a:defRPr>
            </a:lvl5pPr>
            <a:lvl6pPr>
              <a:defRPr sz="1650" b="0">
                <a:solidFill>
                  <a:srgbClr val="536779"/>
                </a:solidFill>
                <a:latin typeface="Arial"/>
                <a:ea typeface="Arial"/>
                <a:cs typeface="Arial"/>
              </a:defRPr>
            </a:lvl6pPr>
            <a:lvl7pPr>
              <a:defRPr sz="1650" b="0">
                <a:solidFill>
                  <a:srgbClr val="536779"/>
                </a:solidFill>
                <a:latin typeface="Arial"/>
                <a:ea typeface="Arial"/>
                <a:cs typeface="Arial"/>
              </a:defRPr>
            </a:lvl7pPr>
            <a:lvl8pPr>
              <a:defRPr sz="1650" b="0">
                <a:solidFill>
                  <a:srgbClr val="536779"/>
                </a:solidFill>
                <a:latin typeface="Arial"/>
                <a:ea typeface="Arial"/>
                <a:cs typeface="Arial"/>
              </a:defRPr>
            </a:lvl8pPr>
            <a:lvl9pPr>
              <a:defRPr sz="1650" b="0">
                <a:solidFill>
                  <a:srgbClr val="536779"/>
                </a:solidFill>
                <a:latin typeface="Arial"/>
                <a:ea typeface="Arial"/>
                <a:cs typeface="Arial"/>
              </a:defRPr>
            </a:lvl9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Fixed intervals. The same 30 starting settings for every K.</a:t>
            </a:r>
          </a:p>
        </p:txBody>
      </p:sp>
      <p:sp>
        <p:nvSpPr>
          <p:cNvPr id="3" name="08">
            <a:extLst xmlns:a="http://schemas.openxmlformats.org/drawingml/2006/main">
              <a:ext uri="{FF2B5EF4-FFF2-40B4-BE49-F238E27FC236}">
                <a16:creationId xmlns:a16="http://schemas.microsoft.com/office/drawing/2014/main" id="{DD996529-E2A9-4A70-81F9-1DEA6802985F}"/>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36779"/>
                </a:solidFill>
                <a:latin typeface="Arial"/>
                <a:ea typeface="Arial"/>
                <a:cs typeface="Arial"/>
              </a:defRPr>
            </a:defPPr>
            <a:lvl1pPr>
              <a:defRPr sz="1200" b="0">
                <a:solidFill>
                  <a:srgbClr val="536779"/>
                </a:solidFill>
                <a:latin typeface="Arial"/>
                <a:ea typeface="Arial"/>
                <a:cs typeface="Arial"/>
              </a:defRPr>
            </a:lvl1pPr>
            <a:lvl2pPr>
              <a:defRPr sz="1200" b="0">
                <a:solidFill>
                  <a:srgbClr val="536779"/>
                </a:solidFill>
                <a:latin typeface="Arial"/>
                <a:ea typeface="Arial"/>
                <a:cs typeface="Arial"/>
              </a:defRPr>
            </a:lvl2pPr>
            <a:lvl3pPr>
              <a:defRPr sz="1200" b="0">
                <a:solidFill>
                  <a:srgbClr val="536779"/>
                </a:solidFill>
                <a:latin typeface="Arial"/>
                <a:ea typeface="Arial"/>
                <a:cs typeface="Arial"/>
              </a:defRPr>
            </a:lvl3pPr>
            <a:lvl4pPr>
              <a:defRPr sz="1200" b="0">
                <a:solidFill>
                  <a:srgbClr val="536779"/>
                </a:solidFill>
                <a:latin typeface="Arial"/>
                <a:ea typeface="Arial"/>
                <a:cs typeface="Arial"/>
              </a:defRPr>
            </a:lvl4pPr>
            <a:lvl5pPr>
              <a:defRPr sz="1200" b="0">
                <a:solidFill>
                  <a:srgbClr val="536779"/>
                </a:solidFill>
                <a:latin typeface="Arial"/>
                <a:ea typeface="Arial"/>
                <a:cs typeface="Arial"/>
              </a:defRPr>
            </a:lvl5pPr>
            <a:lvl6pPr>
              <a:defRPr sz="1200" b="0">
                <a:solidFill>
                  <a:srgbClr val="536779"/>
                </a:solidFill>
                <a:latin typeface="Arial"/>
                <a:ea typeface="Arial"/>
                <a:cs typeface="Arial"/>
              </a:defRPr>
            </a:lvl6pPr>
            <a:lvl7pPr>
              <a:defRPr sz="1200" b="0">
                <a:solidFill>
                  <a:srgbClr val="536779"/>
                </a:solidFill>
                <a:latin typeface="Arial"/>
                <a:ea typeface="Arial"/>
                <a:cs typeface="Arial"/>
              </a:defRPr>
            </a:lvl7pPr>
            <a:lvl8pPr>
              <a:defRPr sz="1200" b="0">
                <a:solidFill>
                  <a:srgbClr val="536779"/>
                </a:solidFill>
                <a:latin typeface="Arial"/>
                <a:ea typeface="Arial"/>
                <a:cs typeface="Arial"/>
              </a:defRPr>
            </a:lvl8pPr>
            <a:lvl9pPr>
              <a:defRPr sz="1200" b="0">
                <a:solidFill>
                  <a:srgbClr val="536779"/>
                </a:solidFill>
                <a:latin typeface="Arial"/>
                <a:ea typeface="Arial"/>
                <a:cs typeface="Arial"/>
              </a:defRPr>
            </a:lvl9pPr>
          </a:lstStyle>
          <a:p xmlns:a="http://schemas.openxmlformats.org/drawingml/2006/main">
            <a:pPr>
              <a:defRPr sz="1200" b="0">
                <a:solidFill>
                  <a:srgbClr val="536779"/>
                </a:solidFill>
                <a:latin typeface="Arial"/>
                <a:ea typeface="Arial"/>
                <a:cs typeface="Arial"/>
              </a:defRPr>
            </a:pPr>
            <a:r>
              <a:rPr sz="1200" b="0">
                <a:solidFill>
                  <a:srgbClr val="536779"/>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66BA7528-A35E-46FB-8D4F-F99A8DCF94EE}"/>
              </a:ext>
            </a:extLst>
          </p:cNvPr>
          <p:cNvGraphicFramePr/>
          <p:nvPr/>
        </p:nvGraphicFramePr>
        <p:xfrm>
          <a:off xmlns:a="http://schemas.openxmlformats.org/drawingml/2006/main" x="723900" y="1657350"/>
          <a:ext xmlns:a="http://schemas.openxmlformats.org/drawingml/2006/main" cx="10801350" cy="4086225"/>
        </p:xfrm>
        <a:graphic xmlns:a="http://schemas.openxmlformats.org/drawingml/2006/main">
          <a:graphicData uri="http://schemas.openxmlformats.org/drawingml/2006/chart">
            <c:chart xmlns:r="http://schemas.openxmlformats.org/officeDocument/2006/relationships" xmlns:c="http://schemas.openxmlformats.org/drawingml/2006/chart" r:id="R2dc33169f0524469"/>
          </a:graphicData>
        </a:graphic>
      </p:graphicFrame>
      <p:sp>
        <p:nvSpPr>
          <p:cNvPr id="5" name="K=1: 162.0 calls      K=5: 31.3 calls      K=50:">
            <a:extLst xmlns:a="http://schemas.openxmlformats.org/drawingml/2006/main">
              <a:ext uri="{FF2B5EF4-FFF2-40B4-BE49-F238E27FC236}">
                <a16:creationId xmlns:a16="http://schemas.microsoft.com/office/drawing/2014/main" id="{32A2E6BC-9518-4523-8E2A-092771654B24}"/>
              </a:ext>
            </a:extLst>
          </p:cNvPr>
          <p:cNvSpPr>
            <a:spLocks xmlns:a="http://schemas.openxmlformats.org/drawingml/2006/main" noGrp="1"/>
          </p:cNvSpPr>
          <p:nvPr/>
        </p:nvSpPr>
        <p:spPr>
          <a:xfrm xmlns:a="http://schemas.openxmlformats.org/drawingml/2006/main">
            <a:off x="533400" y="5895975"/>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2D43"/>
                </a:solidFill>
                <a:latin typeface="Arial"/>
                <a:ea typeface="Arial"/>
                <a:cs typeface="Arial"/>
              </a:defRPr>
            </a:defPPr>
            <a:lvl1pPr>
              <a:defRPr sz="2100" b="1">
                <a:solidFill>
                  <a:srgbClr val="172D43"/>
                </a:solidFill>
                <a:latin typeface="Arial"/>
                <a:ea typeface="Arial"/>
                <a:cs typeface="Arial"/>
              </a:defRPr>
            </a:lvl1pPr>
            <a:lvl2pPr>
              <a:defRPr sz="2100" b="1">
                <a:solidFill>
                  <a:srgbClr val="172D43"/>
                </a:solidFill>
                <a:latin typeface="Arial"/>
                <a:ea typeface="Arial"/>
                <a:cs typeface="Arial"/>
              </a:defRPr>
            </a:lvl2pPr>
            <a:lvl3pPr>
              <a:defRPr sz="2100" b="1">
                <a:solidFill>
                  <a:srgbClr val="172D43"/>
                </a:solidFill>
                <a:latin typeface="Arial"/>
                <a:ea typeface="Arial"/>
                <a:cs typeface="Arial"/>
              </a:defRPr>
            </a:lvl3pPr>
            <a:lvl4pPr>
              <a:defRPr sz="2100" b="1">
                <a:solidFill>
                  <a:srgbClr val="172D43"/>
                </a:solidFill>
                <a:latin typeface="Arial"/>
                <a:ea typeface="Arial"/>
                <a:cs typeface="Arial"/>
              </a:defRPr>
            </a:lvl4pPr>
            <a:lvl5pPr>
              <a:defRPr sz="2100" b="1">
                <a:solidFill>
                  <a:srgbClr val="172D43"/>
                </a:solidFill>
                <a:latin typeface="Arial"/>
                <a:ea typeface="Arial"/>
                <a:cs typeface="Arial"/>
              </a:defRPr>
            </a:lvl5pPr>
            <a:lvl6pPr>
              <a:defRPr sz="2100" b="1">
                <a:solidFill>
                  <a:srgbClr val="172D43"/>
                </a:solidFill>
                <a:latin typeface="Arial"/>
                <a:ea typeface="Arial"/>
                <a:cs typeface="Arial"/>
              </a:defRPr>
            </a:lvl6pPr>
            <a:lvl7pPr>
              <a:defRPr sz="2100" b="1">
                <a:solidFill>
                  <a:srgbClr val="172D43"/>
                </a:solidFill>
                <a:latin typeface="Arial"/>
                <a:ea typeface="Arial"/>
                <a:cs typeface="Arial"/>
              </a:defRPr>
            </a:lvl7pPr>
            <a:lvl8pPr>
              <a:defRPr sz="2100" b="1">
                <a:solidFill>
                  <a:srgbClr val="172D43"/>
                </a:solidFill>
                <a:latin typeface="Arial"/>
                <a:ea typeface="Arial"/>
                <a:cs typeface="Arial"/>
              </a:defRPr>
            </a:lvl8pPr>
            <a:lvl9pPr>
              <a:defRPr sz="2100" b="1">
                <a:solidFill>
                  <a:srgbClr val="172D43"/>
                </a:solidFill>
                <a:latin typeface="Arial"/>
                <a:ea typeface="Arial"/>
                <a:cs typeface="Arial"/>
              </a:defRPr>
            </a:lvl9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K=1: 162.0 calls      K=5: 31.3 calls      K=50: 5.1 calls</a:t>
            </a:r>
          </a:p>
        </p:txBody>
      </p:sp>
      <p:sp>
        <p:nvSpPr>
          <p:cNvPr id="6" name="Means include failures. Episode lengths also dif">
            <a:extLst xmlns:a="http://schemas.openxmlformats.org/drawingml/2006/main">
              <a:ext uri="{FF2B5EF4-FFF2-40B4-BE49-F238E27FC236}">
                <a16:creationId xmlns:a16="http://schemas.microsoft.com/office/drawing/2014/main" id="{84D17D36-DF7E-4AC1-8C29-65DBB2C7DD3C}"/>
              </a:ext>
            </a:extLst>
          </p:cNvPr>
          <p:cNvSpPr>
            <a:spLocks xmlns:a="http://schemas.openxmlformats.org/drawingml/2006/main" noGrp="1"/>
          </p:cNvSpPr>
          <p:nvPr/>
        </p:nvSpPr>
        <p:spPr>
          <a:xfrm xmlns:a="http://schemas.openxmlformats.org/drawingml/2006/main">
            <a:off x="533400" y="63627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36779"/>
                </a:solidFill>
                <a:latin typeface="Arial"/>
                <a:ea typeface="Arial"/>
                <a:cs typeface="Arial"/>
              </a:defRPr>
            </a:defPPr>
            <a:lvl1pPr>
              <a:defRPr sz="1425" b="0">
                <a:solidFill>
                  <a:srgbClr val="536779"/>
                </a:solidFill>
                <a:latin typeface="Arial"/>
                <a:ea typeface="Arial"/>
                <a:cs typeface="Arial"/>
              </a:defRPr>
            </a:lvl1pPr>
            <a:lvl2pPr>
              <a:defRPr sz="1425" b="0">
                <a:solidFill>
                  <a:srgbClr val="536779"/>
                </a:solidFill>
                <a:latin typeface="Arial"/>
                <a:ea typeface="Arial"/>
                <a:cs typeface="Arial"/>
              </a:defRPr>
            </a:lvl2pPr>
            <a:lvl3pPr>
              <a:defRPr sz="1425" b="0">
                <a:solidFill>
                  <a:srgbClr val="536779"/>
                </a:solidFill>
                <a:latin typeface="Arial"/>
                <a:ea typeface="Arial"/>
                <a:cs typeface="Arial"/>
              </a:defRPr>
            </a:lvl3pPr>
            <a:lvl4pPr>
              <a:defRPr sz="1425" b="0">
                <a:solidFill>
                  <a:srgbClr val="536779"/>
                </a:solidFill>
                <a:latin typeface="Arial"/>
                <a:ea typeface="Arial"/>
                <a:cs typeface="Arial"/>
              </a:defRPr>
            </a:lvl4pPr>
            <a:lvl5pPr>
              <a:defRPr sz="1425" b="0">
                <a:solidFill>
                  <a:srgbClr val="536779"/>
                </a:solidFill>
                <a:latin typeface="Arial"/>
                <a:ea typeface="Arial"/>
                <a:cs typeface="Arial"/>
              </a:defRPr>
            </a:lvl5pPr>
            <a:lvl6pPr>
              <a:defRPr sz="1425" b="0">
                <a:solidFill>
                  <a:srgbClr val="536779"/>
                </a:solidFill>
                <a:latin typeface="Arial"/>
                <a:ea typeface="Arial"/>
                <a:cs typeface="Arial"/>
              </a:defRPr>
            </a:lvl6pPr>
            <a:lvl7pPr>
              <a:defRPr sz="1425" b="0">
                <a:solidFill>
                  <a:srgbClr val="536779"/>
                </a:solidFill>
                <a:latin typeface="Arial"/>
                <a:ea typeface="Arial"/>
                <a:cs typeface="Arial"/>
              </a:defRPr>
            </a:lvl7pPr>
            <a:lvl8pPr>
              <a:defRPr sz="1425" b="0">
                <a:solidFill>
                  <a:srgbClr val="536779"/>
                </a:solidFill>
                <a:latin typeface="Arial"/>
                <a:ea typeface="Arial"/>
                <a:cs typeface="Arial"/>
              </a:defRPr>
            </a:lvl8pPr>
            <a:lvl9pPr>
              <a:defRPr sz="1425" b="0">
                <a:solidFill>
                  <a:srgbClr val="536779"/>
                </a:solidFill>
                <a:latin typeface="Arial"/>
                <a:ea typeface="Arial"/>
                <a:cs typeface="Arial"/>
              </a:defRPr>
            </a:lvl9pPr>
          </a:lstStyle>
          <a:p xmlns:a="http://schemas.openxmlformats.org/drawingml/2006/main">
            <a:pPr>
              <a:defRPr sz="1425" b="0">
                <a:solidFill>
                  <a:srgbClr val="536779"/>
                </a:solidFill>
                <a:latin typeface="Arial"/>
                <a:ea typeface="Arial"/>
                <a:cs typeface="Arial"/>
              </a:defRPr>
            </a:pPr>
            <a:r>
              <a:rPr sz="1425" b="0">
                <a:solidFill>
                  <a:srgbClr val="536779"/>
                </a:solidFill>
                <a:latin typeface="Arial"/>
                <a:ea typeface="Arial"/>
                <a:cs typeface="Arial"/>
              </a:rPr>
              <a:t>Means include failures. Episode lengths also differ between settings.</a:t>
            </a:r>
          </a:p>
        </p:txBody>
      </p:sp>
    </p:spTree>
    <p:extLst>
      <p:ext uri="{BB962C8B-B14F-4D97-AF65-F5344CB8AC3E}">
        <p14:creationId xmlns:p14="http://schemas.microsoft.com/office/powerpoint/2010/main" val="286631316"/>
      </p:ext>
    </p:extLst>
  </p:cSld>
</p:sld>
</file>

<file path=ppt/slides/charts/_rels/added_chart1.xml.rels><Relationships xmlns="http://schemas.openxmlformats.org/package/2006/relationships"><Relationship Id="rIdChartSnapshot1" Type="http://schemas.openxmlformats.org/officeDocument/2006/relationships/package" Target="../../embeddings/chart-data-snapshot-001.xlsx"/></Relationships>
</file>

<file path=ppt/slides/charts/_rels/added_chart2.xml.rels><Relationships xmlns="http://schemas.openxmlformats.org/package/2006/relationships"><Relationship Id="rIdChartSnapshot1" Type="http://schemas.openxmlformats.org/officeDocument/2006/relationships/package" Target="../../embeddings/chart-data-snapshot-002.xlsx"/></Relationships>
</file>

<file path=ppt/slides/charts/_rels/added_chart3.xml.rels><Relationships xmlns="http://schemas.openxmlformats.org/package/2006/relationships"><Relationship Id="rIdChartSnapshot1" Type="http://schemas.openxmlformats.org/officeDocument/2006/relationships/package" Target="../../embeddings/chart-data-snapshot-003.xlsx"/></Relationships>
</file>

<file path=ppt/slides/charts/_rels/added_chart4.xml.rels><Relationships xmlns="http://schemas.openxmlformats.org/package/2006/relationships"><Relationship Id="rIdChartSnapshot1" Type="http://schemas.openxmlformats.org/officeDocument/2006/relationships/package" Target="../../embeddings/chart-data-snapshot-004.xlsx"/></Relationships>
</file>

<file path=ppt/slides/charts/added_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563A5"/>
                </a:solidFill>
              </a:rPr>
              <a:t>Soup transfer</a:t>
            </a:r>
          </a:p>
        </c:rich>
      </c:tx>
      <c:overlay val="0"/>
      <c:txPr>
        <a:bodyPr xmlns:a="http://schemas.openxmlformats.org/drawingml/2006/main" anchorCtr="1"/>
        <a:lstStyle xmlns:a="http://schemas.openxmlformats.org/drawingml/2006/main"/>
        <a:p xmlns:a="http://schemas.openxmlformats.org/drawingml/2006/main">
          <a:pPr>
            <a:defRPr sz="1950" b="1">
              <a:solidFill>
                <a:srgbClr val="2563A5"/>
              </a:solidFill>
            </a:defRPr>
          </a:pPr>
        </a:p>
      </c:txPr>
    </c:title>
    <c:plotArea>
      <c:barChart>
        <c:barDir val="col"/>
        <c:grouping val="clustered"/>
        <c:varyColors val="0"/>
        <c:ser>
          <c:idx val="0"/>
          <c:order val="0"/>
          <c:tx>
            <c:v>Soup transfer</c:v>
          </c:tx>
          <c:spPr>
            <a:solidFill xmlns:a="http://schemas.openxmlformats.org/drawingml/2006/main">
              <a:srgbClr val="2563A5"/>
            </a:solidFill>
          </c:spPr>
          <c:invertIfNegative val="0"/>
          <c:cat>
            <c:numRef>
              <c:f>'Chart Data'!$A$2:$A$6</c:f>
              <c:numCache>
                <c:formatCode>General</c:formatCode>
                <c:ptCount val="5"/>
                <c:pt idx="0">
                  <c:v>1</c:v>
                </c:pt>
                <c:pt idx="1">
                  <c:v>5</c:v>
                </c:pt>
                <c:pt idx="2">
                  <c:v>10</c:v>
                </c:pt>
                <c:pt idx="3">
                  <c:v>25</c:v>
                </c:pt>
                <c:pt idx="4">
                  <c:v>50</c:v>
                </c:pt>
              </c:numCache>
            </c:numRef>
          </c:cat>
          <c:val>
            <c:numRef>
              <c:f>'Chart Data'!$B$2:$B$6</c:f>
              <c:numCache>
                <c:formatCode>0%</c:formatCode>
                <c:ptCount val="5"/>
                <c:pt idx="0">
                  <c:v>0.6</c:v>
                </c:pt>
                <c:pt idx="1">
                  <c:v>0.9</c:v>
                </c:pt>
                <c:pt idx="2">
                  <c:v>1</c:v>
                </c:pt>
                <c:pt idx="3">
                  <c:v>0.6</c:v>
                </c:pt>
                <c:pt idx="4">
                  <c:v>0.3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72D43"/>
                  </a:solidFil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72D43"/>
                    </a:solidFill>
                  </a:rPr>
                  <a:t>Execution interval K</a:t>
                </a:r>
              </a:p>
            </c:rich>
          </c:tx>
          <c:overlay val="0"/>
          <c:txPr>
            <a:bodyPr xmlns:a="http://schemas.openxmlformats.org/drawingml/2006/main" anchorCtr="1"/>
            <a:lstStyle xmlns:a="http://schemas.openxmlformats.org/drawingml/2006/main"/>
            <a:p xmlns:a="http://schemas.openxmlformats.org/drawingml/2006/main">
              <a:pPr>
                <a:defRPr sz="1500">
                  <a:solidFill>
                    <a:srgbClr val="172D43"/>
                  </a:solidFill>
                </a:defRPr>
              </a:pPr>
            </a:p>
          </c:txPr>
        </c:title>
        <c:numFmt formatCode="General"/>
        <c:majorTickMark val="none"/>
        <c:minorTickMark val="none"/>
        <c:spPr>
          <a:ln xmlns:a="http://schemas.openxmlformats.org/drawingml/2006/main" w="9525">
            <a:solidFill>
              <a:srgbClr val="DCE5EC"/>
            </a:solid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72768"/>
      </c:catAx>
      <c:valAx>
        <c:axId val="48672768"/>
        <c:scaling>
          <c:orientation val="minMax"/>
          <c:max val="1.1"/>
          <c:min val="0"/>
        </c:scaling>
        <c:delete val="0"/>
        <c:axPos val="l"/>
        <c:majorGridlines>
          <c:spPr>
            <a:ln xmlns:a="http://schemas.openxmlformats.org/drawingml/2006/main" w="9525">
              <a:solidFill>
                <a:srgbClr val="DCE5EC"/>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added_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563A5"/>
                </a:solidFill>
              </a:rPr>
              <a:t>Bowl placement</a:t>
            </a:r>
          </a:p>
        </c:rich>
      </c:tx>
      <c:overlay val="0"/>
      <c:txPr>
        <a:bodyPr xmlns:a="http://schemas.openxmlformats.org/drawingml/2006/main" anchorCtr="1"/>
        <a:lstStyle xmlns:a="http://schemas.openxmlformats.org/drawingml/2006/main"/>
        <a:p xmlns:a="http://schemas.openxmlformats.org/drawingml/2006/main">
          <a:pPr>
            <a:defRPr sz="1950" b="1">
              <a:solidFill>
                <a:srgbClr val="2563A5"/>
              </a:solidFill>
            </a:defRPr>
          </a:pPr>
        </a:p>
      </c:txPr>
    </c:title>
    <c:plotArea>
      <c:barChart>
        <c:barDir val="col"/>
        <c:grouping val="clustered"/>
        <c:varyColors val="0"/>
        <c:ser>
          <c:idx val="0"/>
          <c:order val="0"/>
          <c:tx>
            <c:v>Bowl placement</c:v>
          </c:tx>
          <c:spPr>
            <a:solidFill xmlns:a="http://schemas.openxmlformats.org/drawingml/2006/main">
              <a:srgbClr val="2563A5"/>
            </a:solidFill>
          </c:spPr>
          <c:invertIfNegative val="0"/>
          <c:cat>
            <c:numRef>
              <c:f>'Chart Data'!$A$2:$A$6</c:f>
              <c:numCache>
                <c:formatCode>General</c:formatCode>
                <c:ptCount val="5"/>
                <c:pt idx="0">
                  <c:v>1</c:v>
                </c:pt>
                <c:pt idx="1">
                  <c:v>5</c:v>
                </c:pt>
                <c:pt idx="2">
                  <c:v>10</c:v>
                </c:pt>
                <c:pt idx="3">
                  <c:v>25</c:v>
                </c:pt>
                <c:pt idx="4">
                  <c:v>50</c:v>
                </c:pt>
              </c:numCache>
            </c:numRef>
          </c:cat>
          <c:val>
            <c:numRef>
              <c:f>'Chart Data'!$B$2:$B$6</c:f>
              <c:numCache>
                <c:formatCode>0%</c:formatCode>
                <c:ptCount val="5"/>
                <c:pt idx="0">
                  <c:v>0.8</c:v>
                </c:pt>
                <c:pt idx="1">
                  <c:v>0.7</c:v>
                </c:pt>
                <c:pt idx="2">
                  <c:v>0.4</c:v>
                </c:pt>
                <c:pt idx="3">
                  <c:v>0.4</c:v>
                </c:pt>
                <c:pt idx="4">
                  <c:v>0.3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72D43"/>
                  </a:solidFil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72D43"/>
                    </a:solidFill>
                  </a:rPr>
                  <a:t>Execution interval K</a:t>
                </a:r>
              </a:p>
            </c:rich>
          </c:tx>
          <c:overlay val="0"/>
          <c:txPr>
            <a:bodyPr xmlns:a="http://schemas.openxmlformats.org/drawingml/2006/main" anchorCtr="1"/>
            <a:lstStyle xmlns:a="http://schemas.openxmlformats.org/drawingml/2006/main"/>
            <a:p xmlns:a="http://schemas.openxmlformats.org/drawingml/2006/main">
              <a:pPr>
                <a:defRPr sz="1500">
                  <a:solidFill>
                    <a:srgbClr val="172D43"/>
                  </a:solidFill>
                </a:defRPr>
              </a:pPr>
            </a:p>
          </c:txPr>
        </c:title>
        <c:numFmt formatCode="General"/>
        <c:majorTickMark val="none"/>
        <c:minorTickMark val="none"/>
        <c:spPr>
          <a:ln xmlns:a="http://schemas.openxmlformats.org/drawingml/2006/main" w="9525">
            <a:solidFill>
              <a:srgbClr val="DCE5EC"/>
            </a:solid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72768"/>
      </c:catAx>
      <c:valAx>
        <c:axId val="48672768"/>
        <c:scaling>
          <c:orientation val="minMax"/>
          <c:max val="1.1"/>
          <c:min val="0"/>
        </c:scaling>
        <c:delete val="0"/>
        <c:axPos val="l"/>
        <c:majorGridlines>
          <c:spPr>
            <a:ln xmlns:a="http://schemas.openxmlformats.org/drawingml/2006/main" w="9525">
              <a:solidFill>
                <a:srgbClr val="DCE5EC"/>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added_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563A5"/>
                </a:solidFill>
              </a:rPr>
              <a:t>Drawer opening</a:t>
            </a:r>
          </a:p>
        </c:rich>
      </c:tx>
      <c:overlay val="0"/>
      <c:txPr>
        <a:bodyPr xmlns:a="http://schemas.openxmlformats.org/drawingml/2006/main" anchorCtr="1"/>
        <a:lstStyle xmlns:a="http://schemas.openxmlformats.org/drawingml/2006/main"/>
        <a:p xmlns:a="http://schemas.openxmlformats.org/drawingml/2006/main">
          <a:pPr>
            <a:defRPr sz="1950" b="1">
              <a:solidFill>
                <a:srgbClr val="2563A5"/>
              </a:solidFill>
            </a:defRPr>
          </a:pPr>
        </a:p>
      </c:txPr>
    </c:title>
    <c:plotArea>
      <c:barChart>
        <c:barDir val="col"/>
        <c:grouping val="clustered"/>
        <c:varyColors val="0"/>
        <c:ser>
          <c:idx val="0"/>
          <c:order val="0"/>
          <c:tx>
            <c:v>Drawer opening</c:v>
          </c:tx>
          <c:spPr>
            <a:solidFill xmlns:a="http://schemas.openxmlformats.org/drawingml/2006/main">
              <a:srgbClr val="2563A5"/>
            </a:solidFill>
          </c:spPr>
          <c:invertIfNegative val="0"/>
          <c:cat>
            <c:numRef>
              <c:f>'Chart Data'!$A$2:$A$6</c:f>
              <c:numCache>
                <c:formatCode>General</c:formatCode>
                <c:ptCount val="5"/>
                <c:pt idx="0">
                  <c:v>1</c:v>
                </c:pt>
                <c:pt idx="1">
                  <c:v>5</c:v>
                </c:pt>
                <c:pt idx="2">
                  <c:v>10</c:v>
                </c:pt>
                <c:pt idx="3">
                  <c:v>25</c:v>
                </c:pt>
                <c:pt idx="4">
                  <c:v>50</c:v>
                </c:pt>
              </c:numCache>
            </c:numRef>
          </c:cat>
          <c:val>
            <c:numRef>
              <c:f>'Chart Data'!$B$2:$B$6</c:f>
              <c:numCache>
                <c:formatCode>0%</c:formatCode>
                <c:ptCount val="5"/>
                <c:pt idx="0">
                  <c:v>0.9</c:v>
                </c:pt>
                <c:pt idx="1">
                  <c:v>1</c:v>
                </c:pt>
                <c:pt idx="2">
                  <c:v>1</c:v>
                </c:pt>
                <c:pt idx="3">
                  <c:v>0.1</c:v>
                </c:pt>
                <c:pt idx="4">
                  <c:v>0.3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72D43"/>
                  </a:solidFil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72D43"/>
                    </a:solidFill>
                  </a:rPr>
                  <a:t>Execution interval K</a:t>
                </a:r>
              </a:p>
            </c:rich>
          </c:tx>
          <c:overlay val="0"/>
          <c:txPr>
            <a:bodyPr xmlns:a="http://schemas.openxmlformats.org/drawingml/2006/main" anchorCtr="1"/>
            <a:lstStyle xmlns:a="http://schemas.openxmlformats.org/drawingml/2006/main"/>
            <a:p xmlns:a="http://schemas.openxmlformats.org/drawingml/2006/main">
              <a:pPr>
                <a:defRPr sz="1500">
                  <a:solidFill>
                    <a:srgbClr val="172D43"/>
                  </a:solidFill>
                </a:defRPr>
              </a:pPr>
            </a:p>
          </c:txPr>
        </c:title>
        <c:numFmt formatCode="General"/>
        <c:majorTickMark val="none"/>
        <c:minorTickMark val="none"/>
        <c:spPr>
          <a:ln xmlns:a="http://schemas.openxmlformats.org/drawingml/2006/main" w="9525">
            <a:solidFill>
              <a:srgbClr val="DCE5EC"/>
            </a:solid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72768"/>
      </c:catAx>
      <c:valAx>
        <c:axId val="48672768"/>
        <c:scaling>
          <c:orientation val="minMax"/>
          <c:max val="1.1"/>
          <c:min val="0"/>
        </c:scaling>
        <c:delete val="0"/>
        <c:axPos val="l"/>
        <c:majorGridlines>
          <c:spPr>
            <a:ln xmlns:a="http://schemas.openxmlformats.org/drawingml/2006/main" w="9525">
              <a:solidFill>
                <a:srgbClr val="DCE5EC"/>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added_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563A5"/>
                </a:solidFill>
              </a:rPr>
              <a:t>Mean model calls per episode</a:t>
            </a:r>
          </a:p>
        </c:rich>
      </c:tx>
      <c:overlay val="0"/>
      <c:txPr>
        <a:bodyPr xmlns:a="http://schemas.openxmlformats.org/drawingml/2006/main" anchorCtr="1"/>
        <a:lstStyle xmlns:a="http://schemas.openxmlformats.org/drawingml/2006/main"/>
        <a:p xmlns:a="http://schemas.openxmlformats.org/drawingml/2006/main">
          <a:pPr>
            <a:defRPr sz="1950" b="1">
              <a:solidFill>
                <a:srgbClr val="2563A5"/>
              </a:solidFill>
            </a:defRPr>
          </a:pPr>
        </a:p>
      </c:txPr>
    </c:title>
    <c:plotArea>
      <c:barChart>
        <c:barDir val="col"/>
        <c:grouping val="clustered"/>
        <c:varyColors val="0"/>
        <c:ser>
          <c:idx val="0"/>
          <c:order val="0"/>
          <c:tx>
            <c:v>Mean model calls per episode</c:v>
          </c:tx>
          <c:spPr>
            <a:solidFill xmlns:a="http://schemas.openxmlformats.org/drawingml/2006/main">
              <a:srgbClr val="2563A5"/>
            </a:solidFill>
          </c:spPr>
          <c:invertIfNegative val="0"/>
          <c:cat>
            <c:numRef>
              <c:f>'Chart Data'!$A$2:$A$6</c:f>
              <c:numCache>
                <c:formatCode>General</c:formatCode>
                <c:ptCount val="5"/>
                <c:pt idx="0">
                  <c:v>1</c:v>
                </c:pt>
                <c:pt idx="1">
                  <c:v>5</c:v>
                </c:pt>
                <c:pt idx="2">
                  <c:v>10</c:v>
                </c:pt>
                <c:pt idx="3">
                  <c:v>25</c:v>
                </c:pt>
                <c:pt idx="4">
                  <c:v>50</c:v>
                </c:pt>
              </c:numCache>
            </c:numRef>
          </c:cat>
          <c:val>
            <c:numRef>
              <c:f>'Chart Data'!$B$2:$B$6</c:f>
              <c:numCache>
                <c:formatCode>0</c:formatCode>
                <c:ptCount val="5"/>
                <c:pt idx="0">
                  <c:v>162.033333</c:v>
                </c:pt>
                <c:pt idx="1">
                  <c:v>31.333333</c:v>
                </c:pt>
                <c:pt idx="2">
                  <c:v>15.5</c:v>
                </c:pt>
                <c:pt idx="3">
                  <c:v>9.6</c:v>
                </c:pt>
                <c:pt idx="4">
                  <c:v>5.1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2D43"/>
                  </a:solidFil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72D43"/>
                    </a:solidFill>
                  </a:rPr>
                  <a:t>Actions executed before replanning, K</a:t>
                </a:r>
              </a:p>
            </c:rich>
          </c:tx>
          <c:overlay val="0"/>
          <c:txPr>
            <a:bodyPr xmlns:a="http://schemas.openxmlformats.org/drawingml/2006/main" anchorCtr="1"/>
            <a:lstStyle xmlns:a="http://schemas.openxmlformats.org/drawingml/2006/main"/>
            <a:p xmlns:a="http://schemas.openxmlformats.org/drawingml/2006/main">
              <a:pPr>
                <a:defRPr sz="1500">
                  <a:solidFill>
                    <a:srgbClr val="172D43"/>
                  </a:solidFill>
                </a:defRPr>
              </a:pPr>
            </a:p>
          </c:txPr>
        </c:title>
        <c:numFmt formatCode="General"/>
        <c:majorTickMark val="none"/>
        <c:minorTickMark val="none"/>
        <c:spPr>
          <a:ln xmlns:a="http://schemas.openxmlformats.org/drawingml/2006/main" w="9525">
            <a:solidFill>
              <a:srgbClr val="DCE5EC"/>
            </a:solid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72768"/>
      </c:catAx>
      <c:valAx>
        <c:axId val="48672768"/>
        <c:scaling>
          <c:orientation val="minMax"/>
          <c:max val="180"/>
          <c:min val="0"/>
        </c:scaling>
        <c:delete val="0"/>
        <c:axPos val="l"/>
        <c:majorGridlines>
          <c:spPr>
            <a:ln xmlns:a="http://schemas.openxmlformats.org/drawingml/2006/main" w="9525">
              <a:solidFill>
                <a:srgbClr val="DCE5EC"/>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779"/>
                </a:solidFill>
              </a:defRPr>
            </a:pPr>
          </a:p>
        </c:txPr>
        <c:crossAx val="48650112"/>
        <c:crossBetween val="between"/>
        <c:majorUnit val="3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83F"/>
        </a:solidFill>
      </p:bgPr>
    </p:bg>
    <p:spTree>
      <p:nvGrpSpPr>
        <p:cNvPr id="1" name=""/>
        <p:cNvGrpSpPr/>
        <p:nvPr/>
      </p:nvGrpSpPr>
      <p:grpSpPr>
        <a:xfrm xmlns:a="http://schemas.openxmlformats.org/drawingml/2006/main"/>
      </p:grpSpPr>
      <p:sp>
        <p:nvSpPr>
          <p:cNvPr id="7" name="VISION–LANGUAGE–ACTION ROBOTICS">
            <a:extLst xmlns:a="http://schemas.openxmlformats.org/drawingml/2006/main">
              <a:ext uri="{FF2B5EF4-FFF2-40B4-BE49-F238E27FC236}">
                <a16:creationId xmlns:a16="http://schemas.microsoft.com/office/drawing/2014/main" id="{FCCEB955-5AD5-4F38-AA13-00636AFB7609}"/>
              </a:ext>
            </a:extLst>
          </p:cNvPr>
          <p:cNvSpPr>
            <a:spLocks xmlns:a="http://schemas.openxmlformats.org/drawingml/2006/main" noGrp="1"/>
          </p:cNvSpPr>
          <p:nvPr/>
        </p:nvSpPr>
        <p:spPr>
          <a:xfrm xmlns:a="http://schemas.openxmlformats.org/drawingml/2006/main">
            <a:off x="609600" y="5334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C0D1DF"/>
                </a:solidFill>
                <a:latin typeface="Arial"/>
                <a:ea typeface="Arial"/>
                <a:cs typeface="Arial"/>
              </a:defRPr>
            </a:defPPr>
            <a:lvl1pPr algn="l">
              <a:defRPr sz="1425" b="1">
                <a:solidFill>
                  <a:srgbClr val="C0D1DF"/>
                </a:solidFill>
                <a:latin typeface="Arial"/>
                <a:ea typeface="Arial"/>
                <a:cs typeface="Arial"/>
              </a:defRPr>
            </a:lvl1pPr>
            <a:lvl2pPr algn="l">
              <a:defRPr sz="1425" b="1">
                <a:solidFill>
                  <a:srgbClr val="C0D1DF"/>
                </a:solidFill>
                <a:latin typeface="Arial"/>
                <a:ea typeface="Arial"/>
                <a:cs typeface="Arial"/>
              </a:defRPr>
            </a:lvl2pPr>
            <a:lvl3pPr algn="l">
              <a:defRPr sz="1425" b="1">
                <a:solidFill>
                  <a:srgbClr val="C0D1DF"/>
                </a:solidFill>
                <a:latin typeface="Arial"/>
                <a:ea typeface="Arial"/>
                <a:cs typeface="Arial"/>
              </a:defRPr>
            </a:lvl3pPr>
            <a:lvl4pPr algn="l">
              <a:defRPr sz="1425" b="1">
                <a:solidFill>
                  <a:srgbClr val="C0D1DF"/>
                </a:solidFill>
                <a:latin typeface="Arial"/>
                <a:ea typeface="Arial"/>
                <a:cs typeface="Arial"/>
              </a:defRPr>
            </a:lvl4pPr>
            <a:lvl5pPr algn="l">
              <a:defRPr sz="1425" b="1">
                <a:solidFill>
                  <a:srgbClr val="C0D1DF"/>
                </a:solidFill>
                <a:latin typeface="Arial"/>
                <a:ea typeface="Arial"/>
                <a:cs typeface="Arial"/>
              </a:defRPr>
            </a:lvl5pPr>
            <a:lvl6pPr algn="l">
              <a:defRPr sz="1425" b="1">
                <a:solidFill>
                  <a:srgbClr val="C0D1DF"/>
                </a:solidFill>
                <a:latin typeface="Arial"/>
                <a:ea typeface="Arial"/>
                <a:cs typeface="Arial"/>
              </a:defRPr>
            </a:lvl6pPr>
            <a:lvl7pPr algn="l">
              <a:defRPr sz="1425" b="1">
                <a:solidFill>
                  <a:srgbClr val="C0D1DF"/>
                </a:solidFill>
                <a:latin typeface="Arial"/>
                <a:ea typeface="Arial"/>
                <a:cs typeface="Arial"/>
              </a:defRPr>
            </a:lvl7pPr>
            <a:lvl8pPr algn="l">
              <a:defRPr sz="1425" b="1">
                <a:solidFill>
                  <a:srgbClr val="C0D1DF"/>
                </a:solidFill>
                <a:latin typeface="Arial"/>
                <a:ea typeface="Arial"/>
                <a:cs typeface="Arial"/>
              </a:defRPr>
            </a:lvl8pPr>
            <a:lvl9pPr algn="l">
              <a:defRPr sz="1425" b="1">
                <a:solidFill>
                  <a:srgbClr val="C0D1DF"/>
                </a:solidFill>
                <a:latin typeface="Arial"/>
                <a:ea typeface="Arial"/>
                <a:cs typeface="Arial"/>
              </a:defRPr>
            </a:lvl9pPr>
          </a:lstStyle>
          <a:p xmlns:a="http://schemas.openxmlformats.org/drawingml/2006/main">
            <a:pPr algn="l">
              <a:defRPr sz="1425" b="1">
                <a:solidFill>
                  <a:srgbClr val="C0D1DF"/>
                </a:solidFill>
                <a:latin typeface="Arial"/>
                <a:ea typeface="Arial"/>
                <a:cs typeface="Arial"/>
              </a:defRPr>
            </a:pPr>
            <a:r>
              <a:rPr sz="1425" b="1">
                <a:solidFill>
                  <a:srgbClr val="C0D1DF"/>
                </a:solidFill>
                <a:latin typeface="Arial"/>
                <a:ea typeface="Arial"/>
                <a:cs typeface="Arial"/>
              </a:rPr>
              <a:t>VISION–LANGUAGE–ACTION ROBOTICS</a:t>
            </a:r>
          </a:p>
        </p:txBody>
      </p:sp>
      <p:sp>
        <p:nvSpPr>
          <p:cNvPr id="2" name="Presentation title">
            <a:extLst xmlns:a="http://schemas.openxmlformats.org/drawingml/2006/main">
              <a:ext uri="{FF2B5EF4-FFF2-40B4-BE49-F238E27FC236}">
                <a16:creationId xmlns:a16="http://schemas.microsoft.com/office/drawing/2014/main" id="{F91EB447-1957-4B82-87B4-A06B6A373F3A}"/>
              </a:ext>
            </a:extLst>
          </p:cNvPr>
          <p:cNvSpPr>
            <a:spLocks xmlns:a="http://schemas.openxmlformats.org/drawingml/2006/main" noGrp="1"/>
          </p:cNvSpPr>
          <p:nvPr/>
        </p:nvSpPr>
        <p:spPr>
          <a:xfrm xmlns:a="http://schemas.openxmlformats.org/drawingml/2006/main">
            <a:off x="609600" y="1323975"/>
            <a:ext cx="1095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How often should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a robot replan?</a:t>
            </a:r>
          </a:p>
        </p:txBody>
      </p:sp>
      <p:sp>
        <p:nvSpPr>
          <p:cNvPr id="3" name="RESEARCH QUESTION">
            <a:extLst xmlns:a="http://schemas.openxmlformats.org/drawingml/2006/main">
              <a:ext uri="{FF2B5EF4-FFF2-40B4-BE49-F238E27FC236}">
                <a16:creationId xmlns:a16="http://schemas.microsoft.com/office/drawing/2014/main" id="{107AAAFB-5B84-4CDE-816A-1BA4FB08F73F}"/>
              </a:ext>
            </a:extLst>
          </p:cNvPr>
          <p:cNvSpPr>
            <a:spLocks xmlns:a="http://schemas.openxmlformats.org/drawingml/2006/main" noGrp="1"/>
          </p:cNvSpPr>
          <p:nvPr/>
        </p:nvSpPr>
        <p:spPr>
          <a:xfrm xmlns:a="http://schemas.openxmlformats.org/drawingml/2006/main">
            <a:off x="647700" y="37528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F2AA70"/>
                </a:solidFill>
                <a:latin typeface="Arial"/>
                <a:ea typeface="Arial"/>
                <a:cs typeface="Arial"/>
              </a:defRPr>
            </a:defPPr>
            <a:lvl1pPr algn="l">
              <a:defRPr sz="1350" b="1">
                <a:solidFill>
                  <a:srgbClr val="F2AA70"/>
                </a:solidFill>
                <a:latin typeface="Arial"/>
                <a:ea typeface="Arial"/>
                <a:cs typeface="Arial"/>
              </a:defRPr>
            </a:lvl1pPr>
            <a:lvl2pPr algn="l">
              <a:defRPr sz="1350" b="1">
                <a:solidFill>
                  <a:srgbClr val="F2AA70"/>
                </a:solidFill>
                <a:latin typeface="Arial"/>
                <a:ea typeface="Arial"/>
                <a:cs typeface="Arial"/>
              </a:defRPr>
            </a:lvl2pPr>
            <a:lvl3pPr algn="l">
              <a:defRPr sz="1350" b="1">
                <a:solidFill>
                  <a:srgbClr val="F2AA70"/>
                </a:solidFill>
                <a:latin typeface="Arial"/>
                <a:ea typeface="Arial"/>
                <a:cs typeface="Arial"/>
              </a:defRPr>
            </a:lvl3pPr>
            <a:lvl4pPr algn="l">
              <a:defRPr sz="1350" b="1">
                <a:solidFill>
                  <a:srgbClr val="F2AA70"/>
                </a:solidFill>
                <a:latin typeface="Arial"/>
                <a:ea typeface="Arial"/>
                <a:cs typeface="Arial"/>
              </a:defRPr>
            </a:lvl4pPr>
            <a:lvl5pPr algn="l">
              <a:defRPr sz="1350" b="1">
                <a:solidFill>
                  <a:srgbClr val="F2AA70"/>
                </a:solidFill>
                <a:latin typeface="Arial"/>
                <a:ea typeface="Arial"/>
                <a:cs typeface="Arial"/>
              </a:defRPr>
            </a:lvl5pPr>
            <a:lvl6pPr algn="l">
              <a:defRPr sz="1350" b="1">
                <a:solidFill>
                  <a:srgbClr val="F2AA70"/>
                </a:solidFill>
                <a:latin typeface="Arial"/>
                <a:ea typeface="Arial"/>
                <a:cs typeface="Arial"/>
              </a:defRPr>
            </a:lvl6pPr>
            <a:lvl7pPr algn="l">
              <a:defRPr sz="1350" b="1">
                <a:solidFill>
                  <a:srgbClr val="F2AA70"/>
                </a:solidFill>
                <a:latin typeface="Arial"/>
                <a:ea typeface="Arial"/>
                <a:cs typeface="Arial"/>
              </a:defRPr>
            </a:lvl7pPr>
            <a:lvl8pPr algn="l">
              <a:defRPr sz="1350" b="1">
                <a:solidFill>
                  <a:srgbClr val="F2AA70"/>
                </a:solidFill>
                <a:latin typeface="Arial"/>
                <a:ea typeface="Arial"/>
                <a:cs typeface="Arial"/>
              </a:defRPr>
            </a:lvl8pPr>
            <a:lvl9pPr algn="l">
              <a:defRPr sz="1350" b="1">
                <a:solidFill>
                  <a:srgbClr val="F2AA70"/>
                </a:solidFill>
                <a:latin typeface="Arial"/>
                <a:ea typeface="Arial"/>
                <a:cs typeface="Arial"/>
              </a:defRPr>
            </a:lvl9pPr>
          </a:lstStyle>
          <a:p xmlns:a="http://schemas.openxmlformats.org/drawingml/2006/main">
            <a:pPr algn="l">
              <a:defRPr sz="1350" b="1">
                <a:solidFill>
                  <a:srgbClr val="F2AA70"/>
                </a:solidFill>
                <a:latin typeface="Arial"/>
                <a:ea typeface="Arial"/>
                <a:cs typeface="Arial"/>
              </a:defRPr>
            </a:pPr>
            <a:r>
              <a:rPr sz="1350" b="1">
                <a:solidFill>
                  <a:srgbClr val="F2AA70"/>
                </a:solidFill>
                <a:latin typeface="Arial"/>
                <a:ea typeface="Arial"/>
                <a:cs typeface="Arial"/>
              </a:rPr>
              <a:t>RESEARCH QUESTION</a:t>
            </a:r>
          </a:p>
        </p:txBody>
      </p:sp>
      <p:sp>
        <p:nvSpPr>
          <p:cNvPr id="4" name="How does replanning frequency change&#10;task succes">
            <a:extLst xmlns:a="http://schemas.openxmlformats.org/drawingml/2006/main">
              <a:ext uri="{FF2B5EF4-FFF2-40B4-BE49-F238E27FC236}">
                <a16:creationId xmlns:a16="http://schemas.microsoft.com/office/drawing/2014/main" id="{B9597D95-9019-47D7-918A-F099288FBF7E}"/>
              </a:ext>
            </a:extLst>
          </p:cNvPr>
          <p:cNvSpPr>
            <a:spLocks xmlns:a="http://schemas.openxmlformats.org/drawingml/2006/main" noGrp="1"/>
          </p:cNvSpPr>
          <p:nvPr/>
        </p:nvSpPr>
        <p:spPr>
          <a:xfrm xmlns:a="http://schemas.openxmlformats.org/drawingml/2006/main">
            <a:off x="609600" y="415290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FFFFFF"/>
                </a:solidFill>
                <a:latin typeface="Arial"/>
                <a:ea typeface="Arial"/>
                <a:cs typeface="Arial"/>
              </a:defRPr>
            </a:defPPr>
            <a:lvl1pPr algn="l">
              <a:defRPr sz="2625" b="0">
                <a:solidFill>
                  <a:srgbClr val="FFFFFF"/>
                </a:solidFill>
                <a:latin typeface="Arial"/>
                <a:ea typeface="Arial"/>
                <a:cs typeface="Arial"/>
              </a:defRPr>
            </a:lvl1pPr>
            <a:lvl2pPr algn="l">
              <a:defRPr sz="2625" b="0">
                <a:solidFill>
                  <a:srgbClr val="FFFFFF"/>
                </a:solidFill>
                <a:latin typeface="Arial"/>
                <a:ea typeface="Arial"/>
                <a:cs typeface="Arial"/>
              </a:defRPr>
            </a:lvl2pPr>
            <a:lvl3pPr algn="l">
              <a:defRPr sz="2625" b="0">
                <a:solidFill>
                  <a:srgbClr val="FFFFFF"/>
                </a:solidFill>
                <a:latin typeface="Arial"/>
                <a:ea typeface="Arial"/>
                <a:cs typeface="Arial"/>
              </a:defRPr>
            </a:lvl3pPr>
            <a:lvl4pPr algn="l">
              <a:defRPr sz="2625" b="0">
                <a:solidFill>
                  <a:srgbClr val="FFFFFF"/>
                </a:solidFill>
                <a:latin typeface="Arial"/>
                <a:ea typeface="Arial"/>
                <a:cs typeface="Arial"/>
              </a:defRPr>
            </a:lvl4pPr>
            <a:lvl5pPr algn="l">
              <a:defRPr sz="2625" b="0">
                <a:solidFill>
                  <a:srgbClr val="FFFFFF"/>
                </a:solidFill>
                <a:latin typeface="Arial"/>
                <a:ea typeface="Arial"/>
                <a:cs typeface="Arial"/>
              </a:defRPr>
            </a:lvl5pPr>
            <a:lvl6pPr algn="l">
              <a:defRPr sz="2625" b="0">
                <a:solidFill>
                  <a:srgbClr val="FFFFFF"/>
                </a:solidFill>
                <a:latin typeface="Arial"/>
                <a:ea typeface="Arial"/>
                <a:cs typeface="Arial"/>
              </a:defRPr>
            </a:lvl6pPr>
            <a:lvl7pPr algn="l">
              <a:defRPr sz="2625" b="0">
                <a:solidFill>
                  <a:srgbClr val="FFFFFF"/>
                </a:solidFill>
                <a:latin typeface="Arial"/>
                <a:ea typeface="Arial"/>
                <a:cs typeface="Arial"/>
              </a:defRPr>
            </a:lvl7pPr>
            <a:lvl8pPr algn="l">
              <a:defRPr sz="2625" b="0">
                <a:solidFill>
                  <a:srgbClr val="FFFFFF"/>
                </a:solidFill>
                <a:latin typeface="Arial"/>
                <a:ea typeface="Arial"/>
                <a:cs typeface="Arial"/>
              </a:defRPr>
            </a:lvl8pPr>
            <a:lvl9pPr algn="l">
              <a:defRPr sz="2625" b="0">
                <a:solidFill>
                  <a:srgbClr val="FFFFFF"/>
                </a:solidFill>
                <a:latin typeface="Arial"/>
                <a:ea typeface="Arial"/>
                <a:cs typeface="Arial"/>
              </a:defRPr>
            </a:lvl9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How does replanning frequency change</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task success and model-call cost?</a:t>
            </a:r>
          </a:p>
        </p:txBody>
      </p:sp>
      <p:sp>
        <p:nvSpPr>
          <p:cNvPr id="5" name="Pretrained SmolVLA in the LIBERO simulator">
            <a:extLst xmlns:a="http://schemas.openxmlformats.org/drawingml/2006/main">
              <a:ext uri="{FF2B5EF4-FFF2-40B4-BE49-F238E27FC236}">
                <a16:creationId xmlns:a16="http://schemas.microsoft.com/office/drawing/2014/main" id="{73296A08-1D6E-43FC-A56D-9EA198C1ABBE}"/>
              </a:ext>
            </a:extLst>
          </p:cNvPr>
          <p:cNvSpPr>
            <a:spLocks xmlns:a="http://schemas.openxmlformats.org/drawingml/2006/main" noGrp="1"/>
          </p:cNvSpPr>
          <p:nvPr/>
        </p:nvSpPr>
        <p:spPr>
          <a:xfrm xmlns:a="http://schemas.openxmlformats.org/drawingml/2006/main">
            <a:off x="609600" y="5305425"/>
            <a:ext cx="10744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D1DF"/>
                </a:solidFill>
                <a:latin typeface="Arial"/>
                <a:ea typeface="Arial"/>
                <a:cs typeface="Arial"/>
              </a:defRPr>
            </a:defPPr>
            <a:lvl1pPr algn="l">
              <a:defRPr sz="1725" b="0">
                <a:solidFill>
                  <a:srgbClr val="C0D1DF"/>
                </a:solidFill>
                <a:latin typeface="Arial"/>
                <a:ea typeface="Arial"/>
                <a:cs typeface="Arial"/>
              </a:defRPr>
            </a:lvl1pPr>
            <a:lvl2pPr algn="l">
              <a:defRPr sz="1725" b="0">
                <a:solidFill>
                  <a:srgbClr val="C0D1DF"/>
                </a:solidFill>
                <a:latin typeface="Arial"/>
                <a:ea typeface="Arial"/>
                <a:cs typeface="Arial"/>
              </a:defRPr>
            </a:lvl2pPr>
            <a:lvl3pPr algn="l">
              <a:defRPr sz="1725" b="0">
                <a:solidFill>
                  <a:srgbClr val="C0D1DF"/>
                </a:solidFill>
                <a:latin typeface="Arial"/>
                <a:ea typeface="Arial"/>
                <a:cs typeface="Arial"/>
              </a:defRPr>
            </a:lvl3pPr>
            <a:lvl4pPr algn="l">
              <a:defRPr sz="1725" b="0">
                <a:solidFill>
                  <a:srgbClr val="C0D1DF"/>
                </a:solidFill>
                <a:latin typeface="Arial"/>
                <a:ea typeface="Arial"/>
                <a:cs typeface="Arial"/>
              </a:defRPr>
            </a:lvl4pPr>
            <a:lvl5pPr algn="l">
              <a:defRPr sz="1725" b="0">
                <a:solidFill>
                  <a:srgbClr val="C0D1DF"/>
                </a:solidFill>
                <a:latin typeface="Arial"/>
                <a:ea typeface="Arial"/>
                <a:cs typeface="Arial"/>
              </a:defRPr>
            </a:lvl5pPr>
            <a:lvl6pPr algn="l">
              <a:defRPr sz="1725" b="0">
                <a:solidFill>
                  <a:srgbClr val="C0D1DF"/>
                </a:solidFill>
                <a:latin typeface="Arial"/>
                <a:ea typeface="Arial"/>
                <a:cs typeface="Arial"/>
              </a:defRPr>
            </a:lvl6pPr>
            <a:lvl7pPr algn="l">
              <a:defRPr sz="1725" b="0">
                <a:solidFill>
                  <a:srgbClr val="C0D1DF"/>
                </a:solidFill>
                <a:latin typeface="Arial"/>
                <a:ea typeface="Arial"/>
                <a:cs typeface="Arial"/>
              </a:defRPr>
            </a:lvl7pPr>
            <a:lvl8pPr algn="l">
              <a:defRPr sz="1725" b="0">
                <a:solidFill>
                  <a:srgbClr val="C0D1DF"/>
                </a:solidFill>
                <a:latin typeface="Arial"/>
                <a:ea typeface="Arial"/>
                <a:cs typeface="Arial"/>
              </a:defRPr>
            </a:lvl8pPr>
            <a:lvl9pPr algn="l">
              <a:defRPr sz="1725" b="0">
                <a:solidFill>
                  <a:srgbClr val="C0D1DF"/>
                </a:solidFill>
                <a:latin typeface="Arial"/>
                <a:ea typeface="Arial"/>
                <a:cs typeface="Arial"/>
              </a:defRPr>
            </a:lvl9pPr>
          </a:lstStyle>
          <a:p xmlns:a="http://schemas.openxmlformats.org/drawingml/2006/main">
            <a:pPr algn="l">
              <a:defRPr sz="1725" b="0">
                <a:solidFill>
                  <a:srgbClr val="C0D1DF"/>
                </a:solidFill>
                <a:latin typeface="Arial"/>
                <a:ea typeface="Arial"/>
                <a:cs typeface="Arial"/>
              </a:defRPr>
            </a:pPr>
            <a:r>
              <a:rPr sz="1725" b="0">
                <a:solidFill>
                  <a:srgbClr val="C0D1DF"/>
                </a:solidFill>
                <a:latin typeface="Arial"/>
                <a:ea typeface="Arial"/>
                <a:cs typeface="Arial"/>
              </a:rPr>
              <a:t>Pretrained SmolVLA in the LIBERO simulator</a:t>
            </a:r>
          </a:p>
        </p:txBody>
      </p:sp>
      <p:sp>
        <p:nvSpPr>
          <p:cNvPr id="6" name="Amir Sadreev and Vasilii Liamin">
            <a:extLst xmlns:a="http://schemas.openxmlformats.org/drawingml/2006/main">
              <a:ext uri="{FF2B5EF4-FFF2-40B4-BE49-F238E27FC236}">
                <a16:creationId xmlns:a16="http://schemas.microsoft.com/office/drawing/2014/main" id="{8EE1C283-176C-4820-8478-A936199FF56B}"/>
              </a:ext>
            </a:extLst>
          </p:cNvPr>
          <p:cNvSpPr>
            <a:spLocks xmlns:a="http://schemas.openxmlformats.org/drawingml/2006/main" noGrp="1"/>
          </p:cNvSpPr>
          <p:nvPr/>
        </p:nvSpPr>
        <p:spPr>
          <a:xfrm xmlns:a="http://schemas.openxmlformats.org/drawingml/2006/main">
            <a:off x="609600" y="6038850"/>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0D1DF"/>
                </a:solidFill>
                <a:latin typeface="Arial"/>
                <a:ea typeface="Arial"/>
                <a:cs typeface="Arial"/>
              </a:defRPr>
            </a:defPPr>
            <a:lvl1pPr algn="l">
              <a:defRPr sz="1800" b="0">
                <a:solidFill>
                  <a:srgbClr val="C0D1DF"/>
                </a:solidFill>
                <a:latin typeface="Arial"/>
                <a:ea typeface="Arial"/>
                <a:cs typeface="Arial"/>
              </a:defRPr>
            </a:lvl1pPr>
            <a:lvl2pPr algn="l">
              <a:defRPr sz="1800" b="0">
                <a:solidFill>
                  <a:srgbClr val="C0D1DF"/>
                </a:solidFill>
                <a:latin typeface="Arial"/>
                <a:ea typeface="Arial"/>
                <a:cs typeface="Arial"/>
              </a:defRPr>
            </a:lvl2pPr>
            <a:lvl3pPr algn="l">
              <a:defRPr sz="1800" b="0">
                <a:solidFill>
                  <a:srgbClr val="C0D1DF"/>
                </a:solidFill>
                <a:latin typeface="Arial"/>
                <a:ea typeface="Arial"/>
                <a:cs typeface="Arial"/>
              </a:defRPr>
            </a:lvl3pPr>
            <a:lvl4pPr algn="l">
              <a:defRPr sz="1800" b="0">
                <a:solidFill>
                  <a:srgbClr val="C0D1DF"/>
                </a:solidFill>
                <a:latin typeface="Arial"/>
                <a:ea typeface="Arial"/>
                <a:cs typeface="Arial"/>
              </a:defRPr>
            </a:lvl4pPr>
            <a:lvl5pPr algn="l">
              <a:defRPr sz="1800" b="0">
                <a:solidFill>
                  <a:srgbClr val="C0D1DF"/>
                </a:solidFill>
                <a:latin typeface="Arial"/>
                <a:ea typeface="Arial"/>
                <a:cs typeface="Arial"/>
              </a:defRPr>
            </a:lvl5pPr>
            <a:lvl6pPr algn="l">
              <a:defRPr sz="1800" b="0">
                <a:solidFill>
                  <a:srgbClr val="C0D1DF"/>
                </a:solidFill>
                <a:latin typeface="Arial"/>
                <a:ea typeface="Arial"/>
                <a:cs typeface="Arial"/>
              </a:defRPr>
            </a:lvl6pPr>
            <a:lvl7pPr algn="l">
              <a:defRPr sz="1800" b="0">
                <a:solidFill>
                  <a:srgbClr val="C0D1DF"/>
                </a:solidFill>
                <a:latin typeface="Arial"/>
                <a:ea typeface="Arial"/>
                <a:cs typeface="Arial"/>
              </a:defRPr>
            </a:lvl7pPr>
            <a:lvl8pPr algn="l">
              <a:defRPr sz="1800" b="0">
                <a:solidFill>
                  <a:srgbClr val="C0D1DF"/>
                </a:solidFill>
                <a:latin typeface="Arial"/>
                <a:ea typeface="Arial"/>
                <a:cs typeface="Arial"/>
              </a:defRPr>
            </a:lvl8pPr>
            <a:lvl9pPr algn="l">
              <a:defRPr sz="1800" b="0">
                <a:solidFill>
                  <a:srgbClr val="C0D1DF"/>
                </a:solidFill>
                <a:latin typeface="Arial"/>
                <a:ea typeface="Arial"/>
                <a:cs typeface="Arial"/>
              </a:defRPr>
            </a:lvl9pPr>
          </a:lstStyle>
          <a:p xmlns:a="http://schemas.openxmlformats.org/drawingml/2006/main">
            <a:pPr algn="l">
              <a:defRPr sz="1800" b="0">
                <a:solidFill>
                  <a:srgbClr val="C0D1DF"/>
                </a:solidFill>
                <a:latin typeface="Arial"/>
                <a:ea typeface="Arial"/>
                <a:cs typeface="Arial"/>
              </a:defRPr>
            </a:pPr>
            <a:r>
              <a:rPr sz="1800" b="0">
                <a:solidFill>
                  <a:srgbClr val="C0D1DF"/>
                </a:solidFill>
                <a:latin typeface="Arial"/>
                <a:ea typeface="Arial"/>
                <a:cs typeface="Arial"/>
              </a:rPr>
              <a:t>Amir Sadreev and Vasilii Liamin</a:t>
            </a:r>
          </a:p>
        </p:txBody>
      </p:sp>
    </p:spTree>
    <p:extLst>
      <p:ext uri="{BB962C8B-B14F-4D97-AF65-F5344CB8AC3E}">
        <p14:creationId xmlns:p14="http://schemas.microsoft.com/office/powerpoint/2010/main" val="1490096271"/>
      </p:ext>
    </p:extLst>
  </p:cSld>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2" name="Slide title">
            <a:extLst>
              <a:ext uri="{FF2B5EF4-FFF2-40B4-BE49-F238E27FC236}">
                <a16:creationId id="{0DFB9083-990A-4B93-BDBC-825B9D7C65DD}"/>
              </a:ext>
            </a:extLst>
          </p:cNvPr>
          <p:cNvSpPr>
            <a:spLocks noGrp="1"/>
          </p:cNvSpPr>
          <p:nvPr/>
        </p:nvSpPr>
        <p:spPr>
          <a:xfrm>
            <a:off x="533400" y="409575"/>
            <a:ext cx="11125200" cy="952500"/>
          </a:xfrm>
          <a:prstGeom prst="rect">
            <a:avLst/>
          </a:prstGeom>
          <a:noFill/>
          <a:ln w="0">
            <a:noFill/>
          </a:ln>
        </p:spPr>
        <p:txBody>
          <a:bodyPr wrap="square" lIns="0" tIns="0" rIns="0" bIns="0" anchor="t">
            <a:noAutofit/>
          </a:bodyPr>
          <a:lstStyle>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a:pPr algn="l">
              <a:defRPr sz="3150" b="1">
                <a:solidFill>
                  <a:srgbClr val="172D43"/>
                </a:solidFill>
                <a:latin typeface="Arial"/>
                <a:ea typeface="Arial"/>
                <a:cs typeface="Arial"/>
              </a:defRPr>
            </a:pPr>
            <a:r>
              <a:rPr sz="3150" b="1">
                <a:solidFill>
                  <a:srgbClr val="172D43"/>
                </a:solidFill>
                <a:latin typeface="Arial"/>
                <a:ea typeface="Arial"/>
                <a:cs typeface="Arial"/>
              </a:rPr>
              <a:t>One observation produces 50 candidate actions</a:t>
            </a:r>
          </a:p>
        </p:txBody>
      </p:sp>
      <p:sp>
        <p:nvSpPr>
          <p:cNvPr id="2" name="02">
            <a:extLst>
              <a:ext uri="{FF2B5EF4-FFF2-40B4-BE49-F238E27FC236}">
                <a16:creationId id="{2345F1D9-6CD3-430F-A7C1-26C1685671E8}"/>
              </a:ext>
            </a:extLst>
          </p:cNvPr>
          <p:cNvSpPr>
            <a:spLocks noGrp="1"/>
          </p:cNvSpPr>
          <p:nvPr/>
        </p:nvSpPr>
        <p:spPr>
          <a:xfrm>
            <a:off x="11334750" y="6372225"/>
            <a:ext cx="381000" cy="228600"/>
          </a:xfrm>
          <a:prstGeom prst="rect">
            <a:avLst/>
          </a:prstGeom>
          <a:noFill/>
          <a:ln w="0">
            <a:noFill/>
          </a:ln>
        </p:spPr>
        <p:txBody>
          <a:bodyPr wrap="square" lIns="0" tIns="0" rIns="0" bIns="0" anchor="t">
            <a:noAutofit/>
          </a:bodyPr>
          <a:lstStyle>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a:pPr algn="l">
              <a:defRPr sz="1200" b="0">
                <a:solidFill>
                  <a:srgbClr val="536779"/>
                </a:solidFill>
                <a:latin typeface="Arial"/>
                <a:ea typeface="Arial"/>
                <a:cs typeface="Arial"/>
              </a:defRPr>
            </a:pPr>
            <a:r>
              <a:rPr sz="1200" b="0">
                <a:solidFill>
                  <a:srgbClr val="536779"/>
                </a:solidFill>
                <a:latin typeface="Arial"/>
                <a:ea typeface="Arial"/>
                <a:cs typeface="Arial"/>
              </a:rPr>
              <a:t>02</a:t>
            </a:r>
          </a:p>
        </p:txBody>
      </p:sp>
      <p:pic>
        <p:nvPicPr>
          <p:cNvPr id="3" name="VIDEO_case_success_en" descr="case_success_en">
            <a:hlinkClick action="ppaction://media"/>
            <a:extLst>
              <a:ext uri="{FF2B5EF4-FFF2-40B4-BE49-F238E27FC236}">
                <a16:creationId id="{88CD7C78-BDDF-4F46-848F-1BB231075C77}"/>
              </a:ext>
            </a:extLst>
          </p:cNvPr>
          <p:cNvPicPr>
            <a:picLocks noChangeAspect="1"/>
          </p:cNvPicPr>
          <p:nvPr>
            <a:videoFile r:link="rIdPreservedVideo_case_success_en"/>
            <p:extLst>
              <p:ext uri="{DAA4B4D4-6D71-4841-9C94-3DE7FCFB9230}">
                <p14:media r:embed="rIdPreservedMedia_case_success_en"/>
              </p:ext>
            </p:extLst>
          </p:nvPr>
        </p:nvPicPr>
        <p:blipFill>
          <a:blip r:embed="Rd6087baf969447d9"/>
          <a:stretch/>
        </p:blipFill>
        <p:spPr>
          <a:xfrm>
            <a:off x="533400" y="1695450"/>
            <a:ext cx="5486400" cy="3657600"/>
          </a:xfrm>
          <a:prstGeom prst="rect">
            <a:avLst/>
          </a:prstGeom>
        </p:spPr>
      </p:pic>
      <p:sp>
        <p:nvSpPr>
          <p:cNvPr id="4" name="“Pick up the alphabet soup and place it in the b">
            <a:extLst>
              <a:ext uri="{FF2B5EF4-FFF2-40B4-BE49-F238E27FC236}">
                <a16:creationId id="{7D9F1D9B-4333-4FFD-8ABF-25B6CEE2B96D}"/>
              </a:ext>
            </a:extLst>
          </p:cNvPr>
          <p:cNvSpPr>
            <a:spLocks noGrp="1"/>
          </p:cNvSpPr>
          <p:nvPr/>
        </p:nvSpPr>
        <p:spPr>
          <a:xfrm>
            <a:off x="533400" y="5562600"/>
            <a:ext cx="5486400" cy="590550"/>
          </a:xfrm>
          <a:prstGeom prst="rect">
            <a:avLst/>
          </a:prstGeom>
          <a:noFill/>
          <a:ln w="0">
            <a:noFill/>
          </a:ln>
        </p:spPr>
        <p:txBody>
          <a:bodyPr wrap="square" lIns="0" tIns="0" rIns="0" bIns="0" anchor="t">
            <a:noAutofit/>
          </a:bodyPr>
          <a:lstStyle>
            <a:defPPr algn="l">
              <a:defRPr sz="1725" b="0">
                <a:solidFill>
                  <a:srgbClr val="172D43"/>
                </a:solidFill>
                <a:latin typeface="Arial"/>
                <a:ea typeface="Arial"/>
                <a:cs typeface="Arial"/>
              </a:defRPr>
            </a:defPPr>
            <a:lvl1pPr algn="l">
              <a:defRPr sz="1725" b="0">
                <a:solidFill>
                  <a:srgbClr val="172D43"/>
                </a:solidFill>
                <a:latin typeface="Arial"/>
                <a:ea typeface="Arial"/>
                <a:cs typeface="Arial"/>
              </a:defRPr>
            </a:lvl1pPr>
            <a:lvl2pPr algn="l">
              <a:defRPr sz="1725" b="0">
                <a:solidFill>
                  <a:srgbClr val="172D43"/>
                </a:solidFill>
                <a:latin typeface="Arial"/>
                <a:ea typeface="Arial"/>
                <a:cs typeface="Arial"/>
              </a:defRPr>
            </a:lvl2pPr>
            <a:lvl3pPr algn="l">
              <a:defRPr sz="1725" b="0">
                <a:solidFill>
                  <a:srgbClr val="172D43"/>
                </a:solidFill>
                <a:latin typeface="Arial"/>
                <a:ea typeface="Arial"/>
                <a:cs typeface="Arial"/>
              </a:defRPr>
            </a:lvl3pPr>
            <a:lvl4pPr algn="l">
              <a:defRPr sz="1725" b="0">
                <a:solidFill>
                  <a:srgbClr val="172D43"/>
                </a:solidFill>
                <a:latin typeface="Arial"/>
                <a:ea typeface="Arial"/>
                <a:cs typeface="Arial"/>
              </a:defRPr>
            </a:lvl4pPr>
            <a:lvl5pPr algn="l">
              <a:defRPr sz="1725" b="0">
                <a:solidFill>
                  <a:srgbClr val="172D43"/>
                </a:solidFill>
                <a:latin typeface="Arial"/>
                <a:ea typeface="Arial"/>
                <a:cs typeface="Arial"/>
              </a:defRPr>
            </a:lvl5pPr>
            <a:lvl6pPr algn="l">
              <a:defRPr sz="1725" b="0">
                <a:solidFill>
                  <a:srgbClr val="172D43"/>
                </a:solidFill>
                <a:latin typeface="Arial"/>
                <a:ea typeface="Arial"/>
                <a:cs typeface="Arial"/>
              </a:defRPr>
            </a:lvl6pPr>
            <a:lvl7pPr algn="l">
              <a:defRPr sz="1725" b="0">
                <a:solidFill>
                  <a:srgbClr val="172D43"/>
                </a:solidFill>
                <a:latin typeface="Arial"/>
                <a:ea typeface="Arial"/>
                <a:cs typeface="Arial"/>
              </a:defRPr>
            </a:lvl7pPr>
            <a:lvl8pPr algn="l">
              <a:defRPr sz="1725" b="0">
                <a:solidFill>
                  <a:srgbClr val="172D43"/>
                </a:solidFill>
                <a:latin typeface="Arial"/>
                <a:ea typeface="Arial"/>
                <a:cs typeface="Arial"/>
              </a:defRPr>
            </a:lvl8pPr>
            <a:lvl9pPr algn="l">
              <a:defRPr sz="1725" b="0">
                <a:solidFill>
                  <a:srgbClr val="172D43"/>
                </a:solidFill>
                <a:latin typeface="Arial"/>
                <a:ea typeface="Arial"/>
                <a:cs typeface="Arial"/>
              </a:defRPr>
            </a:lvl9pPr>
          </a:lstStyle>
          <a:p>
            <a:pPr algn="l">
              <a:defRPr sz="1725" b="0">
                <a:solidFill>
                  <a:srgbClr val="172D43"/>
                </a:solidFill>
                <a:latin typeface="Arial"/>
                <a:ea typeface="Arial"/>
                <a:cs typeface="Arial"/>
              </a:defRPr>
            </a:pPr>
            <a:r>
              <a:rPr sz="1725" b="0">
                <a:solidFill>
                  <a:srgbClr val="172D43"/>
                </a:solidFill>
                <a:latin typeface="Arial"/>
                <a:ea typeface="Arial"/>
                <a:cs typeface="Arial"/>
              </a:rPr>
              <a:t>“Pick up the alphabet soup and place it in the basket.”</a:t>
            </a:r>
          </a:p>
        </p:txBody>
      </p:sp>
      <p:sp>
        <p:nvSpPr>
          <p:cNvPr id="5" name="INPUT">
            <a:extLst>
              <a:ext uri="{FF2B5EF4-FFF2-40B4-BE49-F238E27FC236}">
                <a16:creationId id="{4C6E2A45-05A1-4EF5-A717-1E78888C9AF9}"/>
              </a:ext>
            </a:extLst>
          </p:cNvPr>
          <p:cNvSpPr>
            <a:spLocks noGrp="1"/>
          </p:cNvSpPr>
          <p:nvPr/>
        </p:nvSpPr>
        <p:spPr>
          <a:xfrm>
            <a:off x="6496050" y="1657350"/>
            <a:ext cx="4762500" cy="247650"/>
          </a:xfrm>
          <a:prstGeom prst="rect">
            <a:avLst/>
          </a:prstGeom>
          <a:noFill/>
          <a:ln w="0">
            <a:noFill/>
          </a:ln>
        </p:spPr>
        <p:txBody>
          <a:bodyPr wrap="square" lIns="0" tIns="0" rIns="0" bIns="0" anchor="t">
            <a:noAutofit/>
          </a:bodyPr>
          <a:lstStyle>
            <a:defPPr algn="l">
              <a:defRPr sz="1350" b="1">
                <a:solidFill>
                  <a:srgbClr val="2563A5"/>
                </a:solidFill>
                <a:latin typeface="Arial"/>
                <a:ea typeface="Arial"/>
                <a:cs typeface="Arial"/>
              </a:defRPr>
            </a:defPPr>
            <a:lvl1pPr algn="l">
              <a:defRPr sz="1350" b="1">
                <a:solidFill>
                  <a:srgbClr val="2563A5"/>
                </a:solidFill>
                <a:latin typeface="Arial"/>
                <a:ea typeface="Arial"/>
                <a:cs typeface="Arial"/>
              </a:defRPr>
            </a:lvl1pPr>
            <a:lvl2pPr algn="l">
              <a:defRPr sz="1350" b="1">
                <a:solidFill>
                  <a:srgbClr val="2563A5"/>
                </a:solidFill>
                <a:latin typeface="Arial"/>
                <a:ea typeface="Arial"/>
                <a:cs typeface="Arial"/>
              </a:defRPr>
            </a:lvl2pPr>
            <a:lvl3pPr algn="l">
              <a:defRPr sz="1350" b="1">
                <a:solidFill>
                  <a:srgbClr val="2563A5"/>
                </a:solidFill>
                <a:latin typeface="Arial"/>
                <a:ea typeface="Arial"/>
                <a:cs typeface="Arial"/>
              </a:defRPr>
            </a:lvl3pPr>
            <a:lvl4pPr algn="l">
              <a:defRPr sz="1350" b="1">
                <a:solidFill>
                  <a:srgbClr val="2563A5"/>
                </a:solidFill>
                <a:latin typeface="Arial"/>
                <a:ea typeface="Arial"/>
                <a:cs typeface="Arial"/>
              </a:defRPr>
            </a:lvl4pPr>
            <a:lvl5pPr algn="l">
              <a:defRPr sz="1350" b="1">
                <a:solidFill>
                  <a:srgbClr val="2563A5"/>
                </a:solidFill>
                <a:latin typeface="Arial"/>
                <a:ea typeface="Arial"/>
                <a:cs typeface="Arial"/>
              </a:defRPr>
            </a:lvl5pPr>
            <a:lvl6pPr algn="l">
              <a:defRPr sz="1350" b="1">
                <a:solidFill>
                  <a:srgbClr val="2563A5"/>
                </a:solidFill>
                <a:latin typeface="Arial"/>
                <a:ea typeface="Arial"/>
                <a:cs typeface="Arial"/>
              </a:defRPr>
            </a:lvl6pPr>
            <a:lvl7pPr algn="l">
              <a:defRPr sz="1350" b="1">
                <a:solidFill>
                  <a:srgbClr val="2563A5"/>
                </a:solidFill>
                <a:latin typeface="Arial"/>
                <a:ea typeface="Arial"/>
                <a:cs typeface="Arial"/>
              </a:defRPr>
            </a:lvl7pPr>
            <a:lvl8pPr algn="l">
              <a:defRPr sz="1350" b="1">
                <a:solidFill>
                  <a:srgbClr val="2563A5"/>
                </a:solidFill>
                <a:latin typeface="Arial"/>
                <a:ea typeface="Arial"/>
                <a:cs typeface="Arial"/>
              </a:defRPr>
            </a:lvl8pPr>
            <a:lvl9pPr algn="l">
              <a:defRPr sz="1350" b="1">
                <a:solidFill>
                  <a:srgbClr val="2563A5"/>
                </a:solidFill>
                <a:latin typeface="Arial"/>
                <a:ea typeface="Arial"/>
                <a:cs typeface="Arial"/>
              </a:defRPr>
            </a:lvl9pPr>
          </a:lstStyle>
          <a:p>
            <a:pPr algn="l">
              <a:defRPr sz="1350" b="1">
                <a:solidFill>
                  <a:srgbClr val="2563A5"/>
                </a:solidFill>
                <a:latin typeface="Arial"/>
                <a:ea typeface="Arial"/>
                <a:cs typeface="Arial"/>
              </a:defRPr>
            </a:pPr>
            <a:r>
              <a:rPr sz="1350" b="1">
                <a:solidFill>
                  <a:srgbClr val="2563A5"/>
                </a:solidFill>
                <a:latin typeface="Arial"/>
                <a:ea typeface="Arial"/>
                <a:cs typeface="Arial"/>
              </a:rPr>
              <a:t>INPUT</a:t>
            </a:r>
          </a:p>
        </p:txBody>
      </p:sp>
      <p:sp>
        <p:nvSpPr>
          <p:cNvPr id="6" name="Two camera images, an instruction&#10;and the robot ">
            <a:extLst>
              <a:ext uri="{FF2B5EF4-FFF2-40B4-BE49-F238E27FC236}">
                <a16:creationId id="{E1DE3D94-75C7-46DC-9E51-F517E023D466}"/>
              </a:ext>
            </a:extLst>
          </p:cNvPr>
          <p:cNvSpPr>
            <a:spLocks noGrp="1"/>
          </p:cNvSpPr>
          <p:nvPr/>
        </p:nvSpPr>
        <p:spPr>
          <a:xfrm>
            <a:off x="6496050" y="2019300"/>
            <a:ext cx="5143500" cy="666750"/>
          </a:xfrm>
          <a:prstGeom prst="rect">
            <a:avLst/>
          </a:prstGeom>
          <a:noFill/>
          <a:ln w="0">
            <a:noFill/>
          </a:ln>
        </p:spPr>
        <p:txBody>
          <a:bodyPr wrap="square" lIns="0" tIns="0" rIns="0" bIns="0" anchor="t">
            <a:noAutofit/>
          </a:bodyPr>
          <a:lstStyle>
            <a:defPPr algn="l">
              <a:defRPr sz="2100" b="1">
                <a:solidFill>
                  <a:srgbClr val="172D43"/>
                </a:solidFill>
                <a:latin typeface="Arial"/>
                <a:ea typeface="Arial"/>
                <a:cs typeface="Arial"/>
              </a:defRPr>
            </a:defPPr>
            <a:lvl1pPr algn="l">
              <a:defRPr sz="2100" b="1">
                <a:solidFill>
                  <a:srgbClr val="172D43"/>
                </a:solidFill>
                <a:latin typeface="Arial"/>
                <a:ea typeface="Arial"/>
                <a:cs typeface="Arial"/>
              </a:defRPr>
            </a:lvl1pPr>
            <a:lvl2pPr algn="l">
              <a:defRPr sz="2100" b="1">
                <a:solidFill>
                  <a:srgbClr val="172D43"/>
                </a:solidFill>
                <a:latin typeface="Arial"/>
                <a:ea typeface="Arial"/>
                <a:cs typeface="Arial"/>
              </a:defRPr>
            </a:lvl2pPr>
            <a:lvl3pPr algn="l">
              <a:defRPr sz="2100" b="1">
                <a:solidFill>
                  <a:srgbClr val="172D43"/>
                </a:solidFill>
                <a:latin typeface="Arial"/>
                <a:ea typeface="Arial"/>
                <a:cs typeface="Arial"/>
              </a:defRPr>
            </a:lvl3pPr>
            <a:lvl4pPr algn="l">
              <a:defRPr sz="2100" b="1">
                <a:solidFill>
                  <a:srgbClr val="172D43"/>
                </a:solidFill>
                <a:latin typeface="Arial"/>
                <a:ea typeface="Arial"/>
                <a:cs typeface="Arial"/>
              </a:defRPr>
            </a:lvl4pPr>
            <a:lvl5pPr algn="l">
              <a:defRPr sz="2100" b="1">
                <a:solidFill>
                  <a:srgbClr val="172D43"/>
                </a:solidFill>
                <a:latin typeface="Arial"/>
                <a:ea typeface="Arial"/>
                <a:cs typeface="Arial"/>
              </a:defRPr>
            </a:lvl5pPr>
            <a:lvl6pPr algn="l">
              <a:defRPr sz="2100" b="1">
                <a:solidFill>
                  <a:srgbClr val="172D43"/>
                </a:solidFill>
                <a:latin typeface="Arial"/>
                <a:ea typeface="Arial"/>
                <a:cs typeface="Arial"/>
              </a:defRPr>
            </a:lvl6pPr>
            <a:lvl7pPr algn="l">
              <a:defRPr sz="2100" b="1">
                <a:solidFill>
                  <a:srgbClr val="172D43"/>
                </a:solidFill>
                <a:latin typeface="Arial"/>
                <a:ea typeface="Arial"/>
                <a:cs typeface="Arial"/>
              </a:defRPr>
            </a:lvl7pPr>
            <a:lvl8pPr algn="l">
              <a:defRPr sz="2100" b="1">
                <a:solidFill>
                  <a:srgbClr val="172D43"/>
                </a:solidFill>
                <a:latin typeface="Arial"/>
                <a:ea typeface="Arial"/>
                <a:cs typeface="Arial"/>
              </a:defRPr>
            </a:lvl8pPr>
            <a:lvl9pPr algn="l">
              <a:defRPr sz="2100" b="1">
                <a:solidFill>
                  <a:srgbClr val="172D43"/>
                </a:solidFill>
                <a:latin typeface="Arial"/>
                <a:ea typeface="Arial"/>
                <a:cs typeface="Arial"/>
              </a:defRPr>
            </a:lvl9pPr>
          </a:lstStyle>
          <a:p>
            <a:pPr algn="l">
              <a:defRPr sz="2100" b="1">
                <a:solidFill>
                  <a:srgbClr val="172D43"/>
                </a:solidFill>
                <a:latin typeface="Arial"/>
                <a:ea typeface="Arial"/>
                <a:cs typeface="Arial"/>
              </a:defRPr>
            </a:pPr>
            <a:r>
              <a:rPr sz="2100" b="1">
                <a:solidFill>
                  <a:srgbClr val="172D43"/>
                </a:solidFill>
                <a:latin typeface="Arial"/>
                <a:ea typeface="Arial"/>
                <a:cs typeface="Arial"/>
              </a:rPr>
              <a:t>Two camera images, an instruction</a:t>
            </a:r>
          </a:p>
          <a:p>
            <a:pPr algn="l">
              <a:defRPr sz="2100" b="1">
                <a:solidFill>
                  <a:srgbClr val="172D43"/>
                </a:solidFill>
                <a:latin typeface="Arial"/>
                <a:ea typeface="Arial"/>
                <a:cs typeface="Arial"/>
              </a:defRPr>
            </a:pPr>
            <a:r>
              <a:rPr sz="2100" b="1">
                <a:solidFill>
                  <a:srgbClr val="172D43"/>
                </a:solidFill>
                <a:latin typeface="Arial"/>
                <a:ea typeface="Arial"/>
                <a:cs typeface="Arial"/>
              </a:rPr>
              <a:t>and the robot state</a:t>
            </a:r>
          </a:p>
        </p:txBody>
      </p:sp>
      <p:sp>
        <p:nvSpPr>
          <p:cNvPr id="7" name="256 × 256 RGB per camera&#10;8 state values: positio">
            <a:extLst>
              <a:ext uri="{FF2B5EF4-FFF2-40B4-BE49-F238E27FC236}">
                <a16:creationId id="{A9B4E503-E55E-497C-BCA6-36CD4B1507D0}"/>
              </a:ext>
            </a:extLst>
          </p:cNvPr>
          <p:cNvSpPr>
            <a:spLocks noGrp="1"/>
          </p:cNvSpPr>
          <p:nvPr/>
        </p:nvSpPr>
        <p:spPr>
          <a:xfrm>
            <a:off x="6496050" y="2790825"/>
            <a:ext cx="5048250" cy="590550"/>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256 × 256 RGB per camera</a:t>
            </a:r>
          </a:p>
          <a:p>
            <a:pPr algn="l">
              <a:defRPr sz="1650" b="0">
                <a:solidFill>
                  <a:srgbClr val="536779"/>
                </a:solidFill>
                <a:latin typeface="Arial"/>
                <a:ea typeface="Arial"/>
                <a:cs typeface="Arial"/>
              </a:defRPr>
            </a:pPr>
            <a:r>
              <a:rPr sz="1650" b="0">
                <a:solidFill>
                  <a:srgbClr val="536779"/>
                </a:solidFill>
                <a:latin typeface="Arial"/>
                <a:ea typeface="Arial"/>
                <a:cs typeface="Arial"/>
              </a:rPr>
              <a:t>8 state values: position, orientation, fingers</a:t>
            </a:r>
          </a:p>
        </p:txBody>
      </p:sp>
      <p:sp>
        <p:nvSpPr>
          <p:cNvPr id="8" name="PRETRAINED SMOLVLA">
            <a:extLst>
              <a:ext uri="{FF2B5EF4-FFF2-40B4-BE49-F238E27FC236}">
                <a16:creationId id="{812DC233-7910-4A5B-9D60-960D0A189FDF}"/>
              </a:ext>
            </a:extLst>
          </p:cNvPr>
          <p:cNvSpPr>
            <a:spLocks noGrp="1"/>
          </p:cNvSpPr>
          <p:nvPr/>
        </p:nvSpPr>
        <p:spPr>
          <a:xfrm>
            <a:off x="6496050" y="3714750"/>
            <a:ext cx="4857750" cy="257175"/>
          </a:xfrm>
          <a:prstGeom prst="rect">
            <a:avLst/>
          </a:prstGeom>
          <a:noFill/>
          <a:ln w="0">
            <a:noFill/>
          </a:ln>
        </p:spPr>
        <p:txBody>
          <a:bodyPr wrap="square" lIns="0" tIns="0" rIns="0" bIns="0" anchor="t">
            <a:noAutofit/>
          </a:bodyPr>
          <a:lstStyle>
            <a:defPPr algn="l">
              <a:defRPr sz="1350" b="1">
                <a:solidFill>
                  <a:srgbClr val="2563A5"/>
                </a:solidFill>
                <a:latin typeface="Arial"/>
                <a:ea typeface="Arial"/>
                <a:cs typeface="Arial"/>
              </a:defRPr>
            </a:defPPr>
            <a:lvl1pPr algn="l">
              <a:defRPr sz="1350" b="1">
                <a:solidFill>
                  <a:srgbClr val="2563A5"/>
                </a:solidFill>
                <a:latin typeface="Arial"/>
                <a:ea typeface="Arial"/>
                <a:cs typeface="Arial"/>
              </a:defRPr>
            </a:lvl1pPr>
            <a:lvl2pPr algn="l">
              <a:defRPr sz="1350" b="1">
                <a:solidFill>
                  <a:srgbClr val="2563A5"/>
                </a:solidFill>
                <a:latin typeface="Arial"/>
                <a:ea typeface="Arial"/>
                <a:cs typeface="Arial"/>
              </a:defRPr>
            </a:lvl2pPr>
            <a:lvl3pPr algn="l">
              <a:defRPr sz="1350" b="1">
                <a:solidFill>
                  <a:srgbClr val="2563A5"/>
                </a:solidFill>
                <a:latin typeface="Arial"/>
                <a:ea typeface="Arial"/>
                <a:cs typeface="Arial"/>
              </a:defRPr>
            </a:lvl3pPr>
            <a:lvl4pPr algn="l">
              <a:defRPr sz="1350" b="1">
                <a:solidFill>
                  <a:srgbClr val="2563A5"/>
                </a:solidFill>
                <a:latin typeface="Arial"/>
                <a:ea typeface="Arial"/>
                <a:cs typeface="Arial"/>
              </a:defRPr>
            </a:lvl4pPr>
            <a:lvl5pPr algn="l">
              <a:defRPr sz="1350" b="1">
                <a:solidFill>
                  <a:srgbClr val="2563A5"/>
                </a:solidFill>
                <a:latin typeface="Arial"/>
                <a:ea typeface="Arial"/>
                <a:cs typeface="Arial"/>
              </a:defRPr>
            </a:lvl5pPr>
            <a:lvl6pPr algn="l">
              <a:defRPr sz="1350" b="1">
                <a:solidFill>
                  <a:srgbClr val="2563A5"/>
                </a:solidFill>
                <a:latin typeface="Arial"/>
                <a:ea typeface="Arial"/>
                <a:cs typeface="Arial"/>
              </a:defRPr>
            </a:lvl6pPr>
            <a:lvl7pPr algn="l">
              <a:defRPr sz="1350" b="1">
                <a:solidFill>
                  <a:srgbClr val="2563A5"/>
                </a:solidFill>
                <a:latin typeface="Arial"/>
                <a:ea typeface="Arial"/>
                <a:cs typeface="Arial"/>
              </a:defRPr>
            </a:lvl7pPr>
            <a:lvl8pPr algn="l">
              <a:defRPr sz="1350" b="1">
                <a:solidFill>
                  <a:srgbClr val="2563A5"/>
                </a:solidFill>
                <a:latin typeface="Arial"/>
                <a:ea typeface="Arial"/>
                <a:cs typeface="Arial"/>
              </a:defRPr>
            </a:lvl8pPr>
            <a:lvl9pPr algn="l">
              <a:defRPr sz="1350" b="1">
                <a:solidFill>
                  <a:srgbClr val="2563A5"/>
                </a:solidFill>
                <a:latin typeface="Arial"/>
                <a:ea typeface="Arial"/>
                <a:cs typeface="Arial"/>
              </a:defRPr>
            </a:lvl9pPr>
          </a:lstStyle>
          <a:p>
            <a:pPr algn="l">
              <a:defRPr sz="1350" b="1">
                <a:solidFill>
                  <a:srgbClr val="2563A5"/>
                </a:solidFill>
                <a:latin typeface="Arial"/>
                <a:ea typeface="Arial"/>
                <a:cs typeface="Arial"/>
              </a:defRPr>
            </a:pPr>
            <a:r>
              <a:rPr sz="1350" b="1">
                <a:solidFill>
                  <a:srgbClr val="2563A5"/>
                </a:solidFill>
                <a:latin typeface="Arial"/>
                <a:ea typeface="Arial"/>
                <a:cs typeface="Arial"/>
              </a:rPr>
              <a:t>PRETRAINED SMOLVLA</a:t>
            </a:r>
          </a:p>
        </p:txBody>
      </p:sp>
      <p:sp>
        <p:nvSpPr>
          <p:cNvPr id="9" name="50 × 7">
            <a:extLst>
              <a:ext uri="{FF2B5EF4-FFF2-40B4-BE49-F238E27FC236}">
                <a16:creationId id="{0A6F1CF0-29C4-4E16-A391-F1EC55ECD140}"/>
              </a:ext>
            </a:extLst>
          </p:cNvPr>
          <p:cNvSpPr>
            <a:spLocks noGrp="1"/>
          </p:cNvSpPr>
          <p:nvPr/>
        </p:nvSpPr>
        <p:spPr>
          <a:xfrm>
            <a:off x="6496050" y="4076700"/>
            <a:ext cx="4953000" cy="704850"/>
          </a:xfrm>
          <a:prstGeom prst="rect">
            <a:avLst/>
          </a:prstGeom>
          <a:noFill/>
          <a:ln w="0">
            <a:noFill/>
          </a:ln>
        </p:spPr>
        <p:txBody>
          <a:bodyPr wrap="square" lIns="0" tIns="0" rIns="0" bIns="0" anchor="t">
            <a:noAutofit/>
          </a:bodyPr>
          <a:lstStyle>
            <a:defPPr algn="l">
              <a:defRPr sz="4575" b="1">
                <a:solidFill>
                  <a:srgbClr val="D07832"/>
                </a:solidFill>
                <a:latin typeface="Arial"/>
                <a:ea typeface="Arial"/>
                <a:cs typeface="Arial"/>
              </a:defRPr>
            </a:defPPr>
            <a:lvl1pPr algn="l">
              <a:defRPr sz="4575" b="1">
                <a:solidFill>
                  <a:srgbClr val="D07832"/>
                </a:solidFill>
                <a:latin typeface="Arial"/>
                <a:ea typeface="Arial"/>
                <a:cs typeface="Arial"/>
              </a:defRPr>
            </a:lvl1pPr>
            <a:lvl2pPr algn="l">
              <a:defRPr sz="4575" b="1">
                <a:solidFill>
                  <a:srgbClr val="D07832"/>
                </a:solidFill>
                <a:latin typeface="Arial"/>
                <a:ea typeface="Arial"/>
                <a:cs typeface="Arial"/>
              </a:defRPr>
            </a:lvl2pPr>
            <a:lvl3pPr algn="l">
              <a:defRPr sz="4575" b="1">
                <a:solidFill>
                  <a:srgbClr val="D07832"/>
                </a:solidFill>
                <a:latin typeface="Arial"/>
                <a:ea typeface="Arial"/>
                <a:cs typeface="Arial"/>
              </a:defRPr>
            </a:lvl3pPr>
            <a:lvl4pPr algn="l">
              <a:defRPr sz="4575" b="1">
                <a:solidFill>
                  <a:srgbClr val="D07832"/>
                </a:solidFill>
                <a:latin typeface="Arial"/>
                <a:ea typeface="Arial"/>
                <a:cs typeface="Arial"/>
              </a:defRPr>
            </a:lvl4pPr>
            <a:lvl5pPr algn="l">
              <a:defRPr sz="4575" b="1">
                <a:solidFill>
                  <a:srgbClr val="D07832"/>
                </a:solidFill>
                <a:latin typeface="Arial"/>
                <a:ea typeface="Arial"/>
                <a:cs typeface="Arial"/>
              </a:defRPr>
            </a:lvl5pPr>
            <a:lvl6pPr algn="l">
              <a:defRPr sz="4575" b="1">
                <a:solidFill>
                  <a:srgbClr val="D07832"/>
                </a:solidFill>
                <a:latin typeface="Arial"/>
                <a:ea typeface="Arial"/>
                <a:cs typeface="Arial"/>
              </a:defRPr>
            </a:lvl6pPr>
            <a:lvl7pPr algn="l">
              <a:defRPr sz="4575" b="1">
                <a:solidFill>
                  <a:srgbClr val="D07832"/>
                </a:solidFill>
                <a:latin typeface="Arial"/>
                <a:ea typeface="Arial"/>
                <a:cs typeface="Arial"/>
              </a:defRPr>
            </a:lvl7pPr>
            <a:lvl8pPr algn="l">
              <a:defRPr sz="4575" b="1">
                <a:solidFill>
                  <a:srgbClr val="D07832"/>
                </a:solidFill>
                <a:latin typeface="Arial"/>
                <a:ea typeface="Arial"/>
                <a:cs typeface="Arial"/>
              </a:defRPr>
            </a:lvl8pPr>
            <a:lvl9pPr algn="l">
              <a:defRPr sz="4575" b="1">
                <a:solidFill>
                  <a:srgbClr val="D07832"/>
                </a:solidFill>
                <a:latin typeface="Arial"/>
                <a:ea typeface="Arial"/>
                <a:cs typeface="Arial"/>
              </a:defRPr>
            </a:lvl9pPr>
          </a:lstStyle>
          <a:p>
            <a:pPr algn="l">
              <a:defRPr sz="4575" b="1">
                <a:solidFill>
                  <a:srgbClr val="D07832"/>
                </a:solidFill>
                <a:latin typeface="Arial"/>
                <a:ea typeface="Arial"/>
                <a:cs typeface="Arial"/>
              </a:defRPr>
            </a:pPr>
            <a:r>
              <a:rPr sz="4575" b="1">
                <a:solidFill>
                  <a:srgbClr val="D07832"/>
                </a:solidFill>
                <a:latin typeface="Arial"/>
                <a:ea typeface="Arial"/>
                <a:cs typeface="Arial"/>
              </a:rPr>
              <a:t>50 × 7</a:t>
            </a:r>
          </a:p>
        </p:txBody>
      </p:sp>
      <p:sp>
        <p:nvSpPr>
          <p:cNvPr id="10" name="actions per call × action coordinates">
            <a:extLst>
              <a:ext uri="{FF2B5EF4-FFF2-40B4-BE49-F238E27FC236}">
                <a16:creationId id="{EB1B925F-61BE-4E1C-A991-21BCF97DB865}"/>
              </a:ext>
            </a:extLst>
          </p:cNvPr>
          <p:cNvSpPr>
            <a:spLocks noGrp="1"/>
          </p:cNvSpPr>
          <p:nvPr/>
        </p:nvSpPr>
        <p:spPr>
          <a:xfrm>
            <a:off x="6496050" y="4781550"/>
            <a:ext cx="5048250" cy="333375"/>
          </a:xfrm>
          <a:prstGeom prst="rect">
            <a:avLst/>
          </a:prstGeom>
          <a:noFill/>
          <a:ln w="0">
            <a:noFill/>
          </a:ln>
        </p:spPr>
        <p:txBody>
          <a:bodyPr wrap="square" lIns="0" tIns="0" rIns="0" bIns="0" anchor="t">
            <a:noAutofit/>
          </a:bodyPr>
          <a:lstStyle>
            <a:defPPr algn="l">
              <a:defRPr sz="1725" b="0">
                <a:solidFill>
                  <a:srgbClr val="172D43"/>
                </a:solidFill>
                <a:latin typeface="Arial"/>
                <a:ea typeface="Arial"/>
                <a:cs typeface="Arial"/>
              </a:defRPr>
            </a:defPPr>
            <a:lvl1pPr algn="l">
              <a:defRPr sz="1725" b="0">
                <a:solidFill>
                  <a:srgbClr val="172D43"/>
                </a:solidFill>
                <a:latin typeface="Arial"/>
                <a:ea typeface="Arial"/>
                <a:cs typeface="Arial"/>
              </a:defRPr>
            </a:lvl1pPr>
            <a:lvl2pPr algn="l">
              <a:defRPr sz="1725" b="0">
                <a:solidFill>
                  <a:srgbClr val="172D43"/>
                </a:solidFill>
                <a:latin typeface="Arial"/>
                <a:ea typeface="Arial"/>
                <a:cs typeface="Arial"/>
              </a:defRPr>
            </a:lvl2pPr>
            <a:lvl3pPr algn="l">
              <a:defRPr sz="1725" b="0">
                <a:solidFill>
                  <a:srgbClr val="172D43"/>
                </a:solidFill>
                <a:latin typeface="Arial"/>
                <a:ea typeface="Arial"/>
                <a:cs typeface="Arial"/>
              </a:defRPr>
            </a:lvl3pPr>
            <a:lvl4pPr algn="l">
              <a:defRPr sz="1725" b="0">
                <a:solidFill>
                  <a:srgbClr val="172D43"/>
                </a:solidFill>
                <a:latin typeface="Arial"/>
                <a:ea typeface="Arial"/>
                <a:cs typeface="Arial"/>
              </a:defRPr>
            </a:lvl4pPr>
            <a:lvl5pPr algn="l">
              <a:defRPr sz="1725" b="0">
                <a:solidFill>
                  <a:srgbClr val="172D43"/>
                </a:solidFill>
                <a:latin typeface="Arial"/>
                <a:ea typeface="Arial"/>
                <a:cs typeface="Arial"/>
              </a:defRPr>
            </a:lvl5pPr>
            <a:lvl6pPr algn="l">
              <a:defRPr sz="1725" b="0">
                <a:solidFill>
                  <a:srgbClr val="172D43"/>
                </a:solidFill>
                <a:latin typeface="Arial"/>
                <a:ea typeface="Arial"/>
                <a:cs typeface="Arial"/>
              </a:defRPr>
            </a:lvl6pPr>
            <a:lvl7pPr algn="l">
              <a:defRPr sz="1725" b="0">
                <a:solidFill>
                  <a:srgbClr val="172D43"/>
                </a:solidFill>
                <a:latin typeface="Arial"/>
                <a:ea typeface="Arial"/>
                <a:cs typeface="Arial"/>
              </a:defRPr>
            </a:lvl7pPr>
            <a:lvl8pPr algn="l">
              <a:defRPr sz="1725" b="0">
                <a:solidFill>
                  <a:srgbClr val="172D43"/>
                </a:solidFill>
                <a:latin typeface="Arial"/>
                <a:ea typeface="Arial"/>
                <a:cs typeface="Arial"/>
              </a:defRPr>
            </a:lvl8pPr>
            <a:lvl9pPr algn="l">
              <a:defRPr sz="1725" b="0">
                <a:solidFill>
                  <a:srgbClr val="172D43"/>
                </a:solidFill>
                <a:latin typeface="Arial"/>
                <a:ea typeface="Arial"/>
                <a:cs typeface="Arial"/>
              </a:defRPr>
            </a:lvl9pPr>
          </a:lstStyle>
          <a:p>
            <a:pPr algn="l">
              <a:defRPr sz="1725" b="0">
                <a:solidFill>
                  <a:srgbClr val="172D43"/>
                </a:solidFill>
                <a:latin typeface="Arial"/>
                <a:ea typeface="Arial"/>
                <a:cs typeface="Arial"/>
              </a:defRPr>
            </a:pPr>
            <a:r>
              <a:rPr sz="1725" b="0">
                <a:solidFill>
                  <a:srgbClr val="172D43"/>
                </a:solidFill>
                <a:latin typeface="Arial"/>
                <a:ea typeface="Arial"/>
                <a:cs typeface="Arial"/>
              </a:rPr>
              <a:t>actions per call × action coordinates</a:t>
            </a:r>
          </a:p>
        </p:txBody>
      </p:sp>
      <p:sp>
        <p:nvSpPr>
          <p:cNvPr id="11" name="3 translations + 3 rotations + gripper&#10;LIBERO ex">
            <a:extLst>
              <a:ext uri="{FF2B5EF4-FFF2-40B4-BE49-F238E27FC236}">
                <a16:creationId id="{ACF471A8-A738-435F-8776-8941534E7B36}"/>
              </a:ext>
            </a:extLst>
          </p:cNvPr>
          <p:cNvSpPr>
            <a:spLocks noGrp="1"/>
          </p:cNvSpPr>
          <p:nvPr/>
        </p:nvSpPr>
        <p:spPr>
          <a:xfrm>
            <a:off x="6496050" y="5324475"/>
            <a:ext cx="5048250" cy="647700"/>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3 translations + 3 rotations + gripper</a:t>
            </a:r>
          </a:p>
          <a:p>
            <a:pPr algn="l">
              <a:defRPr sz="1650" b="0">
                <a:solidFill>
                  <a:srgbClr val="536779"/>
                </a:solidFill>
                <a:latin typeface="Arial"/>
                <a:ea typeface="Arial"/>
                <a:cs typeface="Arial"/>
              </a:defRPr>
            </a:pPr>
            <a:r>
              <a:rPr sz="1650" b="0">
                <a:solidFill>
                  <a:srgbClr val="536779"/>
                </a:solidFill>
                <a:latin typeface="Arial"/>
                <a:ea typeface="Arial"/>
                <a:cs typeface="Arial"/>
              </a:rPr>
              <a:t>LIBERO executes commands in MuJoCo.</a:t>
            </a:r>
          </a:p>
        </p:txBody>
      </p:sp>
    </p:spTree>
    <p:extLst>
      <p:ext uri="{BB962C8B-B14F-4D97-AF65-F5344CB8AC3E}">
        <p14:creationId val="1444223815"/>
      </p:ext>
    </p:extLst>
  </p:cSld>
  <p:timing>
    <p:tnLst>
      <p:par>
        <p:cTn id="1" dur="indefinite" restart="never" nodeType="tmRoot">
          <p:childTnLst>
            <p:video>
              <p:cMediaNode vol="0" mute="1" showWhenStopped="1">
                <p:cTn id="2" fill="hold" display="0">
                  <p:stCondLst>
                    <p:cond delay="0"/>
                  </p:stCondLst>
                </p:cTn>
                <p:tgtEl>
                  <p:spTgt spid="3"/>
                </p:tgtEl>
              </p:cMediaNode>
            </p:video>
          </p:childTnLst>
        </p:cTn>
      </p:par>
    </p:tnLst>
  </p:timing>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9" name="Slide title">
            <a:extLst>
              <a:ext uri="{FF2B5EF4-FFF2-40B4-BE49-F238E27FC236}">
                <a16:creationId id="{621E243F-AF2C-41DA-A4DF-1CE2E7BF4195}"/>
              </a:ext>
            </a:extLst>
          </p:cNvPr>
          <p:cNvSpPr>
            <a:spLocks noGrp="1"/>
          </p:cNvSpPr>
          <p:nvPr/>
        </p:nvSpPr>
        <p:spPr>
          <a:xfrm>
            <a:off x="533400" y="409575"/>
            <a:ext cx="11125200" cy="952500"/>
          </a:xfrm>
          <a:prstGeom prst="rect">
            <a:avLst/>
          </a:prstGeom>
          <a:noFill/>
          <a:ln w="0">
            <a:noFill/>
          </a:ln>
        </p:spPr>
        <p:txBody>
          <a:bodyPr wrap="square" lIns="0" tIns="0" rIns="0" bIns="0" anchor="t">
            <a:noAutofit/>
          </a:bodyPr>
          <a:lstStyle>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a:pPr algn="l">
              <a:defRPr sz="3150" b="1">
                <a:solidFill>
                  <a:srgbClr val="172D43"/>
                </a:solidFill>
                <a:latin typeface="Arial"/>
                <a:ea typeface="Arial"/>
                <a:cs typeface="Arial"/>
              </a:defRPr>
            </a:pPr>
            <a:r>
              <a:rPr sz="3150" b="1">
                <a:solidFill>
                  <a:srgbClr val="172D43"/>
                </a:solidFill>
                <a:latin typeface="Arial"/>
                <a:ea typeface="Arial"/>
                <a:cs typeface="Arial"/>
              </a:rPr>
              <a:t>The executor sets the replanning interval</a:t>
            </a:r>
          </a:p>
        </p:txBody>
      </p:sp>
      <p:sp>
        <p:nvSpPr>
          <p:cNvPr id="2" name="03">
            <a:extLst>
              <a:ext uri="{FF2B5EF4-FFF2-40B4-BE49-F238E27FC236}">
                <a16:creationId id="{6759664F-3D7D-49D3-80CB-022B3902F653}"/>
              </a:ext>
            </a:extLst>
          </p:cNvPr>
          <p:cNvSpPr>
            <a:spLocks noGrp="1"/>
          </p:cNvSpPr>
          <p:nvPr/>
        </p:nvSpPr>
        <p:spPr>
          <a:xfrm>
            <a:off x="11334750" y="6372225"/>
            <a:ext cx="381000" cy="228600"/>
          </a:xfrm>
          <a:prstGeom prst="rect">
            <a:avLst/>
          </a:prstGeom>
          <a:noFill/>
          <a:ln w="0">
            <a:noFill/>
          </a:ln>
        </p:spPr>
        <p:txBody>
          <a:bodyPr wrap="square" lIns="0" tIns="0" rIns="0" bIns="0" anchor="t">
            <a:noAutofit/>
          </a:bodyPr>
          <a:lstStyle>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a:pPr algn="l">
              <a:defRPr sz="1200" b="0">
                <a:solidFill>
                  <a:srgbClr val="536779"/>
                </a:solidFill>
                <a:latin typeface="Arial"/>
                <a:ea typeface="Arial"/>
                <a:cs typeface="Arial"/>
              </a:defRPr>
            </a:pPr>
            <a:r>
              <a:rPr sz="1200" b="0">
                <a:solidFill>
                  <a:srgbClr val="536779"/>
                </a:solidFill>
                <a:latin typeface="Arial"/>
                <a:ea typeface="Arial"/>
                <a:cs typeface="Arial"/>
              </a:rPr>
              <a:t>03</a:t>
            </a:r>
          </a:p>
        </p:txBody>
      </p:sp>
      <p:sp>
        <p:nvSpPr>
          <p:cNvPr id="3" name="Prediction stays fixed. Execution changes.">
            <a:extLst>
              <a:ext uri="{FF2B5EF4-FFF2-40B4-BE49-F238E27FC236}">
                <a16:creationId id="{FB42055B-D09D-4E67-9638-818C2FDF5A6C}"/>
              </a:ext>
            </a:extLst>
          </p:cNvPr>
          <p:cNvSpPr>
            <a:spLocks noGrp="1"/>
          </p:cNvSpPr>
          <p:nvPr/>
        </p:nvSpPr>
        <p:spPr>
          <a:xfrm>
            <a:off x="533400" y="1266825"/>
            <a:ext cx="10477500" cy="342900"/>
          </a:xfrm>
          <a:prstGeom prst="rect">
            <a:avLst/>
          </a:prstGeom>
          <a:noFill/>
          <a:ln w="0">
            <a:noFill/>
          </a:ln>
        </p:spPr>
        <p:txBody>
          <a:bodyPr wrap="square" lIns="0" tIns="0" rIns="0" bIns="0" anchor="t">
            <a:noAutofit/>
          </a:bodyPr>
          <a:lstStyle>
            <a:defPPr algn="l">
              <a:defRPr sz="1875" b="0">
                <a:solidFill>
                  <a:srgbClr val="536779"/>
                </a:solidFill>
                <a:latin typeface="Arial"/>
                <a:ea typeface="Arial"/>
                <a:cs typeface="Arial"/>
              </a:defRPr>
            </a:defPPr>
            <a:lvl1pPr algn="l">
              <a:defRPr sz="1875" b="0">
                <a:solidFill>
                  <a:srgbClr val="536779"/>
                </a:solidFill>
                <a:latin typeface="Arial"/>
                <a:ea typeface="Arial"/>
                <a:cs typeface="Arial"/>
              </a:defRPr>
            </a:lvl1pPr>
            <a:lvl2pPr algn="l">
              <a:defRPr sz="1875" b="0">
                <a:solidFill>
                  <a:srgbClr val="536779"/>
                </a:solidFill>
                <a:latin typeface="Arial"/>
                <a:ea typeface="Arial"/>
                <a:cs typeface="Arial"/>
              </a:defRPr>
            </a:lvl2pPr>
            <a:lvl3pPr algn="l">
              <a:defRPr sz="1875" b="0">
                <a:solidFill>
                  <a:srgbClr val="536779"/>
                </a:solidFill>
                <a:latin typeface="Arial"/>
                <a:ea typeface="Arial"/>
                <a:cs typeface="Arial"/>
              </a:defRPr>
            </a:lvl3pPr>
            <a:lvl4pPr algn="l">
              <a:defRPr sz="1875" b="0">
                <a:solidFill>
                  <a:srgbClr val="536779"/>
                </a:solidFill>
                <a:latin typeface="Arial"/>
                <a:ea typeface="Arial"/>
                <a:cs typeface="Arial"/>
              </a:defRPr>
            </a:lvl4pPr>
            <a:lvl5pPr algn="l">
              <a:defRPr sz="1875" b="0">
                <a:solidFill>
                  <a:srgbClr val="536779"/>
                </a:solidFill>
                <a:latin typeface="Arial"/>
                <a:ea typeface="Arial"/>
                <a:cs typeface="Arial"/>
              </a:defRPr>
            </a:lvl5pPr>
            <a:lvl6pPr algn="l">
              <a:defRPr sz="1875" b="0">
                <a:solidFill>
                  <a:srgbClr val="536779"/>
                </a:solidFill>
                <a:latin typeface="Arial"/>
                <a:ea typeface="Arial"/>
                <a:cs typeface="Arial"/>
              </a:defRPr>
            </a:lvl6pPr>
            <a:lvl7pPr algn="l">
              <a:defRPr sz="1875" b="0">
                <a:solidFill>
                  <a:srgbClr val="536779"/>
                </a:solidFill>
                <a:latin typeface="Arial"/>
                <a:ea typeface="Arial"/>
                <a:cs typeface="Arial"/>
              </a:defRPr>
            </a:lvl7pPr>
            <a:lvl8pPr algn="l">
              <a:defRPr sz="1875" b="0">
                <a:solidFill>
                  <a:srgbClr val="536779"/>
                </a:solidFill>
                <a:latin typeface="Arial"/>
                <a:ea typeface="Arial"/>
                <a:cs typeface="Arial"/>
              </a:defRPr>
            </a:lvl8pPr>
            <a:lvl9pPr algn="l">
              <a:defRPr sz="1875" b="0">
                <a:solidFill>
                  <a:srgbClr val="536779"/>
                </a:solidFill>
                <a:latin typeface="Arial"/>
                <a:ea typeface="Arial"/>
                <a:cs typeface="Arial"/>
              </a:defRPr>
            </a:lvl9pPr>
          </a:lstStyle>
          <a:p>
            <a:pPr algn="l">
              <a:defRPr sz="1875" b="0">
                <a:solidFill>
                  <a:srgbClr val="536779"/>
                </a:solidFill>
                <a:latin typeface="Arial"/>
                <a:ea typeface="Arial"/>
                <a:cs typeface="Arial"/>
              </a:defRPr>
            </a:pPr>
            <a:r>
              <a:rPr sz="1875" b="0">
                <a:solidFill>
                  <a:srgbClr val="536779"/>
                </a:solidFill>
                <a:latin typeface="Arial"/>
                <a:ea typeface="Arial"/>
                <a:cs typeface="Arial"/>
              </a:rPr>
              <a:t>Prediction stays fixed. Execution changes.</a:t>
            </a:r>
          </a:p>
        </p:txBody>
      </p:sp>
      <p:graphicFrame>
        <p:nvGraphicFramePr>
          <p:cNvPr id="4" name="">
            <a:extLst>
              <a:ext uri="{FF2B5EF4-FFF2-40B4-BE49-F238E27FC236}">
                <a16:creationId id="{BB770296-6F89-4A00-A9AB-42824712858E}"/>
              </a:ext>
            </a:extLst>
          </p:cNvPr>
          <p:cNvGraphicFramePr/>
          <p:nvPr/>
        </p:nvGraphicFramePr>
        <p:xfrm>
          <a:off x="533400" y="1962150"/>
          <a:ext cx="4705350" cy="2952750"/>
        </p:xfrm>
        <a:graphic>
          <a:graphicData uri="http://schemas.openxmlformats.org/drawingml/2006/table">
            <a:tbl>
              <a:tblPr firstRow="0" bandRow="0"/>
              <a:tblGrid>
                <a:gridCol w="857250"/>
                <a:gridCol w="2647950"/>
                <a:gridCol w="1200150"/>
              </a:tblGrid>
              <a:tr h="590550">
                <a:tc>
                  <a:txBody>
                    <a:bodyPr lIns="114300" tIns="76200" rIns="114300" bIns="76200"/>
                    <a:lstStyle/>
                    <a:p>
                      <a:r>
                        <a:rPr sz="1575" b="1">
                          <a:solidFill>
                            <a:srgbClr val="172D43"/>
                          </a:solidFill>
                          <a:latin typeface="Arial"/>
                          <a:ea typeface="Arial"/>
                          <a:cs typeface="Arial"/>
                        </a:rPr>
                        <a:t>Term</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Meaning</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Value</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590550">
                <a:tc>
                  <a:txBody>
                    <a:bodyPr lIns="114300" tIns="76200" rIns="114300" bIns="76200"/>
                    <a:lstStyle/>
                    <a:p>
                      <a:r>
                        <a:rPr sz="1725" b="0">
                          <a:solidFill>
                            <a:srgbClr val="172D43"/>
                          </a:solidFill>
                          <a:latin typeface="Arial"/>
                          <a:ea typeface="Arial"/>
                          <a:cs typeface="Arial"/>
                        </a:rPr>
                        <a:t>H</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Predicted actions</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50</a:t>
                      </a:r>
                    </a:p>
                  </a:txBody>
                  <a:tcPr marL="91440" marR="91440" marT="45720" marB="45720" anchor="ctr">
                    <a:lnR w="0">
                      <a:solidFill>
                        <a:srgbClr val="FFFFFF"/>
                      </a:solidFill>
                    </a:lnR>
                    <a:lnB w="0">
                      <a:solidFill>
                        <a:srgbClr val="FFFFFF"/>
                      </a:solidFill>
                    </a:lnB>
                    <a:solidFill>
                      <a:srgbClr val="FFFFFF"/>
                    </a:solidFill>
                  </a:tcPr>
                </a:tc>
              </a:tr>
              <a:tr h="590550">
                <a:tc>
                  <a:txBody>
                    <a:bodyPr lIns="114300" tIns="76200" rIns="114300" bIns="76200"/>
                    <a:lstStyle/>
                    <a:p>
                      <a:r>
                        <a:rPr sz="1725" b="0">
                          <a:solidFill>
                            <a:srgbClr val="172D43"/>
                          </a:solidFill>
                          <a:latin typeface="Arial"/>
                          <a:ea typeface="Arial"/>
                          <a:cs typeface="Arial"/>
                        </a:rPr>
                        <a:t>M</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Flow-matching steps</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10</a:t>
                      </a:r>
                    </a:p>
                  </a:txBody>
                  <a:tcPr marL="91440" marR="91440" marT="45720" marB="45720" anchor="ctr">
                    <a:lnR w="0">
                      <a:solidFill>
                        <a:srgbClr val="FFFFFF"/>
                      </a:solidFill>
                    </a:lnR>
                    <a:lnB w="0">
                      <a:solidFill>
                        <a:srgbClr val="FFFFFF"/>
                      </a:solidFill>
                    </a:lnB>
                    <a:solidFill>
                      <a:srgbClr val="F7F9FB"/>
                    </a:solidFill>
                  </a:tcPr>
                </a:tc>
              </a:tr>
              <a:tr h="590550">
                <a:tc>
                  <a:txBody>
                    <a:bodyPr lIns="114300" tIns="76200" rIns="114300" bIns="76200"/>
                    <a:lstStyle/>
                    <a:p>
                      <a:r>
                        <a:rPr sz="1725" b="0">
                          <a:solidFill>
                            <a:srgbClr val="172D43"/>
                          </a:solidFill>
                          <a:latin typeface="Arial"/>
                          <a:ea typeface="Arial"/>
                          <a:cs typeface="Arial"/>
                        </a:rPr>
                        <a:t>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Actions executed</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1–50</a:t>
                      </a:r>
                    </a:p>
                  </a:txBody>
                  <a:tcPr marL="91440" marR="91440" marT="45720" marB="45720" anchor="ctr">
                    <a:lnR w="0">
                      <a:solidFill>
                        <a:srgbClr val="FFFFFF"/>
                      </a:solidFill>
                    </a:lnR>
                    <a:lnB w="0">
                      <a:solidFill>
                        <a:srgbClr val="FFFFFF"/>
                      </a:solidFill>
                    </a:lnB>
                    <a:solidFill>
                      <a:srgbClr val="FFFFFF"/>
                    </a:solidFill>
                  </a:tcPr>
                </a:tc>
              </a:tr>
              <a:tr h="590550">
                <a:tc>
                  <a:txBody>
                    <a:bodyPr lIns="114300" tIns="76200" rIns="114300" bIns="76200"/>
                    <a:lstStyle/>
                    <a:p>
                      <a:r>
                        <a:rPr sz="1725" b="0">
                          <a:solidFill>
                            <a:srgbClr val="172D43"/>
                          </a:solidFill>
                          <a:latin typeface="Arial"/>
                          <a:ea typeface="Arial"/>
                          <a:cs typeface="Arial"/>
                        </a:rPr>
                        <a:t>C</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Maximum DVAC K</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5–50</a:t>
                      </a:r>
                    </a:p>
                  </a:txBody>
                  <a:tcPr marL="91440" marR="91440" marT="45720" marB="45720" anchor="ctr">
                    <a:lnR w="0">
                      <a:solidFill>
                        <a:srgbClr val="FFFFFF"/>
                      </a:solidFill>
                    </a:lnR>
                    <a:lnB w="0">
                      <a:solidFill>
                        <a:srgbClr val="FFFFFF"/>
                      </a:solidFill>
                    </a:lnB>
                    <a:solidFill>
                      <a:srgbClr val="F7F9FB"/>
                    </a:solidFill>
                  </a:tcPr>
                </a:tc>
              </a:tr>
            </a:tbl>
          </a:graphicData>
        </a:graphic>
      </p:graphicFrame>
      <p:pic>
        <p:nvPicPr>
          <p:cNvPr id="5" name="VIDEO_case_k1_k10_en" descr="case_k1_k10_en">
            <a:hlinkClick action="ppaction://media"/>
            <a:extLst>
              <a:ext uri="{FF2B5EF4-FFF2-40B4-BE49-F238E27FC236}">
                <a16:creationId id="{C0750838-0DB9-41F3-9928-EFC8CCA376B6}"/>
              </a:ext>
            </a:extLst>
          </p:cNvPr>
          <p:cNvPicPr>
            <a:picLocks noChangeAspect="1"/>
          </p:cNvPicPr>
          <p:nvPr>
            <a:videoFile r:link="rIdPreservedVideo_case_k1_k10_en"/>
            <p:extLst>
              <p:ext uri="{DAA4B4D4-6D71-4841-9C94-3DE7FCFB9230}">
                <p14:media r:embed="rIdPreservedMedia_case_k1_k10_en"/>
              </p:ext>
            </p:extLst>
          </p:nvPr>
        </p:nvPicPr>
        <p:blipFill>
          <a:blip r:embed="R7512242ea85f4676"/>
          <a:stretch/>
        </p:blipFill>
        <p:spPr>
          <a:xfrm>
            <a:off x="5619750" y="1866904"/>
            <a:ext cx="6038850" cy="3459758"/>
          </a:xfrm>
          <a:prstGeom prst="rect">
            <a:avLst/>
          </a:prstGeom>
        </p:spPr>
      </p:pic>
      <p:sp>
        <p:nvSpPr>
          <p:cNvPr id="6" name="Same start: K=1 fails, K=10 succeeds">
            <a:extLst>
              <a:ext uri="{FF2B5EF4-FFF2-40B4-BE49-F238E27FC236}">
                <a16:creationId id="{35D8E6C8-5F78-4FF0-A5EA-6E07902C1282}"/>
              </a:ext>
            </a:extLst>
          </p:cNvPr>
          <p:cNvSpPr>
            <a:spLocks noGrp="1"/>
          </p:cNvSpPr>
          <p:nvPr/>
        </p:nvSpPr>
        <p:spPr>
          <a:xfrm>
            <a:off x="5619750" y="5505450"/>
            <a:ext cx="6038850" cy="361950"/>
          </a:xfrm>
          <a:prstGeom prst="rect">
            <a:avLst/>
          </a:prstGeom>
          <a:noFill/>
          <a:ln w="0">
            <a:noFill/>
          </a:ln>
        </p:spPr>
        <p:txBody>
          <a:bodyPr wrap="square" lIns="0" tIns="0" rIns="0" bIns="0" anchor="t">
            <a:noAutofit/>
          </a:bodyPr>
          <a:lstStyle>
            <a:defPPr algn="l">
              <a:defRPr sz="1950" b="1">
                <a:solidFill>
                  <a:srgbClr val="2563A5"/>
                </a:solidFill>
                <a:latin typeface="Arial"/>
                <a:ea typeface="Arial"/>
                <a:cs typeface="Arial"/>
              </a:defRPr>
            </a:defPPr>
            <a:lvl1pPr algn="l">
              <a:defRPr sz="1950" b="1">
                <a:solidFill>
                  <a:srgbClr val="2563A5"/>
                </a:solidFill>
                <a:latin typeface="Arial"/>
                <a:ea typeface="Arial"/>
                <a:cs typeface="Arial"/>
              </a:defRPr>
            </a:lvl1pPr>
            <a:lvl2pPr algn="l">
              <a:defRPr sz="1950" b="1">
                <a:solidFill>
                  <a:srgbClr val="2563A5"/>
                </a:solidFill>
                <a:latin typeface="Arial"/>
                <a:ea typeface="Arial"/>
                <a:cs typeface="Arial"/>
              </a:defRPr>
            </a:lvl2pPr>
            <a:lvl3pPr algn="l">
              <a:defRPr sz="1950" b="1">
                <a:solidFill>
                  <a:srgbClr val="2563A5"/>
                </a:solidFill>
                <a:latin typeface="Arial"/>
                <a:ea typeface="Arial"/>
                <a:cs typeface="Arial"/>
              </a:defRPr>
            </a:lvl3pPr>
            <a:lvl4pPr algn="l">
              <a:defRPr sz="1950" b="1">
                <a:solidFill>
                  <a:srgbClr val="2563A5"/>
                </a:solidFill>
                <a:latin typeface="Arial"/>
                <a:ea typeface="Arial"/>
                <a:cs typeface="Arial"/>
              </a:defRPr>
            </a:lvl4pPr>
            <a:lvl5pPr algn="l">
              <a:defRPr sz="1950" b="1">
                <a:solidFill>
                  <a:srgbClr val="2563A5"/>
                </a:solidFill>
                <a:latin typeface="Arial"/>
                <a:ea typeface="Arial"/>
                <a:cs typeface="Arial"/>
              </a:defRPr>
            </a:lvl5pPr>
            <a:lvl6pPr algn="l">
              <a:defRPr sz="1950" b="1">
                <a:solidFill>
                  <a:srgbClr val="2563A5"/>
                </a:solidFill>
                <a:latin typeface="Arial"/>
                <a:ea typeface="Arial"/>
                <a:cs typeface="Arial"/>
              </a:defRPr>
            </a:lvl6pPr>
            <a:lvl7pPr algn="l">
              <a:defRPr sz="1950" b="1">
                <a:solidFill>
                  <a:srgbClr val="2563A5"/>
                </a:solidFill>
                <a:latin typeface="Arial"/>
                <a:ea typeface="Arial"/>
                <a:cs typeface="Arial"/>
              </a:defRPr>
            </a:lvl7pPr>
            <a:lvl8pPr algn="l">
              <a:defRPr sz="1950" b="1">
                <a:solidFill>
                  <a:srgbClr val="2563A5"/>
                </a:solidFill>
                <a:latin typeface="Arial"/>
                <a:ea typeface="Arial"/>
                <a:cs typeface="Arial"/>
              </a:defRPr>
            </a:lvl8pPr>
            <a:lvl9pPr algn="l">
              <a:defRPr sz="1950" b="1">
                <a:solidFill>
                  <a:srgbClr val="2563A5"/>
                </a:solidFill>
                <a:latin typeface="Arial"/>
                <a:ea typeface="Arial"/>
                <a:cs typeface="Arial"/>
              </a:defRPr>
            </a:lvl9pPr>
          </a:lstStyle>
          <a:p>
            <a:pPr algn="l">
              <a:defRPr sz="1950" b="1">
                <a:solidFill>
                  <a:srgbClr val="2563A5"/>
                </a:solidFill>
                <a:latin typeface="Arial"/>
                <a:ea typeface="Arial"/>
                <a:cs typeface="Arial"/>
              </a:defRPr>
            </a:pPr>
            <a:r>
              <a:rPr sz="1950" b="1">
                <a:solidFill>
                  <a:srgbClr val="2563A5"/>
                </a:solidFill>
                <a:latin typeface="Arial"/>
                <a:ea typeface="Arial"/>
                <a:cs typeface="Arial"/>
              </a:rPr>
              <a:t>Same start: K=1 fails, K=10 succeeds</a:t>
            </a:r>
          </a:p>
        </p:txBody>
      </p:sp>
      <p:sp>
        <p:nvSpPr>
          <p:cNvPr id="7" name="280 calls versus 14 calls in this example">
            <a:extLst>
              <a:ext uri="{FF2B5EF4-FFF2-40B4-BE49-F238E27FC236}">
                <a16:creationId id="{538004CE-C669-4FBA-A3C5-EC9341C9037B}"/>
              </a:ext>
            </a:extLst>
          </p:cNvPr>
          <p:cNvSpPr>
            <a:spLocks noGrp="1"/>
          </p:cNvSpPr>
          <p:nvPr/>
        </p:nvSpPr>
        <p:spPr>
          <a:xfrm>
            <a:off x="5619750" y="5915025"/>
            <a:ext cx="6038850" cy="333375"/>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280 calls versus 14 calls in this example</a:t>
            </a:r>
          </a:p>
        </p:txBody>
      </p:sp>
      <p:sp>
        <p:nvSpPr>
          <p:cNvPr id="8" name="At 20 Hz, K=1 / 10 / 50 executes&#10;0.05 / 0.5 / 2.">
            <a:extLst>
              <a:ext uri="{FF2B5EF4-FFF2-40B4-BE49-F238E27FC236}">
                <a16:creationId id="{ECB3B6A8-70C7-4B42-8E4B-19B677A731E8}"/>
              </a:ext>
            </a:extLst>
          </p:cNvPr>
          <p:cNvSpPr>
            <a:spLocks noGrp="1"/>
          </p:cNvSpPr>
          <p:nvPr/>
        </p:nvSpPr>
        <p:spPr>
          <a:xfrm>
            <a:off x="533400" y="5257800"/>
            <a:ext cx="4762500" cy="1000125"/>
          </a:xfrm>
          <a:prstGeom prst="rect">
            <a:avLst/>
          </a:prstGeom>
          <a:noFill/>
          <a:ln w="0">
            <a:noFill/>
          </a:ln>
        </p:spPr>
        <p:txBody>
          <a:bodyPr wrap="square" lIns="0" tIns="0" rIns="0" bIns="0" anchor="t">
            <a:noAutofit/>
          </a:bodyPr>
          <a:lstStyle>
            <a:defPPr algn="l">
              <a:defRPr sz="1725" b="0">
                <a:solidFill>
                  <a:srgbClr val="172D43"/>
                </a:solidFill>
                <a:latin typeface="Arial"/>
                <a:ea typeface="Arial"/>
                <a:cs typeface="Arial"/>
              </a:defRPr>
            </a:defPPr>
            <a:lvl1pPr algn="l">
              <a:defRPr sz="1725" b="0">
                <a:solidFill>
                  <a:srgbClr val="172D43"/>
                </a:solidFill>
                <a:latin typeface="Arial"/>
                <a:ea typeface="Arial"/>
                <a:cs typeface="Arial"/>
              </a:defRPr>
            </a:lvl1pPr>
            <a:lvl2pPr algn="l">
              <a:defRPr sz="1725" b="0">
                <a:solidFill>
                  <a:srgbClr val="172D43"/>
                </a:solidFill>
                <a:latin typeface="Arial"/>
                <a:ea typeface="Arial"/>
                <a:cs typeface="Arial"/>
              </a:defRPr>
            </a:lvl2pPr>
            <a:lvl3pPr algn="l">
              <a:defRPr sz="1725" b="0">
                <a:solidFill>
                  <a:srgbClr val="172D43"/>
                </a:solidFill>
                <a:latin typeface="Arial"/>
                <a:ea typeface="Arial"/>
                <a:cs typeface="Arial"/>
              </a:defRPr>
            </a:lvl3pPr>
            <a:lvl4pPr algn="l">
              <a:defRPr sz="1725" b="0">
                <a:solidFill>
                  <a:srgbClr val="172D43"/>
                </a:solidFill>
                <a:latin typeface="Arial"/>
                <a:ea typeface="Arial"/>
                <a:cs typeface="Arial"/>
              </a:defRPr>
            </a:lvl4pPr>
            <a:lvl5pPr algn="l">
              <a:defRPr sz="1725" b="0">
                <a:solidFill>
                  <a:srgbClr val="172D43"/>
                </a:solidFill>
                <a:latin typeface="Arial"/>
                <a:ea typeface="Arial"/>
                <a:cs typeface="Arial"/>
              </a:defRPr>
            </a:lvl5pPr>
            <a:lvl6pPr algn="l">
              <a:defRPr sz="1725" b="0">
                <a:solidFill>
                  <a:srgbClr val="172D43"/>
                </a:solidFill>
                <a:latin typeface="Arial"/>
                <a:ea typeface="Arial"/>
                <a:cs typeface="Arial"/>
              </a:defRPr>
            </a:lvl6pPr>
            <a:lvl7pPr algn="l">
              <a:defRPr sz="1725" b="0">
                <a:solidFill>
                  <a:srgbClr val="172D43"/>
                </a:solidFill>
                <a:latin typeface="Arial"/>
                <a:ea typeface="Arial"/>
                <a:cs typeface="Arial"/>
              </a:defRPr>
            </a:lvl7pPr>
            <a:lvl8pPr algn="l">
              <a:defRPr sz="1725" b="0">
                <a:solidFill>
                  <a:srgbClr val="172D43"/>
                </a:solidFill>
                <a:latin typeface="Arial"/>
                <a:ea typeface="Arial"/>
                <a:cs typeface="Arial"/>
              </a:defRPr>
            </a:lvl8pPr>
            <a:lvl9pPr algn="l">
              <a:defRPr sz="1725" b="0">
                <a:solidFill>
                  <a:srgbClr val="172D43"/>
                </a:solidFill>
                <a:latin typeface="Arial"/>
                <a:ea typeface="Arial"/>
                <a:cs typeface="Arial"/>
              </a:defRPr>
            </a:lvl9pPr>
          </a:lstStyle>
          <a:p>
            <a:pPr algn="l">
              <a:defRPr sz="1725" b="0">
                <a:solidFill>
                  <a:srgbClr val="172D43"/>
                </a:solidFill>
                <a:latin typeface="Arial"/>
                <a:ea typeface="Arial"/>
                <a:cs typeface="Arial"/>
              </a:defRPr>
            </a:pPr>
            <a:r>
              <a:rPr sz="1725" b="0">
                <a:solidFill>
                  <a:srgbClr val="172D43"/>
                </a:solidFill>
                <a:latin typeface="Arial"/>
                <a:ea typeface="Arial"/>
                <a:cs typeface="Arial"/>
              </a:rPr>
              <a:t>At 20 Hz, K=1 / 10 / 50 executes</a:t>
            </a:r>
          </a:p>
          <a:p>
            <a:pPr algn="l">
              <a:defRPr sz="1725" b="0">
                <a:solidFill>
                  <a:srgbClr val="172D43"/>
                </a:solidFill>
                <a:latin typeface="Arial"/>
                <a:ea typeface="Arial"/>
                <a:cs typeface="Arial"/>
              </a:defRPr>
            </a:pPr>
            <a:r>
              <a:rPr sz="1725" b="0">
                <a:solidFill>
                  <a:srgbClr val="172D43"/>
                </a:solidFill>
                <a:latin typeface="Arial"/>
                <a:ea typeface="Arial"/>
                <a:cs typeface="Arial"/>
              </a:rPr>
              <a:t>0.05 / 0.5 / 2.5 seconds before a new observation.</a:t>
            </a:r>
          </a:p>
        </p:txBody>
      </p:sp>
    </p:spTree>
    <p:extLst>
      <p:ext uri="{BB962C8B-B14F-4D97-AF65-F5344CB8AC3E}">
        <p14:creationId val="528456227"/>
      </p:ext>
    </p:extLst>
  </p:cSld>
  <p:timing>
    <p:tnLst>
      <p:par>
        <p:cTn id="1" dur="indefinite" restart="never" nodeType="tmRoot">
          <p:childTnLst>
            <p:video>
              <p:cMediaNode vol="0" mute="1" showWhenStopped="1">
                <p:cTn id="2" fill="hold" display="0">
                  <p:stCondLst>
                    <p:cond delay="0"/>
                  </p:stCondLst>
                </p:cTn>
                <p:tgtEl>
                  <p:spTgt spid="5"/>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67ABAD3A-972D-4408-B82C-5A1F852ADBFA}"/>
              </a:ext>
            </a:extLst>
          </p:cNvPr>
          <p:cNvSpPr>
            <a:spLocks xmlns:a="http://schemas.openxmlformats.org/drawingml/2006/main" noGrp="1"/>
          </p:cNvSpPr>
          <p:nvPr/>
        </p:nvSpPr>
        <p:spPr>
          <a:xfrm xmlns:a="http://schemas.openxmlformats.org/drawingml/2006/main">
            <a:off x="533400" y="40957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xmlns:a="http://schemas.openxmlformats.org/drawingml/2006/main">
            <a:pPr algn="l">
              <a:defRPr sz="3150" b="1">
                <a:solidFill>
                  <a:srgbClr val="172D43"/>
                </a:solidFill>
                <a:latin typeface="Arial"/>
                <a:ea typeface="Arial"/>
                <a:cs typeface="Arial"/>
              </a:defRPr>
            </a:pPr>
            <a:r>
              <a:rPr sz="3150" b="1">
                <a:solidFill>
                  <a:srgbClr val="172D43"/>
                </a:solidFill>
                <a:latin typeface="Arial"/>
                <a:ea typeface="Arial"/>
                <a:cs typeface="Arial"/>
              </a:rPr>
              <a:t>DVAC selects K from internal FM disagreement</a:t>
            </a:r>
          </a:p>
        </p:txBody>
      </p:sp>
      <p:sp>
        <p:nvSpPr>
          <p:cNvPr id="2" name="Denoising-Variance Adaptive Chunking">
            <a:extLst xmlns:a="http://schemas.openxmlformats.org/drawingml/2006/main">
              <a:ext uri="{FF2B5EF4-FFF2-40B4-BE49-F238E27FC236}">
                <a16:creationId xmlns:a16="http://schemas.microsoft.com/office/drawing/2014/main" id="{2AFED603-0E4B-458F-B949-B0455F5D8BB4}"/>
              </a:ext>
            </a:extLst>
          </p:cNvPr>
          <p:cNvSpPr>
            <a:spLocks xmlns:a="http://schemas.openxmlformats.org/drawingml/2006/main" noGrp="1"/>
          </p:cNvSpPr>
          <p:nvPr/>
        </p:nvSpPr>
        <p:spPr>
          <a:xfrm xmlns:a="http://schemas.openxmlformats.org/drawingml/2006/main">
            <a:off x="533400" y="10668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xmlns:a="http://schemas.openxmlformats.org/drawingml/2006/main">
            <a:pPr algn="l">
              <a:defRPr sz="1650" b="0">
                <a:solidFill>
                  <a:srgbClr val="536779"/>
                </a:solidFill>
                <a:latin typeface="Arial"/>
                <a:ea typeface="Arial"/>
                <a:cs typeface="Arial"/>
              </a:defRPr>
            </a:pPr>
            <a:r>
              <a:rPr sz="1650" b="0">
                <a:solidFill>
                  <a:srgbClr val="536779"/>
                </a:solidFill>
                <a:latin typeface="Arial"/>
                <a:ea typeface="Arial"/>
                <a:cs typeface="Arial"/>
              </a:rPr>
              <a:t>Denoising-Variance Adaptive Chunking</a:t>
            </a:r>
          </a:p>
        </p:txBody>
      </p:sp>
      <p:sp>
        <p:nvSpPr>
          <p:cNvPr id="3" name="04">
            <a:extLst xmlns:a="http://schemas.openxmlformats.org/drawingml/2006/main">
              <a:ext uri="{FF2B5EF4-FFF2-40B4-BE49-F238E27FC236}">
                <a16:creationId xmlns:a16="http://schemas.microsoft.com/office/drawing/2014/main" id="{45DF79D0-5D01-42C0-A752-7AA654E35075}"/>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xmlns:a="http://schemas.openxmlformats.org/drawingml/2006/main">
            <a:pPr algn="l">
              <a:defRPr sz="1200" b="0">
                <a:solidFill>
                  <a:srgbClr val="536779"/>
                </a:solidFill>
                <a:latin typeface="Arial"/>
                <a:ea typeface="Arial"/>
                <a:cs typeface="Arial"/>
              </a:defRPr>
            </a:pPr>
            <a:r>
              <a:rPr sz="1200" b="0">
                <a:solidFill>
                  <a:srgbClr val="536779"/>
                </a:solidFill>
                <a:latin typeface="Arial"/>
                <a:ea typeface="Arial"/>
                <a:cs typeface="Arial"/>
              </a:rPr>
              <a:t>04</a:t>
            </a:r>
          </a:p>
        </p:txBody>
      </p:sp>
      <p:sp>
        <p:nvSpPr>
          <p:cNvPr id="4" name="1. Measure disagreement">
            <a:extLst xmlns:a="http://schemas.openxmlformats.org/drawingml/2006/main">
              <a:ext uri="{FF2B5EF4-FFF2-40B4-BE49-F238E27FC236}">
                <a16:creationId xmlns:a16="http://schemas.microsoft.com/office/drawing/2014/main" id="{13C0B526-B38C-4B7E-B4A4-51F93B16F800}"/>
              </a:ext>
            </a:extLst>
          </p:cNvPr>
          <p:cNvSpPr>
            <a:spLocks xmlns:a="http://schemas.openxmlformats.org/drawingml/2006/main" noGrp="1"/>
          </p:cNvSpPr>
          <p:nvPr/>
        </p:nvSpPr>
        <p:spPr>
          <a:xfrm xmlns:a="http://schemas.openxmlformats.org/drawingml/2006/main">
            <a:off x="533400" y="1743075"/>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xmlns:a="http://schemas.openxmlformats.org/drawingml/2006/main">
            <a:pPr algn="l">
              <a:defRPr sz="2175" b="1">
                <a:solidFill>
                  <a:srgbClr val="2563A5"/>
                </a:solidFill>
                <a:latin typeface="Arial"/>
                <a:ea typeface="Arial"/>
                <a:cs typeface="Arial"/>
              </a:defRPr>
            </a:pPr>
            <a:r>
              <a:rPr sz="2175" b="1">
                <a:solidFill>
                  <a:srgbClr val="2563A5"/>
                </a:solidFill>
                <a:latin typeface="Arial"/>
                <a:ea typeface="Arial"/>
                <a:cs typeface="Arial"/>
              </a:rPr>
              <a:t>1. Measure disagreement</a:t>
            </a:r>
          </a:p>
        </p:txBody>
      </p:sp>
      <p:sp>
        <p:nvSpPr>
          <p:cNvPr id="5" name="Use the last five clean-action estimates.">
            <a:extLst xmlns:a="http://schemas.openxmlformats.org/drawingml/2006/main">
              <a:ext uri="{FF2B5EF4-FFF2-40B4-BE49-F238E27FC236}">
                <a16:creationId xmlns:a16="http://schemas.microsoft.com/office/drawing/2014/main" id="{2BB8F260-CDEA-4BA7-BBE1-6276A7408E52}"/>
              </a:ext>
            </a:extLst>
          </p:cNvPr>
          <p:cNvSpPr>
            <a:spLocks xmlns:a="http://schemas.openxmlformats.org/drawingml/2006/main" noGrp="1"/>
          </p:cNvSpPr>
          <p:nvPr/>
        </p:nvSpPr>
        <p:spPr>
          <a:xfrm xmlns:a="http://schemas.openxmlformats.org/drawingml/2006/main">
            <a:off x="533400" y="22002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D43"/>
                </a:solidFill>
                <a:latin typeface="Arial"/>
                <a:ea typeface="Arial"/>
                <a:cs typeface="Arial"/>
              </a:defRPr>
            </a:defPPr>
            <a:lvl1pPr algn="l">
              <a:defRPr sz="1725" b="0">
                <a:solidFill>
                  <a:srgbClr val="172D43"/>
                </a:solidFill>
                <a:latin typeface="Arial"/>
                <a:ea typeface="Arial"/>
                <a:cs typeface="Arial"/>
              </a:defRPr>
            </a:lvl1pPr>
            <a:lvl2pPr algn="l">
              <a:defRPr sz="1725" b="0">
                <a:solidFill>
                  <a:srgbClr val="172D43"/>
                </a:solidFill>
                <a:latin typeface="Arial"/>
                <a:ea typeface="Arial"/>
                <a:cs typeface="Arial"/>
              </a:defRPr>
            </a:lvl2pPr>
            <a:lvl3pPr algn="l">
              <a:defRPr sz="1725" b="0">
                <a:solidFill>
                  <a:srgbClr val="172D43"/>
                </a:solidFill>
                <a:latin typeface="Arial"/>
                <a:ea typeface="Arial"/>
                <a:cs typeface="Arial"/>
              </a:defRPr>
            </a:lvl3pPr>
            <a:lvl4pPr algn="l">
              <a:defRPr sz="1725" b="0">
                <a:solidFill>
                  <a:srgbClr val="172D43"/>
                </a:solidFill>
                <a:latin typeface="Arial"/>
                <a:ea typeface="Arial"/>
                <a:cs typeface="Arial"/>
              </a:defRPr>
            </a:lvl4pPr>
            <a:lvl5pPr algn="l">
              <a:defRPr sz="1725" b="0">
                <a:solidFill>
                  <a:srgbClr val="172D43"/>
                </a:solidFill>
                <a:latin typeface="Arial"/>
                <a:ea typeface="Arial"/>
                <a:cs typeface="Arial"/>
              </a:defRPr>
            </a:lvl5pPr>
            <a:lvl6pPr algn="l">
              <a:defRPr sz="1725" b="0">
                <a:solidFill>
                  <a:srgbClr val="172D43"/>
                </a:solidFill>
                <a:latin typeface="Arial"/>
                <a:ea typeface="Arial"/>
                <a:cs typeface="Arial"/>
              </a:defRPr>
            </a:lvl6pPr>
            <a:lvl7pPr algn="l">
              <a:defRPr sz="1725" b="0">
                <a:solidFill>
                  <a:srgbClr val="172D43"/>
                </a:solidFill>
                <a:latin typeface="Arial"/>
                <a:ea typeface="Arial"/>
                <a:cs typeface="Arial"/>
              </a:defRPr>
            </a:lvl7pPr>
            <a:lvl8pPr algn="l">
              <a:defRPr sz="1725" b="0">
                <a:solidFill>
                  <a:srgbClr val="172D43"/>
                </a:solidFill>
                <a:latin typeface="Arial"/>
                <a:ea typeface="Arial"/>
                <a:cs typeface="Arial"/>
              </a:defRPr>
            </a:lvl8pPr>
            <a:lvl9pPr algn="l">
              <a:defRPr sz="1725" b="0">
                <a:solidFill>
                  <a:srgbClr val="172D43"/>
                </a:solidFill>
                <a:latin typeface="Arial"/>
                <a:ea typeface="Arial"/>
                <a:cs typeface="Arial"/>
              </a:defRPr>
            </a:lvl9pPr>
          </a:lstStyle>
          <a:p xmlns:a="http://schemas.openxmlformats.org/drawingml/2006/main">
            <a:pPr algn="l">
              <a:defRPr sz="1725" b="0">
                <a:solidFill>
                  <a:srgbClr val="172D43"/>
                </a:solidFill>
                <a:latin typeface="Arial"/>
                <a:ea typeface="Arial"/>
                <a:cs typeface="Arial"/>
              </a:defRPr>
            </a:pPr>
            <a:r>
              <a:rPr sz="1725" b="0">
                <a:solidFill>
                  <a:srgbClr val="172D43"/>
                </a:solidFill>
                <a:latin typeface="Arial"/>
                <a:ea typeface="Arial"/>
                <a:cs typeface="Arial"/>
              </a:rPr>
              <a:t>Use the last five clean-action estimates.</a:t>
            </a:r>
          </a:p>
        </p:txBody>
      </p:sp>
      <p:pic>
        <p:nvPicPr>
          <p:cNvPr id="6" name="">
            <a:extLst xmlns:a="http://schemas.openxmlformats.org/drawingml/2006/main">
              <a:ext uri="{FF2B5EF4-FFF2-40B4-BE49-F238E27FC236}">
                <a16:creationId xmlns:a16="http://schemas.microsoft.com/office/drawing/2014/main" id="{AFFF0AF6-ABB3-4CF6-BFDE-54D8E5635E0B}"/>
              </a:ext>
            </a:extLst>
          </p:cNvPr>
          <p:cNvPicPr>
            <a:picLocks xmlns:a="http://schemas.openxmlformats.org/drawingml/2006/main" noChangeAspect="1"/>
          </p:cNvPicPr>
          <p:nvPr/>
        </p:nvPicPr>
        <p:blipFill>
          <a:blip xmlns:r="http://schemas.openxmlformats.org/officeDocument/2006/relationships" xmlns:a="http://schemas.openxmlformats.org/drawingml/2006/main" r:embed="R4b00da0439d84f48"/>
          <a:stretch xmlns:a="http://schemas.openxmlformats.org/drawingml/2006/main"/>
        </p:blipFill>
        <p:spPr>
          <a:xfrm xmlns:a="http://schemas.openxmlformats.org/drawingml/2006/main">
            <a:off x="533400" y="2619375"/>
            <a:ext cx="5048250" cy="631031"/>
          </a:xfrm>
          <a:prstGeom xmlns:a="http://schemas.openxmlformats.org/drawingml/2006/main" prst="rect">
            <a:avLst/>
          </a:prstGeom>
        </p:spPr>
      </p:pic>
      <p:sp>
        <p:nvSpPr>
          <p:cNvPr id="7" name="x: noisy block   t: flow time   v: flow velocity">
            <a:extLst xmlns:a="http://schemas.openxmlformats.org/drawingml/2006/main">
              <a:ext uri="{FF2B5EF4-FFF2-40B4-BE49-F238E27FC236}">
                <a16:creationId xmlns:a16="http://schemas.microsoft.com/office/drawing/2014/main" id="{6605494B-0A10-4370-AA85-6A9901077190}"/>
              </a:ext>
            </a:extLst>
          </p:cNvPr>
          <p:cNvSpPr>
            <a:spLocks xmlns:a="http://schemas.openxmlformats.org/drawingml/2006/main" noGrp="1"/>
          </p:cNvSpPr>
          <p:nvPr/>
        </p:nvSpPr>
        <p:spPr>
          <a:xfrm xmlns:a="http://schemas.openxmlformats.org/drawingml/2006/main">
            <a:off x="533400" y="3324225"/>
            <a:ext cx="5200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779"/>
                </a:solidFill>
                <a:latin typeface="Arial"/>
                <a:ea typeface="Arial"/>
                <a:cs typeface="Arial"/>
              </a:defRPr>
            </a:defPPr>
            <a:lvl1pPr algn="l">
              <a:defRPr sz="1575" b="0">
                <a:solidFill>
                  <a:srgbClr val="536779"/>
                </a:solidFill>
                <a:latin typeface="Arial"/>
                <a:ea typeface="Arial"/>
                <a:cs typeface="Arial"/>
              </a:defRPr>
            </a:lvl1pPr>
            <a:lvl2pPr algn="l">
              <a:defRPr sz="1575" b="0">
                <a:solidFill>
                  <a:srgbClr val="536779"/>
                </a:solidFill>
                <a:latin typeface="Arial"/>
                <a:ea typeface="Arial"/>
                <a:cs typeface="Arial"/>
              </a:defRPr>
            </a:lvl2pPr>
            <a:lvl3pPr algn="l">
              <a:defRPr sz="1575" b="0">
                <a:solidFill>
                  <a:srgbClr val="536779"/>
                </a:solidFill>
                <a:latin typeface="Arial"/>
                <a:ea typeface="Arial"/>
                <a:cs typeface="Arial"/>
              </a:defRPr>
            </a:lvl3pPr>
            <a:lvl4pPr algn="l">
              <a:defRPr sz="1575" b="0">
                <a:solidFill>
                  <a:srgbClr val="536779"/>
                </a:solidFill>
                <a:latin typeface="Arial"/>
                <a:ea typeface="Arial"/>
                <a:cs typeface="Arial"/>
              </a:defRPr>
            </a:lvl4pPr>
            <a:lvl5pPr algn="l">
              <a:defRPr sz="1575" b="0">
                <a:solidFill>
                  <a:srgbClr val="536779"/>
                </a:solidFill>
                <a:latin typeface="Arial"/>
                <a:ea typeface="Arial"/>
                <a:cs typeface="Arial"/>
              </a:defRPr>
            </a:lvl5pPr>
            <a:lvl6pPr algn="l">
              <a:defRPr sz="1575" b="0">
                <a:solidFill>
                  <a:srgbClr val="536779"/>
                </a:solidFill>
                <a:latin typeface="Arial"/>
                <a:ea typeface="Arial"/>
                <a:cs typeface="Arial"/>
              </a:defRPr>
            </a:lvl6pPr>
            <a:lvl7pPr algn="l">
              <a:defRPr sz="1575" b="0">
                <a:solidFill>
                  <a:srgbClr val="536779"/>
                </a:solidFill>
                <a:latin typeface="Arial"/>
                <a:ea typeface="Arial"/>
                <a:cs typeface="Arial"/>
              </a:defRPr>
            </a:lvl7pPr>
            <a:lvl8pPr algn="l">
              <a:defRPr sz="1575" b="0">
                <a:solidFill>
                  <a:srgbClr val="536779"/>
                </a:solidFill>
                <a:latin typeface="Arial"/>
                <a:ea typeface="Arial"/>
                <a:cs typeface="Arial"/>
              </a:defRPr>
            </a:lvl8pPr>
            <a:lvl9pPr algn="l">
              <a:defRPr sz="1575" b="0">
                <a:solidFill>
                  <a:srgbClr val="536779"/>
                </a:solidFill>
                <a:latin typeface="Arial"/>
                <a:ea typeface="Arial"/>
                <a:cs typeface="Arial"/>
              </a:defRPr>
            </a:lvl9pPr>
          </a:lstStyle>
          <a:p xmlns:a="http://schemas.openxmlformats.org/drawingml/2006/main">
            <a:pPr algn="l">
              <a:defRPr sz="1575" b="0">
                <a:solidFill>
                  <a:srgbClr val="536779"/>
                </a:solidFill>
                <a:latin typeface="Arial"/>
                <a:ea typeface="Arial"/>
                <a:cs typeface="Arial"/>
              </a:defRPr>
            </a:pPr>
            <a:r>
              <a:rPr sz="1575" b="0">
                <a:solidFill>
                  <a:srgbClr val="536779"/>
                </a:solidFill>
                <a:latin typeface="Arial"/>
                <a:ea typeface="Arial"/>
                <a:cs typeface="Arial"/>
              </a:rPr>
              <a:t>x: noisy block   t: flow time   v: flow velocity</a:t>
            </a:r>
          </a:p>
          <a:p xmlns:a="http://schemas.openxmlformats.org/drawingml/2006/main">
            <a:pPr algn="l">
              <a:defRPr sz="1575" b="0">
                <a:solidFill>
                  <a:srgbClr val="536779"/>
                </a:solidFill>
                <a:latin typeface="Arial"/>
                <a:ea typeface="Arial"/>
                <a:cs typeface="Arial"/>
              </a:defRPr>
            </a:pPr>
            <a:r>
              <a:rPr sz="1575" b="0">
                <a:solidFill>
                  <a:srgbClr val="536779"/>
                </a:solidFill>
                <a:latin typeface="Arial"/>
                <a:ea typeface="Arial"/>
                <a:cs typeface="Arial"/>
              </a:rPr>
              <a:t>Each estimate contains 50 × 7 coordinates.</a:t>
            </a:r>
          </a:p>
        </p:txBody>
      </p:sp>
      <p:pic>
        <p:nvPicPr>
          <p:cNvPr id="8" name="">
            <a:extLst xmlns:a="http://schemas.openxmlformats.org/drawingml/2006/main">
              <a:ext uri="{FF2B5EF4-FFF2-40B4-BE49-F238E27FC236}">
                <a16:creationId xmlns:a16="http://schemas.microsoft.com/office/drawing/2014/main" id="{5AD73F42-83C5-475E-B250-18CE4BA9E968}"/>
              </a:ext>
            </a:extLst>
          </p:cNvPr>
          <p:cNvPicPr>
            <a:picLocks xmlns:a="http://schemas.openxmlformats.org/drawingml/2006/main" noChangeAspect="1"/>
          </p:cNvPicPr>
          <p:nvPr/>
        </p:nvPicPr>
        <p:blipFill>
          <a:blip xmlns:r="http://schemas.openxmlformats.org/officeDocument/2006/relationships" xmlns:a="http://schemas.openxmlformats.org/drawingml/2006/main" r:embed="R7dad67ce4f6c4358"/>
          <a:stretch xmlns:a="http://schemas.openxmlformats.org/drawingml/2006/main"/>
        </p:blipFill>
        <p:spPr>
          <a:xfrm xmlns:a="http://schemas.openxmlformats.org/drawingml/2006/main">
            <a:off x="533400" y="4057665"/>
            <a:ext cx="5048250" cy="922276"/>
          </a:xfrm>
          <a:prstGeom xmlns:a="http://schemas.openxmlformats.org/drawingml/2006/main" prst="rect">
            <a:avLst/>
          </a:prstGeom>
        </p:spPr>
      </p:pic>
      <p:sp>
        <p:nvSpPr>
          <p:cNvPr id="9" name="Vⱼ sums variance across the 7 coordinates.&#10;Large">
            <a:extLst xmlns:a="http://schemas.openxmlformats.org/drawingml/2006/main">
              <a:ext uri="{FF2B5EF4-FFF2-40B4-BE49-F238E27FC236}">
                <a16:creationId xmlns:a16="http://schemas.microsoft.com/office/drawing/2014/main" id="{97C8AD3A-C3EE-45F0-B57B-BBC0FA34B480}"/>
              </a:ext>
            </a:extLst>
          </p:cNvPr>
          <p:cNvSpPr>
            <a:spLocks xmlns:a="http://schemas.openxmlformats.org/drawingml/2006/main" noGrp="1"/>
          </p:cNvSpPr>
          <p:nvPr/>
        </p:nvSpPr>
        <p:spPr>
          <a:xfrm xmlns:a="http://schemas.openxmlformats.org/drawingml/2006/main">
            <a:off x="533400" y="5191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D43"/>
                </a:solidFill>
                <a:latin typeface="Arial"/>
                <a:ea typeface="Arial"/>
                <a:cs typeface="Arial"/>
              </a:defRPr>
            </a:defPPr>
            <a:lvl1pPr algn="l">
              <a:defRPr sz="1725" b="0">
                <a:solidFill>
                  <a:srgbClr val="172D43"/>
                </a:solidFill>
                <a:latin typeface="Arial"/>
                <a:ea typeface="Arial"/>
                <a:cs typeface="Arial"/>
              </a:defRPr>
            </a:lvl1pPr>
            <a:lvl2pPr algn="l">
              <a:defRPr sz="1725" b="0">
                <a:solidFill>
                  <a:srgbClr val="172D43"/>
                </a:solidFill>
                <a:latin typeface="Arial"/>
                <a:ea typeface="Arial"/>
                <a:cs typeface="Arial"/>
              </a:defRPr>
            </a:lvl2pPr>
            <a:lvl3pPr algn="l">
              <a:defRPr sz="1725" b="0">
                <a:solidFill>
                  <a:srgbClr val="172D43"/>
                </a:solidFill>
                <a:latin typeface="Arial"/>
                <a:ea typeface="Arial"/>
                <a:cs typeface="Arial"/>
              </a:defRPr>
            </a:lvl3pPr>
            <a:lvl4pPr algn="l">
              <a:defRPr sz="1725" b="0">
                <a:solidFill>
                  <a:srgbClr val="172D43"/>
                </a:solidFill>
                <a:latin typeface="Arial"/>
                <a:ea typeface="Arial"/>
                <a:cs typeface="Arial"/>
              </a:defRPr>
            </a:lvl4pPr>
            <a:lvl5pPr algn="l">
              <a:defRPr sz="1725" b="0">
                <a:solidFill>
                  <a:srgbClr val="172D43"/>
                </a:solidFill>
                <a:latin typeface="Arial"/>
                <a:ea typeface="Arial"/>
                <a:cs typeface="Arial"/>
              </a:defRPr>
            </a:lvl5pPr>
            <a:lvl6pPr algn="l">
              <a:defRPr sz="1725" b="0">
                <a:solidFill>
                  <a:srgbClr val="172D43"/>
                </a:solidFill>
                <a:latin typeface="Arial"/>
                <a:ea typeface="Arial"/>
                <a:cs typeface="Arial"/>
              </a:defRPr>
            </a:lvl6pPr>
            <a:lvl7pPr algn="l">
              <a:defRPr sz="1725" b="0">
                <a:solidFill>
                  <a:srgbClr val="172D43"/>
                </a:solidFill>
                <a:latin typeface="Arial"/>
                <a:ea typeface="Arial"/>
                <a:cs typeface="Arial"/>
              </a:defRPr>
            </a:lvl7pPr>
            <a:lvl8pPr algn="l">
              <a:defRPr sz="1725" b="0">
                <a:solidFill>
                  <a:srgbClr val="172D43"/>
                </a:solidFill>
                <a:latin typeface="Arial"/>
                <a:ea typeface="Arial"/>
                <a:cs typeface="Arial"/>
              </a:defRPr>
            </a:lvl8pPr>
            <a:lvl9pPr algn="l">
              <a:defRPr sz="1725" b="0">
                <a:solidFill>
                  <a:srgbClr val="172D43"/>
                </a:solidFill>
                <a:latin typeface="Arial"/>
                <a:ea typeface="Arial"/>
                <a:cs typeface="Arial"/>
              </a:defRPr>
            </a:lvl9pPr>
          </a:lstStyle>
          <a:p xmlns:a="http://schemas.openxmlformats.org/drawingml/2006/main">
            <a:pPr algn="l">
              <a:defRPr sz="1725" b="0">
                <a:solidFill>
                  <a:srgbClr val="172D43"/>
                </a:solidFill>
                <a:latin typeface="Arial"/>
                <a:ea typeface="Arial"/>
                <a:cs typeface="Arial"/>
              </a:defRPr>
            </a:pPr>
            <a:r>
              <a:rPr sz="1725" b="0">
                <a:solidFill>
                  <a:srgbClr val="172D43"/>
                </a:solidFill>
                <a:latin typeface="Arial"/>
                <a:ea typeface="Arial"/>
                <a:cs typeface="Arial"/>
              </a:rPr>
              <a:t>Vⱼ sums variance across the 7 coordinates.</a:t>
            </a:r>
          </a:p>
          <a:p xmlns:a="http://schemas.openxmlformats.org/drawingml/2006/main">
            <a:pPr algn="l">
              <a:defRPr sz="1725" b="0">
                <a:solidFill>
                  <a:srgbClr val="172D43"/>
                </a:solidFill>
                <a:latin typeface="Arial"/>
                <a:ea typeface="Arial"/>
                <a:cs typeface="Arial"/>
              </a:defRPr>
            </a:pPr>
            <a:r>
              <a:rPr sz="1725" b="0">
                <a:solidFill>
                  <a:srgbClr val="172D43"/>
                </a:solidFill>
                <a:latin typeface="Arial"/>
                <a:ea typeface="Arial"/>
                <a:cs typeface="Arial"/>
              </a:rPr>
              <a:t>Larger Vⱼ means less agreement on action j.</a:t>
            </a:r>
          </a:p>
        </p:txBody>
      </p:sp>
      <p:sp>
        <p:nvSpPr>
          <p:cNvPr id="10" name="2. Choose the next observation">
            <a:extLst xmlns:a="http://schemas.openxmlformats.org/drawingml/2006/main">
              <a:ext uri="{FF2B5EF4-FFF2-40B4-BE49-F238E27FC236}">
                <a16:creationId xmlns:a16="http://schemas.microsoft.com/office/drawing/2014/main" id="{1BBCB780-E89C-4B91-957B-88F8C1CC2DE6}"/>
              </a:ext>
            </a:extLst>
          </p:cNvPr>
          <p:cNvSpPr>
            <a:spLocks xmlns:a="http://schemas.openxmlformats.org/drawingml/2006/main" noGrp="1"/>
          </p:cNvSpPr>
          <p:nvPr/>
        </p:nvSpPr>
        <p:spPr>
          <a:xfrm xmlns:a="http://schemas.openxmlformats.org/drawingml/2006/main">
            <a:off x="6419850" y="1743075"/>
            <a:ext cx="523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xmlns:a="http://schemas.openxmlformats.org/drawingml/2006/main">
            <a:pPr algn="l">
              <a:defRPr sz="2175" b="1">
                <a:solidFill>
                  <a:srgbClr val="2563A5"/>
                </a:solidFill>
                <a:latin typeface="Arial"/>
                <a:ea typeface="Arial"/>
                <a:cs typeface="Arial"/>
              </a:defRPr>
            </a:pPr>
            <a:r>
              <a:rPr sz="2175" b="1">
                <a:solidFill>
                  <a:srgbClr val="2563A5"/>
                </a:solidFill>
                <a:latin typeface="Arial"/>
                <a:ea typeface="Arial"/>
                <a:cs typeface="Arial"/>
              </a:rPr>
              <a:t>2. Choose the next observation</a:t>
            </a:r>
          </a:p>
        </p:txBody>
      </p:sp>
      <p:sp>
        <p:nvSpPr>
          <p:cNvPr id="11" name="W stores variance values from up to 5 past calls">
            <a:extLst xmlns:a="http://schemas.openxmlformats.org/drawingml/2006/main">
              <a:ext uri="{FF2B5EF4-FFF2-40B4-BE49-F238E27FC236}">
                <a16:creationId xmlns:a16="http://schemas.microsoft.com/office/drawing/2014/main" id="{2CAD9E10-59FE-4515-8A42-5242CC688644}"/>
              </a:ext>
            </a:extLst>
          </p:cNvPr>
          <p:cNvSpPr>
            <a:spLocks xmlns:a="http://schemas.openxmlformats.org/drawingml/2006/main" noGrp="1"/>
          </p:cNvSpPr>
          <p:nvPr/>
        </p:nvSpPr>
        <p:spPr>
          <a:xfrm xmlns:a="http://schemas.openxmlformats.org/drawingml/2006/main">
            <a:off x="6419850" y="220027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D43"/>
                </a:solidFill>
                <a:latin typeface="Arial"/>
                <a:ea typeface="Arial"/>
                <a:cs typeface="Arial"/>
              </a:defRPr>
            </a:defPPr>
            <a:lvl1pPr algn="l">
              <a:defRPr sz="1650" b="0">
                <a:solidFill>
                  <a:srgbClr val="172D43"/>
                </a:solidFill>
                <a:latin typeface="Arial"/>
                <a:ea typeface="Arial"/>
                <a:cs typeface="Arial"/>
              </a:defRPr>
            </a:lvl1pPr>
            <a:lvl2pPr algn="l">
              <a:defRPr sz="1650" b="0">
                <a:solidFill>
                  <a:srgbClr val="172D43"/>
                </a:solidFill>
                <a:latin typeface="Arial"/>
                <a:ea typeface="Arial"/>
                <a:cs typeface="Arial"/>
              </a:defRPr>
            </a:lvl2pPr>
            <a:lvl3pPr algn="l">
              <a:defRPr sz="1650" b="0">
                <a:solidFill>
                  <a:srgbClr val="172D43"/>
                </a:solidFill>
                <a:latin typeface="Arial"/>
                <a:ea typeface="Arial"/>
                <a:cs typeface="Arial"/>
              </a:defRPr>
            </a:lvl3pPr>
            <a:lvl4pPr algn="l">
              <a:defRPr sz="1650" b="0">
                <a:solidFill>
                  <a:srgbClr val="172D43"/>
                </a:solidFill>
                <a:latin typeface="Arial"/>
                <a:ea typeface="Arial"/>
                <a:cs typeface="Arial"/>
              </a:defRPr>
            </a:lvl4pPr>
            <a:lvl5pPr algn="l">
              <a:defRPr sz="1650" b="0">
                <a:solidFill>
                  <a:srgbClr val="172D43"/>
                </a:solidFill>
                <a:latin typeface="Arial"/>
                <a:ea typeface="Arial"/>
                <a:cs typeface="Arial"/>
              </a:defRPr>
            </a:lvl5pPr>
            <a:lvl6pPr algn="l">
              <a:defRPr sz="1650" b="0">
                <a:solidFill>
                  <a:srgbClr val="172D43"/>
                </a:solidFill>
                <a:latin typeface="Arial"/>
                <a:ea typeface="Arial"/>
                <a:cs typeface="Arial"/>
              </a:defRPr>
            </a:lvl6pPr>
            <a:lvl7pPr algn="l">
              <a:defRPr sz="1650" b="0">
                <a:solidFill>
                  <a:srgbClr val="172D43"/>
                </a:solidFill>
                <a:latin typeface="Arial"/>
                <a:ea typeface="Arial"/>
                <a:cs typeface="Arial"/>
              </a:defRPr>
            </a:lvl7pPr>
            <a:lvl8pPr algn="l">
              <a:defRPr sz="1650" b="0">
                <a:solidFill>
                  <a:srgbClr val="172D43"/>
                </a:solidFill>
                <a:latin typeface="Arial"/>
                <a:ea typeface="Arial"/>
                <a:cs typeface="Arial"/>
              </a:defRPr>
            </a:lvl8pPr>
            <a:lvl9pPr algn="l">
              <a:defRPr sz="1650" b="0">
                <a:solidFill>
                  <a:srgbClr val="172D43"/>
                </a:solidFill>
                <a:latin typeface="Arial"/>
                <a:ea typeface="Arial"/>
                <a:cs typeface="Arial"/>
              </a:defRPr>
            </a:lvl9pPr>
          </a:lstStyle>
          <a:p xmlns:a="http://schemas.openxmlformats.org/drawingml/2006/main">
            <a:pPr algn="l">
              <a:defRPr sz="1650" b="0">
                <a:solidFill>
                  <a:srgbClr val="172D43"/>
                </a:solidFill>
                <a:latin typeface="Arial"/>
                <a:ea typeface="Arial"/>
                <a:cs typeface="Arial"/>
              </a:defRPr>
            </a:pPr>
            <a:r>
              <a:rPr sz="1650" b="0">
                <a:solidFill>
                  <a:srgbClr val="172D43"/>
                </a:solidFill>
                <a:latin typeface="Arial"/>
                <a:ea typeface="Arial"/>
                <a:cs typeface="Arial"/>
              </a:rPr>
              <a:t>W stores variance values from up to 5 past calls.</a:t>
            </a:r>
          </a:p>
        </p:txBody>
      </p:sp>
      <p:pic>
        <p:nvPicPr>
          <p:cNvPr id="12" name="">
            <a:extLst xmlns:a="http://schemas.openxmlformats.org/drawingml/2006/main">
              <a:ext uri="{FF2B5EF4-FFF2-40B4-BE49-F238E27FC236}">
                <a16:creationId xmlns:a16="http://schemas.microsoft.com/office/drawing/2014/main" id="{0E83B589-1235-416A-9BE9-A544870F8DBE}"/>
              </a:ext>
            </a:extLst>
          </p:cNvPr>
          <p:cNvPicPr>
            <a:picLocks xmlns:a="http://schemas.openxmlformats.org/drawingml/2006/main" noChangeAspect="1"/>
          </p:cNvPicPr>
          <p:nvPr/>
        </p:nvPicPr>
        <p:blipFill>
          <a:blip xmlns:r="http://schemas.openxmlformats.org/officeDocument/2006/relationships" xmlns:a="http://schemas.openxmlformats.org/drawingml/2006/main" r:embed="R0bcfd8ebb08c4a0c"/>
          <a:stretch xmlns:a="http://schemas.openxmlformats.org/drawingml/2006/main"/>
        </p:blipFill>
        <p:spPr>
          <a:xfrm xmlns:a="http://schemas.openxmlformats.org/drawingml/2006/main">
            <a:off x="6419850" y="2724150"/>
            <a:ext cx="5048250" cy="631031"/>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204A455B-1DBF-425A-9563-149CC573F4A6}"/>
              </a:ext>
            </a:extLst>
          </p:cNvPr>
          <p:cNvPicPr>
            <a:picLocks xmlns:a="http://schemas.openxmlformats.org/drawingml/2006/main" noChangeAspect="1"/>
          </p:cNvPicPr>
          <p:nvPr/>
        </p:nvPicPr>
        <p:blipFill>
          <a:blip xmlns:r="http://schemas.openxmlformats.org/officeDocument/2006/relationships" xmlns:a="http://schemas.openxmlformats.org/drawingml/2006/main" r:embed="R7bbe045c4fbf4bc8"/>
          <a:stretch xmlns:a="http://schemas.openxmlformats.org/drawingml/2006/main"/>
        </p:blipFill>
        <p:spPr>
          <a:xfrm xmlns:a="http://schemas.openxmlformats.org/drawingml/2006/main">
            <a:off x="6419850" y="3476625"/>
            <a:ext cx="5048250" cy="63103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084DEFB9-E653-4823-8FF9-793CDFB7A097}"/>
              </a:ext>
            </a:extLst>
          </p:cNvPr>
          <p:cNvPicPr>
            <a:picLocks xmlns:a="http://schemas.openxmlformats.org/drawingml/2006/main" noChangeAspect="1"/>
          </p:cNvPicPr>
          <p:nvPr/>
        </p:nvPicPr>
        <p:blipFill>
          <a:blip xmlns:r="http://schemas.openxmlformats.org/officeDocument/2006/relationships" xmlns:a="http://schemas.openxmlformats.org/drawingml/2006/main" r:embed="Recd1cf7b153d40db"/>
          <a:stretch xmlns:a="http://schemas.openxmlformats.org/drawingml/2006/main"/>
        </p:blipFill>
        <p:spPr>
          <a:xfrm xmlns:a="http://schemas.openxmlformats.org/drawingml/2006/main">
            <a:off x="6419850" y="4229100"/>
            <a:ext cx="5048250" cy="631031"/>
          </a:xfrm>
          <a:prstGeom xmlns:a="http://schemas.openxmlformats.org/drawingml/2006/main" prst="rect">
            <a:avLst/>
          </a:prstGeom>
        </p:spPr>
      </p:pic>
      <p:sp>
        <p:nvSpPr>
          <p:cNvPr id="15" name="First crossing j* uses zero-based indexing.&#10;No c">
            <a:extLst xmlns:a="http://schemas.openxmlformats.org/drawingml/2006/main">
              <a:ext uri="{FF2B5EF4-FFF2-40B4-BE49-F238E27FC236}">
                <a16:creationId xmlns:a16="http://schemas.microsoft.com/office/drawing/2014/main" id="{1ACE1AF9-4D9E-43D0-ACCD-1056DDBE507B}"/>
              </a:ext>
            </a:extLst>
          </p:cNvPr>
          <p:cNvSpPr>
            <a:spLocks xmlns:a="http://schemas.openxmlformats.org/drawingml/2006/main" noGrp="1"/>
          </p:cNvSpPr>
          <p:nvPr/>
        </p:nvSpPr>
        <p:spPr>
          <a:xfrm xmlns:a="http://schemas.openxmlformats.org/drawingml/2006/main">
            <a:off x="6419850" y="51054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D43"/>
                </a:solidFill>
                <a:latin typeface="Arial"/>
                <a:ea typeface="Arial"/>
                <a:cs typeface="Arial"/>
              </a:defRPr>
            </a:defPPr>
            <a:lvl1pPr algn="l">
              <a:defRPr sz="1650" b="0">
                <a:solidFill>
                  <a:srgbClr val="172D43"/>
                </a:solidFill>
                <a:latin typeface="Arial"/>
                <a:ea typeface="Arial"/>
                <a:cs typeface="Arial"/>
              </a:defRPr>
            </a:lvl1pPr>
            <a:lvl2pPr algn="l">
              <a:defRPr sz="1650" b="0">
                <a:solidFill>
                  <a:srgbClr val="172D43"/>
                </a:solidFill>
                <a:latin typeface="Arial"/>
                <a:ea typeface="Arial"/>
                <a:cs typeface="Arial"/>
              </a:defRPr>
            </a:lvl2pPr>
            <a:lvl3pPr algn="l">
              <a:defRPr sz="1650" b="0">
                <a:solidFill>
                  <a:srgbClr val="172D43"/>
                </a:solidFill>
                <a:latin typeface="Arial"/>
                <a:ea typeface="Arial"/>
                <a:cs typeface="Arial"/>
              </a:defRPr>
            </a:lvl3pPr>
            <a:lvl4pPr algn="l">
              <a:defRPr sz="1650" b="0">
                <a:solidFill>
                  <a:srgbClr val="172D43"/>
                </a:solidFill>
                <a:latin typeface="Arial"/>
                <a:ea typeface="Arial"/>
                <a:cs typeface="Arial"/>
              </a:defRPr>
            </a:lvl4pPr>
            <a:lvl5pPr algn="l">
              <a:defRPr sz="1650" b="0">
                <a:solidFill>
                  <a:srgbClr val="172D43"/>
                </a:solidFill>
                <a:latin typeface="Arial"/>
                <a:ea typeface="Arial"/>
                <a:cs typeface="Arial"/>
              </a:defRPr>
            </a:lvl5pPr>
            <a:lvl6pPr algn="l">
              <a:defRPr sz="1650" b="0">
                <a:solidFill>
                  <a:srgbClr val="172D43"/>
                </a:solidFill>
                <a:latin typeface="Arial"/>
                <a:ea typeface="Arial"/>
                <a:cs typeface="Arial"/>
              </a:defRPr>
            </a:lvl6pPr>
            <a:lvl7pPr algn="l">
              <a:defRPr sz="1650" b="0">
                <a:solidFill>
                  <a:srgbClr val="172D43"/>
                </a:solidFill>
                <a:latin typeface="Arial"/>
                <a:ea typeface="Arial"/>
                <a:cs typeface="Arial"/>
              </a:defRPr>
            </a:lvl7pPr>
            <a:lvl8pPr algn="l">
              <a:defRPr sz="1650" b="0">
                <a:solidFill>
                  <a:srgbClr val="172D43"/>
                </a:solidFill>
                <a:latin typeface="Arial"/>
                <a:ea typeface="Arial"/>
                <a:cs typeface="Arial"/>
              </a:defRPr>
            </a:lvl8pPr>
            <a:lvl9pPr algn="l">
              <a:defRPr sz="1650" b="0">
                <a:solidFill>
                  <a:srgbClr val="172D43"/>
                </a:solidFill>
                <a:latin typeface="Arial"/>
                <a:ea typeface="Arial"/>
                <a:cs typeface="Arial"/>
              </a:defRPr>
            </a:lvl9pPr>
          </a:lstStyle>
          <a:p xmlns:a="http://schemas.openxmlformats.org/drawingml/2006/main">
            <a:pPr algn="l">
              <a:defRPr sz="1650" b="0">
                <a:solidFill>
                  <a:srgbClr val="172D43"/>
                </a:solidFill>
                <a:latin typeface="Arial"/>
                <a:ea typeface="Arial"/>
                <a:cs typeface="Arial"/>
              </a:defRPr>
            </a:pPr>
            <a:r>
              <a:rPr sz="1650" b="0">
                <a:solidFill>
                  <a:srgbClr val="172D43"/>
                </a:solidFill>
                <a:latin typeface="Arial"/>
                <a:ea typeface="Arial"/>
                <a:cs typeface="Arial"/>
              </a:rPr>
              <a:t>First crossing j* uses zero-based indexing.</a:t>
            </a:r>
          </a:p>
          <a:p xmlns:a="http://schemas.openxmlformats.org/drawingml/2006/main">
            <a:pPr algn="l">
              <a:defRPr sz="1650" b="0">
                <a:solidFill>
                  <a:srgbClr val="172D43"/>
                </a:solidFill>
                <a:latin typeface="Arial"/>
                <a:ea typeface="Arial"/>
                <a:cs typeface="Arial"/>
              </a:defRPr>
            </a:pPr>
            <a:r>
              <a:rPr sz="1650" b="0">
                <a:solidFill>
                  <a:srgbClr val="172D43"/>
                </a:solidFill>
                <a:latin typeface="Arial"/>
                <a:ea typeface="Arial"/>
                <a:cs typeface="Arial"/>
              </a:rPr>
              <a:t>No crossing: K = min(C, 50). First call: K = 1.</a:t>
            </a:r>
          </a:p>
          <a:p xmlns:a="http://schemas.openxmlformats.org/drawingml/2006/main">
            <a:pPr algn="l">
              <a:defRPr sz="1650" b="0">
                <a:solidFill>
                  <a:srgbClr val="172D43"/>
                </a:solidFill>
                <a:latin typeface="Arial"/>
                <a:ea typeface="Arial"/>
                <a:cs typeface="Arial"/>
              </a:defRPr>
            </a:pPr>
            <a:r>
              <a:rPr sz="1650" b="0">
                <a:solidFill>
                  <a:srgbClr val="172D43"/>
                </a:solidFill>
                <a:latin typeface="Arial"/>
                <a:ea typeface="Arial"/>
                <a:cs typeface="Arial"/>
              </a:rPr>
              <a:t>Update W after choosing K.</a:t>
            </a:r>
          </a:p>
        </p:txBody>
      </p:sp>
      <p:sp>
        <p:nvSpPr>
          <p:cNvPr id="16" name="Example: j* = 4 and C = 10 executes 4 actions.">
            <a:extLst xmlns:a="http://schemas.openxmlformats.org/drawingml/2006/main">
              <a:ext uri="{FF2B5EF4-FFF2-40B4-BE49-F238E27FC236}">
                <a16:creationId xmlns:a16="http://schemas.microsoft.com/office/drawing/2014/main" id="{649D70E1-A970-4B95-9E4C-2F58C45011E5}"/>
              </a:ext>
            </a:extLst>
          </p:cNvPr>
          <p:cNvSpPr>
            <a:spLocks xmlns:a="http://schemas.openxmlformats.org/drawingml/2006/main" noGrp="1"/>
          </p:cNvSpPr>
          <p:nvPr/>
        </p:nvSpPr>
        <p:spPr>
          <a:xfrm xmlns:a="http://schemas.openxmlformats.org/drawingml/2006/main">
            <a:off x="6419850" y="6019800"/>
            <a:ext cx="523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779"/>
                </a:solidFill>
                <a:latin typeface="Arial"/>
                <a:ea typeface="Arial"/>
                <a:cs typeface="Arial"/>
              </a:defRPr>
            </a:defPPr>
            <a:lvl1pPr algn="l">
              <a:defRPr sz="1575" b="0">
                <a:solidFill>
                  <a:srgbClr val="536779"/>
                </a:solidFill>
                <a:latin typeface="Arial"/>
                <a:ea typeface="Arial"/>
                <a:cs typeface="Arial"/>
              </a:defRPr>
            </a:lvl1pPr>
            <a:lvl2pPr algn="l">
              <a:defRPr sz="1575" b="0">
                <a:solidFill>
                  <a:srgbClr val="536779"/>
                </a:solidFill>
                <a:latin typeface="Arial"/>
                <a:ea typeface="Arial"/>
                <a:cs typeface="Arial"/>
              </a:defRPr>
            </a:lvl2pPr>
            <a:lvl3pPr algn="l">
              <a:defRPr sz="1575" b="0">
                <a:solidFill>
                  <a:srgbClr val="536779"/>
                </a:solidFill>
                <a:latin typeface="Arial"/>
                <a:ea typeface="Arial"/>
                <a:cs typeface="Arial"/>
              </a:defRPr>
            </a:lvl3pPr>
            <a:lvl4pPr algn="l">
              <a:defRPr sz="1575" b="0">
                <a:solidFill>
                  <a:srgbClr val="536779"/>
                </a:solidFill>
                <a:latin typeface="Arial"/>
                <a:ea typeface="Arial"/>
                <a:cs typeface="Arial"/>
              </a:defRPr>
            </a:lvl4pPr>
            <a:lvl5pPr algn="l">
              <a:defRPr sz="1575" b="0">
                <a:solidFill>
                  <a:srgbClr val="536779"/>
                </a:solidFill>
                <a:latin typeface="Arial"/>
                <a:ea typeface="Arial"/>
                <a:cs typeface="Arial"/>
              </a:defRPr>
            </a:lvl5pPr>
            <a:lvl6pPr algn="l">
              <a:defRPr sz="1575" b="0">
                <a:solidFill>
                  <a:srgbClr val="536779"/>
                </a:solidFill>
                <a:latin typeface="Arial"/>
                <a:ea typeface="Arial"/>
                <a:cs typeface="Arial"/>
              </a:defRPr>
            </a:lvl6pPr>
            <a:lvl7pPr algn="l">
              <a:defRPr sz="1575" b="0">
                <a:solidFill>
                  <a:srgbClr val="536779"/>
                </a:solidFill>
                <a:latin typeface="Arial"/>
                <a:ea typeface="Arial"/>
                <a:cs typeface="Arial"/>
              </a:defRPr>
            </a:lvl7pPr>
            <a:lvl8pPr algn="l">
              <a:defRPr sz="1575" b="0">
                <a:solidFill>
                  <a:srgbClr val="536779"/>
                </a:solidFill>
                <a:latin typeface="Arial"/>
                <a:ea typeface="Arial"/>
                <a:cs typeface="Arial"/>
              </a:defRPr>
            </a:lvl8pPr>
            <a:lvl9pPr algn="l">
              <a:defRPr sz="1575" b="0">
                <a:solidFill>
                  <a:srgbClr val="536779"/>
                </a:solidFill>
                <a:latin typeface="Arial"/>
                <a:ea typeface="Arial"/>
                <a:cs typeface="Arial"/>
              </a:defRPr>
            </a:lvl9pPr>
          </a:lstStyle>
          <a:p xmlns:a="http://schemas.openxmlformats.org/drawingml/2006/main">
            <a:pPr algn="l">
              <a:defRPr sz="1575" b="0">
                <a:solidFill>
                  <a:srgbClr val="536779"/>
                </a:solidFill>
                <a:latin typeface="Arial"/>
                <a:ea typeface="Arial"/>
                <a:cs typeface="Arial"/>
              </a:defRPr>
            </a:pPr>
            <a:r>
              <a:rPr sz="1575" b="0">
                <a:solidFill>
                  <a:srgbClr val="536779"/>
                </a:solidFill>
                <a:latin typeface="Arial"/>
                <a:ea typeface="Arial"/>
                <a:cs typeface="Arial"/>
              </a:rPr>
              <a:t>Example: j* = 4 and C = 10 executes 4 actions.</a:t>
            </a:r>
          </a:p>
        </p:txBody>
      </p:sp>
    </p:spTree>
    <p:extLst>
      <p:ext uri="{BB962C8B-B14F-4D97-AF65-F5344CB8AC3E}">
        <p14:creationId xmlns:p14="http://schemas.microsoft.com/office/powerpoint/2010/main" val="8155875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B3C3C8F3-D7E5-4C3A-B514-A4C7B7F25B72}"/>
              </a:ext>
            </a:extLst>
          </p:cNvPr>
          <p:cNvSpPr>
            <a:spLocks xmlns:a="http://schemas.openxmlformats.org/drawingml/2006/main" noGrp="1"/>
          </p:cNvSpPr>
          <p:nvPr/>
        </p:nvSpPr>
        <p:spPr>
          <a:xfrm xmlns:a="http://schemas.openxmlformats.org/drawingml/2006/main">
            <a:off x="533400" y="40957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xmlns:a="http://schemas.openxmlformats.org/drawingml/2006/main">
            <a:pPr algn="l">
              <a:defRPr sz="3150" b="1">
                <a:solidFill>
                  <a:srgbClr val="172D43"/>
                </a:solidFill>
                <a:latin typeface="Arial"/>
                <a:ea typeface="Arial"/>
                <a:cs typeface="Arial"/>
              </a:defRPr>
            </a:pPr>
            <a:r>
              <a:rPr sz="3150" b="1">
                <a:solidFill>
                  <a:srgbClr val="172D43"/>
                </a:solidFill>
                <a:latin typeface="Arial"/>
                <a:ea typeface="Arial"/>
                <a:cs typeface="Arial"/>
              </a:rPr>
              <a:t>Nine execution rules, the same 30 starts</a:t>
            </a:r>
          </a:p>
        </p:txBody>
      </p:sp>
      <p:sp>
        <p:nvSpPr>
          <p:cNvPr id="2" name="05">
            <a:extLst xmlns:a="http://schemas.openxmlformats.org/drawingml/2006/main">
              <a:ext uri="{FF2B5EF4-FFF2-40B4-BE49-F238E27FC236}">
                <a16:creationId xmlns:a16="http://schemas.microsoft.com/office/drawing/2014/main" id="{C5970714-D113-4C03-9F01-7CA22A744E6C}"/>
              </a:ext>
            </a:extLst>
          </p:cNvPr>
          <p:cNvSpPr>
            <a:spLocks xmlns:a="http://schemas.openxmlformats.org/drawingml/2006/main" noGrp="1"/>
          </p:cNvSpPr>
          <p:nvPr/>
        </p:nvSpPr>
        <p:spPr>
          <a:xfrm xmlns:a="http://schemas.openxmlformats.org/drawingml/2006/main">
            <a:off x="11334750" y="6372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xmlns:a="http://schemas.openxmlformats.org/drawingml/2006/main">
            <a:pPr algn="l">
              <a:defRPr sz="1200" b="0">
                <a:solidFill>
                  <a:srgbClr val="536779"/>
                </a:solidFill>
                <a:latin typeface="Arial"/>
                <a:ea typeface="Arial"/>
                <a:cs typeface="Arial"/>
              </a:defRPr>
            </a:pPr>
            <a:r>
              <a:rPr sz="1200" b="0">
                <a:solidFill>
                  <a:srgbClr val="536779"/>
                </a:solidFill>
                <a:latin typeface="Arial"/>
                <a:ea typeface="Arial"/>
                <a:cs typeface="Arial"/>
              </a:rPr>
              <a:t>05</a:t>
            </a:r>
          </a:p>
        </p:txBody>
      </p:sp>
      <p:sp>
        <p:nvSpPr>
          <p:cNvPr id="3" name="270">
            <a:extLst xmlns:a="http://schemas.openxmlformats.org/drawingml/2006/main">
              <a:ext uri="{FF2B5EF4-FFF2-40B4-BE49-F238E27FC236}">
                <a16:creationId xmlns:a16="http://schemas.microsoft.com/office/drawing/2014/main" id="{EBCB2BF6-8079-44F2-B0B5-84C3230F1909}"/>
              </a:ext>
            </a:extLst>
          </p:cNvPr>
          <p:cNvSpPr>
            <a:spLocks xmlns:a="http://schemas.openxmlformats.org/drawingml/2006/main" noGrp="1"/>
          </p:cNvSpPr>
          <p:nvPr/>
        </p:nvSpPr>
        <p:spPr>
          <a:xfrm xmlns:a="http://schemas.openxmlformats.org/drawingml/2006/main">
            <a:off x="533400" y="1628775"/>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950" b="1">
                <a:solidFill>
                  <a:srgbClr val="2563A5"/>
                </a:solidFill>
                <a:latin typeface="Arial"/>
                <a:ea typeface="Arial"/>
                <a:cs typeface="Arial"/>
              </a:defRPr>
            </a:defPPr>
            <a:lvl1pPr algn="l">
              <a:defRPr sz="7950" b="1">
                <a:solidFill>
                  <a:srgbClr val="2563A5"/>
                </a:solidFill>
                <a:latin typeface="Arial"/>
                <a:ea typeface="Arial"/>
                <a:cs typeface="Arial"/>
              </a:defRPr>
            </a:lvl1pPr>
            <a:lvl2pPr algn="l">
              <a:defRPr sz="7950" b="1">
                <a:solidFill>
                  <a:srgbClr val="2563A5"/>
                </a:solidFill>
                <a:latin typeface="Arial"/>
                <a:ea typeface="Arial"/>
                <a:cs typeface="Arial"/>
              </a:defRPr>
            </a:lvl2pPr>
            <a:lvl3pPr algn="l">
              <a:defRPr sz="7950" b="1">
                <a:solidFill>
                  <a:srgbClr val="2563A5"/>
                </a:solidFill>
                <a:latin typeface="Arial"/>
                <a:ea typeface="Arial"/>
                <a:cs typeface="Arial"/>
              </a:defRPr>
            </a:lvl3pPr>
            <a:lvl4pPr algn="l">
              <a:defRPr sz="7950" b="1">
                <a:solidFill>
                  <a:srgbClr val="2563A5"/>
                </a:solidFill>
                <a:latin typeface="Arial"/>
                <a:ea typeface="Arial"/>
                <a:cs typeface="Arial"/>
              </a:defRPr>
            </a:lvl4pPr>
            <a:lvl5pPr algn="l">
              <a:defRPr sz="7950" b="1">
                <a:solidFill>
                  <a:srgbClr val="2563A5"/>
                </a:solidFill>
                <a:latin typeface="Arial"/>
                <a:ea typeface="Arial"/>
                <a:cs typeface="Arial"/>
              </a:defRPr>
            </a:lvl5pPr>
            <a:lvl6pPr algn="l">
              <a:defRPr sz="7950" b="1">
                <a:solidFill>
                  <a:srgbClr val="2563A5"/>
                </a:solidFill>
                <a:latin typeface="Arial"/>
                <a:ea typeface="Arial"/>
                <a:cs typeface="Arial"/>
              </a:defRPr>
            </a:lvl6pPr>
            <a:lvl7pPr algn="l">
              <a:defRPr sz="7950" b="1">
                <a:solidFill>
                  <a:srgbClr val="2563A5"/>
                </a:solidFill>
                <a:latin typeface="Arial"/>
                <a:ea typeface="Arial"/>
                <a:cs typeface="Arial"/>
              </a:defRPr>
            </a:lvl7pPr>
            <a:lvl8pPr algn="l">
              <a:defRPr sz="7950" b="1">
                <a:solidFill>
                  <a:srgbClr val="2563A5"/>
                </a:solidFill>
                <a:latin typeface="Arial"/>
                <a:ea typeface="Arial"/>
                <a:cs typeface="Arial"/>
              </a:defRPr>
            </a:lvl8pPr>
            <a:lvl9pPr algn="l">
              <a:defRPr sz="7950" b="1">
                <a:solidFill>
                  <a:srgbClr val="2563A5"/>
                </a:solidFill>
                <a:latin typeface="Arial"/>
                <a:ea typeface="Arial"/>
                <a:cs typeface="Arial"/>
              </a:defRPr>
            </a:lvl9pPr>
          </a:lstStyle>
          <a:p xmlns:a="http://schemas.openxmlformats.org/drawingml/2006/main">
            <a:pPr algn="l">
              <a:defRPr sz="7950" b="1">
                <a:solidFill>
                  <a:srgbClr val="2563A5"/>
                </a:solidFill>
                <a:latin typeface="Arial"/>
                <a:ea typeface="Arial"/>
                <a:cs typeface="Arial"/>
              </a:defRPr>
            </a:pPr>
            <a:r>
              <a:rPr sz="7950" b="1">
                <a:solidFill>
                  <a:srgbClr val="2563A5"/>
                </a:solidFill>
                <a:latin typeface="Arial"/>
                <a:ea typeface="Arial"/>
                <a:cs typeface="Arial"/>
              </a:rPr>
              <a:t>270</a:t>
            </a:r>
          </a:p>
        </p:txBody>
      </p:sp>
      <p:sp>
        <p:nvSpPr>
          <p:cNvPr id="4" name="episodes in the main comparison">
            <a:extLst xmlns:a="http://schemas.openxmlformats.org/drawingml/2006/main">
              <a:ext uri="{FF2B5EF4-FFF2-40B4-BE49-F238E27FC236}">
                <a16:creationId xmlns:a16="http://schemas.microsoft.com/office/drawing/2014/main" id="{6975449B-E6B3-4363-A6D3-F0E83FAC2F1C}"/>
              </a:ext>
            </a:extLst>
          </p:cNvPr>
          <p:cNvSpPr>
            <a:spLocks xmlns:a="http://schemas.openxmlformats.org/drawingml/2006/main" noGrp="1"/>
          </p:cNvSpPr>
          <p:nvPr/>
        </p:nvSpPr>
        <p:spPr>
          <a:xfrm xmlns:a="http://schemas.openxmlformats.org/drawingml/2006/main">
            <a:off x="590550" y="28384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43"/>
                </a:solidFill>
                <a:latin typeface="Arial"/>
                <a:ea typeface="Arial"/>
                <a:cs typeface="Arial"/>
              </a:defRPr>
            </a:defPPr>
            <a:lvl1pPr algn="l">
              <a:defRPr sz="1875" b="0">
                <a:solidFill>
                  <a:srgbClr val="172D43"/>
                </a:solidFill>
                <a:latin typeface="Arial"/>
                <a:ea typeface="Arial"/>
                <a:cs typeface="Arial"/>
              </a:defRPr>
            </a:lvl1pPr>
            <a:lvl2pPr algn="l">
              <a:defRPr sz="1875" b="0">
                <a:solidFill>
                  <a:srgbClr val="172D43"/>
                </a:solidFill>
                <a:latin typeface="Arial"/>
                <a:ea typeface="Arial"/>
                <a:cs typeface="Arial"/>
              </a:defRPr>
            </a:lvl2pPr>
            <a:lvl3pPr algn="l">
              <a:defRPr sz="1875" b="0">
                <a:solidFill>
                  <a:srgbClr val="172D43"/>
                </a:solidFill>
                <a:latin typeface="Arial"/>
                <a:ea typeface="Arial"/>
                <a:cs typeface="Arial"/>
              </a:defRPr>
            </a:lvl3pPr>
            <a:lvl4pPr algn="l">
              <a:defRPr sz="1875" b="0">
                <a:solidFill>
                  <a:srgbClr val="172D43"/>
                </a:solidFill>
                <a:latin typeface="Arial"/>
                <a:ea typeface="Arial"/>
                <a:cs typeface="Arial"/>
              </a:defRPr>
            </a:lvl4pPr>
            <a:lvl5pPr algn="l">
              <a:defRPr sz="1875" b="0">
                <a:solidFill>
                  <a:srgbClr val="172D43"/>
                </a:solidFill>
                <a:latin typeface="Arial"/>
                <a:ea typeface="Arial"/>
                <a:cs typeface="Arial"/>
              </a:defRPr>
            </a:lvl5pPr>
            <a:lvl6pPr algn="l">
              <a:defRPr sz="1875" b="0">
                <a:solidFill>
                  <a:srgbClr val="172D43"/>
                </a:solidFill>
                <a:latin typeface="Arial"/>
                <a:ea typeface="Arial"/>
                <a:cs typeface="Arial"/>
              </a:defRPr>
            </a:lvl6pPr>
            <a:lvl7pPr algn="l">
              <a:defRPr sz="1875" b="0">
                <a:solidFill>
                  <a:srgbClr val="172D43"/>
                </a:solidFill>
                <a:latin typeface="Arial"/>
                <a:ea typeface="Arial"/>
                <a:cs typeface="Arial"/>
              </a:defRPr>
            </a:lvl7pPr>
            <a:lvl8pPr algn="l">
              <a:defRPr sz="1875" b="0">
                <a:solidFill>
                  <a:srgbClr val="172D43"/>
                </a:solidFill>
                <a:latin typeface="Arial"/>
                <a:ea typeface="Arial"/>
                <a:cs typeface="Arial"/>
              </a:defRPr>
            </a:lvl8pPr>
            <a:lvl9pPr algn="l">
              <a:defRPr sz="1875" b="0">
                <a:solidFill>
                  <a:srgbClr val="172D43"/>
                </a:solidFill>
                <a:latin typeface="Arial"/>
                <a:ea typeface="Arial"/>
                <a:cs typeface="Arial"/>
              </a:defRPr>
            </a:lvl9pPr>
          </a:lstStyle>
          <a:p xmlns:a="http://schemas.openxmlformats.org/drawingml/2006/main">
            <a:pPr algn="l">
              <a:defRPr sz="1875" b="0">
                <a:solidFill>
                  <a:srgbClr val="172D43"/>
                </a:solidFill>
                <a:latin typeface="Arial"/>
                <a:ea typeface="Arial"/>
                <a:cs typeface="Arial"/>
              </a:defRPr>
            </a:pPr>
            <a:r>
              <a:rPr sz="1875" b="0">
                <a:solidFill>
                  <a:srgbClr val="172D43"/>
                </a:solidFill>
                <a:latin typeface="Arial"/>
                <a:ea typeface="Arial"/>
                <a:cs typeface="Arial"/>
              </a:rPr>
              <a:t>episodes in the main comparison</a:t>
            </a:r>
          </a:p>
        </p:txBody>
      </p:sp>
      <p:sp>
        <p:nvSpPr>
          <p:cNvPr id="5" name="3 tasks × 10 initial states × 9 rules">
            <a:extLst xmlns:a="http://schemas.openxmlformats.org/drawingml/2006/main">
              <a:ext uri="{FF2B5EF4-FFF2-40B4-BE49-F238E27FC236}">
                <a16:creationId xmlns:a16="http://schemas.microsoft.com/office/drawing/2014/main" id="{27DB34A7-6BD7-493F-9519-67CACF96C36D}"/>
              </a:ext>
            </a:extLst>
          </p:cNvPr>
          <p:cNvSpPr>
            <a:spLocks xmlns:a="http://schemas.openxmlformats.org/drawingml/2006/main" noGrp="1"/>
          </p:cNvSpPr>
          <p:nvPr/>
        </p:nvSpPr>
        <p:spPr>
          <a:xfrm xmlns:a="http://schemas.openxmlformats.org/drawingml/2006/main">
            <a:off x="590550" y="32861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9"/>
                </a:solidFill>
                <a:latin typeface="Arial"/>
                <a:ea typeface="Arial"/>
                <a:cs typeface="Arial"/>
              </a:defRPr>
            </a:defPPr>
            <a:lvl1pPr algn="l">
              <a:defRPr sz="1875" b="0">
                <a:solidFill>
                  <a:srgbClr val="536779"/>
                </a:solidFill>
                <a:latin typeface="Arial"/>
                <a:ea typeface="Arial"/>
                <a:cs typeface="Arial"/>
              </a:defRPr>
            </a:lvl1pPr>
            <a:lvl2pPr algn="l">
              <a:defRPr sz="1875" b="0">
                <a:solidFill>
                  <a:srgbClr val="536779"/>
                </a:solidFill>
                <a:latin typeface="Arial"/>
                <a:ea typeface="Arial"/>
                <a:cs typeface="Arial"/>
              </a:defRPr>
            </a:lvl2pPr>
            <a:lvl3pPr algn="l">
              <a:defRPr sz="1875" b="0">
                <a:solidFill>
                  <a:srgbClr val="536779"/>
                </a:solidFill>
                <a:latin typeface="Arial"/>
                <a:ea typeface="Arial"/>
                <a:cs typeface="Arial"/>
              </a:defRPr>
            </a:lvl3pPr>
            <a:lvl4pPr algn="l">
              <a:defRPr sz="1875" b="0">
                <a:solidFill>
                  <a:srgbClr val="536779"/>
                </a:solidFill>
                <a:latin typeface="Arial"/>
                <a:ea typeface="Arial"/>
                <a:cs typeface="Arial"/>
              </a:defRPr>
            </a:lvl4pPr>
            <a:lvl5pPr algn="l">
              <a:defRPr sz="1875" b="0">
                <a:solidFill>
                  <a:srgbClr val="536779"/>
                </a:solidFill>
                <a:latin typeface="Arial"/>
                <a:ea typeface="Arial"/>
                <a:cs typeface="Arial"/>
              </a:defRPr>
            </a:lvl5pPr>
            <a:lvl6pPr algn="l">
              <a:defRPr sz="1875" b="0">
                <a:solidFill>
                  <a:srgbClr val="536779"/>
                </a:solidFill>
                <a:latin typeface="Arial"/>
                <a:ea typeface="Arial"/>
                <a:cs typeface="Arial"/>
              </a:defRPr>
            </a:lvl6pPr>
            <a:lvl7pPr algn="l">
              <a:defRPr sz="1875" b="0">
                <a:solidFill>
                  <a:srgbClr val="536779"/>
                </a:solidFill>
                <a:latin typeface="Arial"/>
                <a:ea typeface="Arial"/>
                <a:cs typeface="Arial"/>
              </a:defRPr>
            </a:lvl7pPr>
            <a:lvl8pPr algn="l">
              <a:defRPr sz="1875" b="0">
                <a:solidFill>
                  <a:srgbClr val="536779"/>
                </a:solidFill>
                <a:latin typeface="Arial"/>
                <a:ea typeface="Arial"/>
                <a:cs typeface="Arial"/>
              </a:defRPr>
            </a:lvl8pPr>
            <a:lvl9pPr algn="l">
              <a:defRPr sz="1875" b="0">
                <a:solidFill>
                  <a:srgbClr val="536779"/>
                </a:solidFill>
                <a:latin typeface="Arial"/>
                <a:ea typeface="Arial"/>
                <a:cs typeface="Arial"/>
              </a:defRPr>
            </a:lvl9pPr>
          </a:lstStyle>
          <a:p xmlns:a="http://schemas.openxmlformats.org/drawingml/2006/main">
            <a:pPr algn="l">
              <a:defRPr sz="1875" b="0">
                <a:solidFill>
                  <a:srgbClr val="536779"/>
                </a:solidFill>
                <a:latin typeface="Arial"/>
                <a:ea typeface="Arial"/>
                <a:cs typeface="Arial"/>
              </a:defRPr>
            </a:pPr>
            <a:r>
              <a:rPr sz="1875" b="0">
                <a:solidFill>
                  <a:srgbClr val="536779"/>
                </a:solidFill>
                <a:latin typeface="Arial"/>
                <a:ea typeface="Arial"/>
                <a:cs typeface="Arial"/>
              </a:rPr>
              <a:t>3 tasks × 10 initial states × 9 rules</a:t>
            </a:r>
          </a:p>
        </p:txBody>
      </p:sp>
      <p:sp>
        <p:nvSpPr>
          <p:cNvPr id="6" name="Soup transfer, bowl placement, drawer opening">
            <a:extLst xmlns:a="http://schemas.openxmlformats.org/drawingml/2006/main">
              <a:ext uri="{FF2B5EF4-FFF2-40B4-BE49-F238E27FC236}">
                <a16:creationId xmlns:a16="http://schemas.microsoft.com/office/drawing/2014/main" id="{4667955A-75B3-493E-A6DF-4B5D25C50EB7}"/>
              </a:ext>
            </a:extLst>
          </p:cNvPr>
          <p:cNvSpPr>
            <a:spLocks xmlns:a="http://schemas.openxmlformats.org/drawingml/2006/main" noGrp="1"/>
          </p:cNvSpPr>
          <p:nvPr/>
        </p:nvSpPr>
        <p:spPr>
          <a:xfrm xmlns:a="http://schemas.openxmlformats.org/drawingml/2006/main">
            <a:off x="590550" y="3781425"/>
            <a:ext cx="561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779"/>
                </a:solidFill>
                <a:latin typeface="Arial"/>
                <a:ea typeface="Arial"/>
                <a:cs typeface="Arial"/>
              </a:defRPr>
            </a:defPPr>
            <a:lvl1pPr algn="l">
              <a:defRPr sz="1575" b="0">
                <a:solidFill>
                  <a:srgbClr val="536779"/>
                </a:solidFill>
                <a:latin typeface="Arial"/>
                <a:ea typeface="Arial"/>
                <a:cs typeface="Arial"/>
              </a:defRPr>
            </a:lvl1pPr>
            <a:lvl2pPr algn="l">
              <a:defRPr sz="1575" b="0">
                <a:solidFill>
                  <a:srgbClr val="536779"/>
                </a:solidFill>
                <a:latin typeface="Arial"/>
                <a:ea typeface="Arial"/>
                <a:cs typeface="Arial"/>
              </a:defRPr>
            </a:lvl2pPr>
            <a:lvl3pPr algn="l">
              <a:defRPr sz="1575" b="0">
                <a:solidFill>
                  <a:srgbClr val="536779"/>
                </a:solidFill>
                <a:latin typeface="Arial"/>
                <a:ea typeface="Arial"/>
                <a:cs typeface="Arial"/>
              </a:defRPr>
            </a:lvl3pPr>
            <a:lvl4pPr algn="l">
              <a:defRPr sz="1575" b="0">
                <a:solidFill>
                  <a:srgbClr val="536779"/>
                </a:solidFill>
                <a:latin typeface="Arial"/>
                <a:ea typeface="Arial"/>
                <a:cs typeface="Arial"/>
              </a:defRPr>
            </a:lvl4pPr>
            <a:lvl5pPr algn="l">
              <a:defRPr sz="1575" b="0">
                <a:solidFill>
                  <a:srgbClr val="536779"/>
                </a:solidFill>
                <a:latin typeface="Arial"/>
                <a:ea typeface="Arial"/>
                <a:cs typeface="Arial"/>
              </a:defRPr>
            </a:lvl5pPr>
            <a:lvl6pPr algn="l">
              <a:defRPr sz="1575" b="0">
                <a:solidFill>
                  <a:srgbClr val="536779"/>
                </a:solidFill>
                <a:latin typeface="Arial"/>
                <a:ea typeface="Arial"/>
                <a:cs typeface="Arial"/>
              </a:defRPr>
            </a:lvl6pPr>
            <a:lvl7pPr algn="l">
              <a:defRPr sz="1575" b="0">
                <a:solidFill>
                  <a:srgbClr val="536779"/>
                </a:solidFill>
                <a:latin typeface="Arial"/>
                <a:ea typeface="Arial"/>
                <a:cs typeface="Arial"/>
              </a:defRPr>
            </a:lvl7pPr>
            <a:lvl8pPr algn="l">
              <a:defRPr sz="1575" b="0">
                <a:solidFill>
                  <a:srgbClr val="536779"/>
                </a:solidFill>
                <a:latin typeface="Arial"/>
                <a:ea typeface="Arial"/>
                <a:cs typeface="Arial"/>
              </a:defRPr>
            </a:lvl8pPr>
            <a:lvl9pPr algn="l">
              <a:defRPr sz="1575" b="0">
                <a:solidFill>
                  <a:srgbClr val="536779"/>
                </a:solidFill>
                <a:latin typeface="Arial"/>
                <a:ea typeface="Arial"/>
                <a:cs typeface="Arial"/>
              </a:defRPr>
            </a:lvl9pPr>
          </a:lstStyle>
          <a:p xmlns:a="http://schemas.openxmlformats.org/drawingml/2006/main">
            <a:pPr algn="l">
              <a:defRPr sz="1575" b="0">
                <a:solidFill>
                  <a:srgbClr val="536779"/>
                </a:solidFill>
                <a:latin typeface="Arial"/>
                <a:ea typeface="Arial"/>
                <a:cs typeface="Arial"/>
              </a:defRPr>
            </a:pPr>
            <a:r>
              <a:rPr sz="1575" b="0">
                <a:solidFill>
                  <a:srgbClr val="536779"/>
                </a:solidFill>
                <a:latin typeface="Arial"/>
                <a:ea typeface="Arial"/>
                <a:cs typeface="Arial"/>
              </a:rPr>
              <a:t>Soup transfer, bowl placement, drawer opening</a:t>
            </a:r>
          </a:p>
        </p:txBody>
      </p:sp>
      <p:sp>
        <p:nvSpPr>
          <p:cNvPr id="7" name="FIXED INTERVALS">
            <a:extLst xmlns:a="http://schemas.openxmlformats.org/drawingml/2006/main">
              <a:ext uri="{FF2B5EF4-FFF2-40B4-BE49-F238E27FC236}">
                <a16:creationId xmlns:a16="http://schemas.microsoft.com/office/drawing/2014/main" id="{3F82833B-4183-4DE6-AFB3-E6BF003CB893}"/>
              </a:ext>
            </a:extLst>
          </p:cNvPr>
          <p:cNvSpPr>
            <a:spLocks xmlns:a="http://schemas.openxmlformats.org/drawingml/2006/main" noGrp="1"/>
          </p:cNvSpPr>
          <p:nvPr/>
        </p:nvSpPr>
        <p:spPr>
          <a:xfrm xmlns:a="http://schemas.openxmlformats.org/drawingml/2006/main">
            <a:off x="6553200" y="16764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2563A5"/>
                </a:solidFill>
                <a:latin typeface="Arial"/>
                <a:ea typeface="Arial"/>
                <a:cs typeface="Arial"/>
              </a:defRPr>
            </a:defPPr>
            <a:lvl1pPr algn="l">
              <a:defRPr sz="1350" b="1">
                <a:solidFill>
                  <a:srgbClr val="2563A5"/>
                </a:solidFill>
                <a:latin typeface="Arial"/>
                <a:ea typeface="Arial"/>
                <a:cs typeface="Arial"/>
              </a:defRPr>
            </a:lvl1pPr>
            <a:lvl2pPr algn="l">
              <a:defRPr sz="1350" b="1">
                <a:solidFill>
                  <a:srgbClr val="2563A5"/>
                </a:solidFill>
                <a:latin typeface="Arial"/>
                <a:ea typeface="Arial"/>
                <a:cs typeface="Arial"/>
              </a:defRPr>
            </a:lvl2pPr>
            <a:lvl3pPr algn="l">
              <a:defRPr sz="1350" b="1">
                <a:solidFill>
                  <a:srgbClr val="2563A5"/>
                </a:solidFill>
                <a:latin typeface="Arial"/>
                <a:ea typeface="Arial"/>
                <a:cs typeface="Arial"/>
              </a:defRPr>
            </a:lvl3pPr>
            <a:lvl4pPr algn="l">
              <a:defRPr sz="1350" b="1">
                <a:solidFill>
                  <a:srgbClr val="2563A5"/>
                </a:solidFill>
                <a:latin typeface="Arial"/>
                <a:ea typeface="Arial"/>
                <a:cs typeface="Arial"/>
              </a:defRPr>
            </a:lvl4pPr>
            <a:lvl5pPr algn="l">
              <a:defRPr sz="1350" b="1">
                <a:solidFill>
                  <a:srgbClr val="2563A5"/>
                </a:solidFill>
                <a:latin typeface="Arial"/>
                <a:ea typeface="Arial"/>
                <a:cs typeface="Arial"/>
              </a:defRPr>
            </a:lvl5pPr>
            <a:lvl6pPr algn="l">
              <a:defRPr sz="1350" b="1">
                <a:solidFill>
                  <a:srgbClr val="2563A5"/>
                </a:solidFill>
                <a:latin typeface="Arial"/>
                <a:ea typeface="Arial"/>
                <a:cs typeface="Arial"/>
              </a:defRPr>
            </a:lvl6pPr>
            <a:lvl7pPr algn="l">
              <a:defRPr sz="1350" b="1">
                <a:solidFill>
                  <a:srgbClr val="2563A5"/>
                </a:solidFill>
                <a:latin typeface="Arial"/>
                <a:ea typeface="Arial"/>
                <a:cs typeface="Arial"/>
              </a:defRPr>
            </a:lvl7pPr>
            <a:lvl8pPr algn="l">
              <a:defRPr sz="1350" b="1">
                <a:solidFill>
                  <a:srgbClr val="2563A5"/>
                </a:solidFill>
                <a:latin typeface="Arial"/>
                <a:ea typeface="Arial"/>
                <a:cs typeface="Arial"/>
              </a:defRPr>
            </a:lvl8pPr>
            <a:lvl9pPr algn="l">
              <a:defRPr sz="1350" b="1">
                <a:solidFill>
                  <a:srgbClr val="2563A5"/>
                </a:solidFill>
                <a:latin typeface="Arial"/>
                <a:ea typeface="Arial"/>
                <a:cs typeface="Arial"/>
              </a:defRPr>
            </a:lvl9pPr>
          </a:lstStyle>
          <a:p xmlns:a="http://schemas.openxmlformats.org/drawingml/2006/main">
            <a:pPr algn="l">
              <a:defRPr sz="1350" b="1">
                <a:solidFill>
                  <a:srgbClr val="2563A5"/>
                </a:solidFill>
                <a:latin typeface="Arial"/>
                <a:ea typeface="Arial"/>
                <a:cs typeface="Arial"/>
              </a:defRPr>
            </a:pPr>
            <a:r>
              <a:rPr sz="1350" b="1">
                <a:solidFill>
                  <a:srgbClr val="2563A5"/>
                </a:solidFill>
                <a:latin typeface="Arial"/>
                <a:ea typeface="Arial"/>
                <a:cs typeface="Arial"/>
              </a:rPr>
              <a:t>FIXED INTERVALS</a:t>
            </a:r>
          </a:p>
        </p:txBody>
      </p:sp>
      <p:sp>
        <p:nvSpPr>
          <p:cNvPr id="8" name="K = 1, 5, 10, 25, 50">
            <a:extLst xmlns:a="http://schemas.openxmlformats.org/drawingml/2006/main">
              <a:ext uri="{FF2B5EF4-FFF2-40B4-BE49-F238E27FC236}">
                <a16:creationId xmlns:a16="http://schemas.microsoft.com/office/drawing/2014/main" id="{228E3B39-B3AF-474B-BE27-E17E10F4D539}"/>
              </a:ext>
            </a:extLst>
          </p:cNvPr>
          <p:cNvSpPr>
            <a:spLocks xmlns:a="http://schemas.openxmlformats.org/drawingml/2006/main" noGrp="1"/>
          </p:cNvSpPr>
          <p:nvPr/>
        </p:nvSpPr>
        <p:spPr>
          <a:xfrm xmlns:a="http://schemas.openxmlformats.org/drawingml/2006/main">
            <a:off x="6553200" y="20764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2D43"/>
                </a:solidFill>
                <a:latin typeface="Arial"/>
                <a:ea typeface="Arial"/>
                <a:cs typeface="Arial"/>
              </a:defRPr>
            </a:defPPr>
            <a:lvl1pPr algn="l">
              <a:defRPr sz="2625" b="1">
                <a:solidFill>
                  <a:srgbClr val="172D43"/>
                </a:solidFill>
                <a:latin typeface="Arial"/>
                <a:ea typeface="Arial"/>
                <a:cs typeface="Arial"/>
              </a:defRPr>
            </a:lvl1pPr>
            <a:lvl2pPr algn="l">
              <a:defRPr sz="2625" b="1">
                <a:solidFill>
                  <a:srgbClr val="172D43"/>
                </a:solidFill>
                <a:latin typeface="Arial"/>
                <a:ea typeface="Arial"/>
                <a:cs typeface="Arial"/>
              </a:defRPr>
            </a:lvl2pPr>
            <a:lvl3pPr algn="l">
              <a:defRPr sz="2625" b="1">
                <a:solidFill>
                  <a:srgbClr val="172D43"/>
                </a:solidFill>
                <a:latin typeface="Arial"/>
                <a:ea typeface="Arial"/>
                <a:cs typeface="Arial"/>
              </a:defRPr>
            </a:lvl3pPr>
            <a:lvl4pPr algn="l">
              <a:defRPr sz="2625" b="1">
                <a:solidFill>
                  <a:srgbClr val="172D43"/>
                </a:solidFill>
                <a:latin typeface="Arial"/>
                <a:ea typeface="Arial"/>
                <a:cs typeface="Arial"/>
              </a:defRPr>
            </a:lvl4pPr>
            <a:lvl5pPr algn="l">
              <a:defRPr sz="2625" b="1">
                <a:solidFill>
                  <a:srgbClr val="172D43"/>
                </a:solidFill>
                <a:latin typeface="Arial"/>
                <a:ea typeface="Arial"/>
                <a:cs typeface="Arial"/>
              </a:defRPr>
            </a:lvl5pPr>
            <a:lvl6pPr algn="l">
              <a:defRPr sz="2625" b="1">
                <a:solidFill>
                  <a:srgbClr val="172D43"/>
                </a:solidFill>
                <a:latin typeface="Arial"/>
                <a:ea typeface="Arial"/>
                <a:cs typeface="Arial"/>
              </a:defRPr>
            </a:lvl6pPr>
            <a:lvl7pPr algn="l">
              <a:defRPr sz="2625" b="1">
                <a:solidFill>
                  <a:srgbClr val="172D43"/>
                </a:solidFill>
                <a:latin typeface="Arial"/>
                <a:ea typeface="Arial"/>
                <a:cs typeface="Arial"/>
              </a:defRPr>
            </a:lvl7pPr>
            <a:lvl8pPr algn="l">
              <a:defRPr sz="2625" b="1">
                <a:solidFill>
                  <a:srgbClr val="172D43"/>
                </a:solidFill>
                <a:latin typeface="Arial"/>
                <a:ea typeface="Arial"/>
                <a:cs typeface="Arial"/>
              </a:defRPr>
            </a:lvl8pPr>
            <a:lvl9pPr algn="l">
              <a:defRPr sz="2625" b="1">
                <a:solidFill>
                  <a:srgbClr val="172D43"/>
                </a:solidFill>
                <a:latin typeface="Arial"/>
                <a:ea typeface="Arial"/>
                <a:cs typeface="Arial"/>
              </a:defRPr>
            </a:lvl9pPr>
          </a:lstStyle>
          <a:p xmlns:a="http://schemas.openxmlformats.org/drawingml/2006/main">
            <a:pPr algn="l">
              <a:defRPr sz="2625" b="1">
                <a:solidFill>
                  <a:srgbClr val="172D43"/>
                </a:solidFill>
                <a:latin typeface="Arial"/>
                <a:ea typeface="Arial"/>
                <a:cs typeface="Arial"/>
              </a:defRPr>
            </a:pPr>
            <a:r>
              <a:rPr sz="2625" b="1">
                <a:solidFill>
                  <a:srgbClr val="172D43"/>
                </a:solidFill>
                <a:latin typeface="Arial"/>
                <a:ea typeface="Arial"/>
                <a:cs typeface="Arial"/>
              </a:rPr>
              <a:t>K = 1, 5, 10, 25, 50</a:t>
            </a:r>
          </a:p>
        </p:txBody>
      </p:sp>
      <p:sp>
        <p:nvSpPr>
          <p:cNvPr id="9" name="ADAPTIVE DVAC CAPS">
            <a:extLst xmlns:a="http://schemas.openxmlformats.org/drawingml/2006/main">
              <a:ext uri="{FF2B5EF4-FFF2-40B4-BE49-F238E27FC236}">
                <a16:creationId xmlns:a16="http://schemas.microsoft.com/office/drawing/2014/main" id="{CC71FC39-A5E1-416A-B23A-DE8B90A1FC02}"/>
              </a:ext>
            </a:extLst>
          </p:cNvPr>
          <p:cNvSpPr>
            <a:spLocks xmlns:a="http://schemas.openxmlformats.org/drawingml/2006/main" noGrp="1"/>
          </p:cNvSpPr>
          <p:nvPr/>
        </p:nvSpPr>
        <p:spPr>
          <a:xfrm xmlns:a="http://schemas.openxmlformats.org/drawingml/2006/main">
            <a:off x="6553200" y="28765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D07832"/>
                </a:solidFill>
                <a:latin typeface="Arial"/>
                <a:ea typeface="Arial"/>
                <a:cs typeface="Arial"/>
              </a:defRPr>
            </a:defPPr>
            <a:lvl1pPr algn="l">
              <a:defRPr sz="1350" b="1">
                <a:solidFill>
                  <a:srgbClr val="D07832"/>
                </a:solidFill>
                <a:latin typeface="Arial"/>
                <a:ea typeface="Arial"/>
                <a:cs typeface="Arial"/>
              </a:defRPr>
            </a:lvl1pPr>
            <a:lvl2pPr algn="l">
              <a:defRPr sz="1350" b="1">
                <a:solidFill>
                  <a:srgbClr val="D07832"/>
                </a:solidFill>
                <a:latin typeface="Arial"/>
                <a:ea typeface="Arial"/>
                <a:cs typeface="Arial"/>
              </a:defRPr>
            </a:lvl2pPr>
            <a:lvl3pPr algn="l">
              <a:defRPr sz="1350" b="1">
                <a:solidFill>
                  <a:srgbClr val="D07832"/>
                </a:solidFill>
                <a:latin typeface="Arial"/>
                <a:ea typeface="Arial"/>
                <a:cs typeface="Arial"/>
              </a:defRPr>
            </a:lvl3pPr>
            <a:lvl4pPr algn="l">
              <a:defRPr sz="1350" b="1">
                <a:solidFill>
                  <a:srgbClr val="D07832"/>
                </a:solidFill>
                <a:latin typeface="Arial"/>
                <a:ea typeface="Arial"/>
                <a:cs typeface="Arial"/>
              </a:defRPr>
            </a:lvl4pPr>
            <a:lvl5pPr algn="l">
              <a:defRPr sz="1350" b="1">
                <a:solidFill>
                  <a:srgbClr val="D07832"/>
                </a:solidFill>
                <a:latin typeface="Arial"/>
                <a:ea typeface="Arial"/>
                <a:cs typeface="Arial"/>
              </a:defRPr>
            </a:lvl5pPr>
            <a:lvl6pPr algn="l">
              <a:defRPr sz="1350" b="1">
                <a:solidFill>
                  <a:srgbClr val="D07832"/>
                </a:solidFill>
                <a:latin typeface="Arial"/>
                <a:ea typeface="Arial"/>
                <a:cs typeface="Arial"/>
              </a:defRPr>
            </a:lvl6pPr>
            <a:lvl7pPr algn="l">
              <a:defRPr sz="1350" b="1">
                <a:solidFill>
                  <a:srgbClr val="D07832"/>
                </a:solidFill>
                <a:latin typeface="Arial"/>
                <a:ea typeface="Arial"/>
                <a:cs typeface="Arial"/>
              </a:defRPr>
            </a:lvl7pPr>
            <a:lvl8pPr algn="l">
              <a:defRPr sz="1350" b="1">
                <a:solidFill>
                  <a:srgbClr val="D07832"/>
                </a:solidFill>
                <a:latin typeface="Arial"/>
                <a:ea typeface="Arial"/>
                <a:cs typeface="Arial"/>
              </a:defRPr>
            </a:lvl8pPr>
            <a:lvl9pPr algn="l">
              <a:defRPr sz="1350" b="1">
                <a:solidFill>
                  <a:srgbClr val="D07832"/>
                </a:solidFill>
                <a:latin typeface="Arial"/>
                <a:ea typeface="Arial"/>
                <a:cs typeface="Arial"/>
              </a:defRPr>
            </a:lvl9pPr>
          </a:lstStyle>
          <a:p xmlns:a="http://schemas.openxmlformats.org/drawingml/2006/main">
            <a:pPr algn="l">
              <a:defRPr sz="1350" b="1">
                <a:solidFill>
                  <a:srgbClr val="D07832"/>
                </a:solidFill>
                <a:latin typeface="Arial"/>
                <a:ea typeface="Arial"/>
                <a:cs typeface="Arial"/>
              </a:defRPr>
            </a:pPr>
            <a:r>
              <a:rPr sz="1350" b="1">
                <a:solidFill>
                  <a:srgbClr val="D07832"/>
                </a:solidFill>
                <a:latin typeface="Arial"/>
                <a:ea typeface="Arial"/>
                <a:cs typeface="Arial"/>
              </a:rPr>
              <a:t>ADAPTIVE DVAC CAPS</a:t>
            </a:r>
          </a:p>
        </p:txBody>
      </p:sp>
      <p:sp>
        <p:nvSpPr>
          <p:cNvPr id="10" name="C = 5, 10, 25, 50">
            <a:extLst xmlns:a="http://schemas.openxmlformats.org/drawingml/2006/main">
              <a:ext uri="{FF2B5EF4-FFF2-40B4-BE49-F238E27FC236}">
                <a16:creationId xmlns:a16="http://schemas.microsoft.com/office/drawing/2014/main" id="{63E4982A-9B5E-4DBF-804D-33729C72ED8D}"/>
              </a:ext>
            </a:extLst>
          </p:cNvPr>
          <p:cNvSpPr>
            <a:spLocks xmlns:a="http://schemas.openxmlformats.org/drawingml/2006/main" noGrp="1"/>
          </p:cNvSpPr>
          <p:nvPr/>
        </p:nvSpPr>
        <p:spPr>
          <a:xfrm xmlns:a="http://schemas.openxmlformats.org/drawingml/2006/main">
            <a:off x="6553200" y="32766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2D43"/>
                </a:solidFill>
                <a:latin typeface="Arial"/>
                <a:ea typeface="Arial"/>
                <a:cs typeface="Arial"/>
              </a:defRPr>
            </a:defPPr>
            <a:lvl1pPr algn="l">
              <a:defRPr sz="2625" b="1">
                <a:solidFill>
                  <a:srgbClr val="172D43"/>
                </a:solidFill>
                <a:latin typeface="Arial"/>
                <a:ea typeface="Arial"/>
                <a:cs typeface="Arial"/>
              </a:defRPr>
            </a:lvl1pPr>
            <a:lvl2pPr algn="l">
              <a:defRPr sz="2625" b="1">
                <a:solidFill>
                  <a:srgbClr val="172D43"/>
                </a:solidFill>
                <a:latin typeface="Arial"/>
                <a:ea typeface="Arial"/>
                <a:cs typeface="Arial"/>
              </a:defRPr>
            </a:lvl2pPr>
            <a:lvl3pPr algn="l">
              <a:defRPr sz="2625" b="1">
                <a:solidFill>
                  <a:srgbClr val="172D43"/>
                </a:solidFill>
                <a:latin typeface="Arial"/>
                <a:ea typeface="Arial"/>
                <a:cs typeface="Arial"/>
              </a:defRPr>
            </a:lvl3pPr>
            <a:lvl4pPr algn="l">
              <a:defRPr sz="2625" b="1">
                <a:solidFill>
                  <a:srgbClr val="172D43"/>
                </a:solidFill>
                <a:latin typeface="Arial"/>
                <a:ea typeface="Arial"/>
                <a:cs typeface="Arial"/>
              </a:defRPr>
            </a:lvl4pPr>
            <a:lvl5pPr algn="l">
              <a:defRPr sz="2625" b="1">
                <a:solidFill>
                  <a:srgbClr val="172D43"/>
                </a:solidFill>
                <a:latin typeface="Arial"/>
                <a:ea typeface="Arial"/>
                <a:cs typeface="Arial"/>
              </a:defRPr>
            </a:lvl5pPr>
            <a:lvl6pPr algn="l">
              <a:defRPr sz="2625" b="1">
                <a:solidFill>
                  <a:srgbClr val="172D43"/>
                </a:solidFill>
                <a:latin typeface="Arial"/>
                <a:ea typeface="Arial"/>
                <a:cs typeface="Arial"/>
              </a:defRPr>
            </a:lvl6pPr>
            <a:lvl7pPr algn="l">
              <a:defRPr sz="2625" b="1">
                <a:solidFill>
                  <a:srgbClr val="172D43"/>
                </a:solidFill>
                <a:latin typeface="Arial"/>
                <a:ea typeface="Arial"/>
                <a:cs typeface="Arial"/>
              </a:defRPr>
            </a:lvl7pPr>
            <a:lvl8pPr algn="l">
              <a:defRPr sz="2625" b="1">
                <a:solidFill>
                  <a:srgbClr val="172D43"/>
                </a:solidFill>
                <a:latin typeface="Arial"/>
                <a:ea typeface="Arial"/>
                <a:cs typeface="Arial"/>
              </a:defRPr>
            </a:lvl8pPr>
            <a:lvl9pPr algn="l">
              <a:defRPr sz="2625" b="1">
                <a:solidFill>
                  <a:srgbClr val="172D43"/>
                </a:solidFill>
                <a:latin typeface="Arial"/>
                <a:ea typeface="Arial"/>
                <a:cs typeface="Arial"/>
              </a:defRPr>
            </a:lvl9pPr>
          </a:lstStyle>
          <a:p xmlns:a="http://schemas.openxmlformats.org/drawingml/2006/main">
            <a:pPr algn="l">
              <a:defRPr sz="2625" b="1">
                <a:solidFill>
                  <a:srgbClr val="172D43"/>
                </a:solidFill>
                <a:latin typeface="Arial"/>
                <a:ea typeface="Arial"/>
                <a:cs typeface="Arial"/>
              </a:defRPr>
            </a:pPr>
            <a:r>
              <a:rPr sz="2625" b="1">
                <a:solidFill>
                  <a:srgbClr val="172D43"/>
                </a:solidFill>
                <a:latin typeface="Arial"/>
                <a:ea typeface="Arial"/>
                <a:cs typeface="Arial"/>
              </a:rPr>
              <a:t>C = 5, 10, 25, 50</a:t>
            </a:r>
          </a:p>
        </p:txBody>
      </p:sp>
      <p:graphicFrame>
        <p:nvGraphicFramePr>
          <p:cNvPr id="11" name="">
            <a:extLst xmlns:a="http://schemas.openxmlformats.org/drawingml/2006/main">
              <a:ext uri="{FF2B5EF4-FFF2-40B4-BE49-F238E27FC236}">
                <a16:creationId xmlns:a16="http://schemas.microsoft.com/office/drawing/2014/main" id="{32E83A9B-614A-4845-8E08-84FF303483B5}"/>
              </a:ext>
            </a:extLst>
          </p:cNvPr>
          <p:cNvGraphicFramePr/>
          <p:nvPr/>
        </p:nvGraphicFramePr>
        <p:xfrm>
          <a:off xmlns:a="http://schemas.openxmlformats.org/drawingml/2006/main" x="533400" y="4200525"/>
          <a:ext xmlns:a="http://schemas.openxmlformats.org/drawingml/2006/main" cx="11125200" cy="1962150"/>
        </p:xfrm>
        <a:graphic xmlns:a="http://schemas.openxmlformats.org/drawingml/2006/main">
          <a:graphicData uri="http://schemas.openxmlformats.org/drawingml/2006/table">
            <a:tbl>
              <a:tblPr firstRow="0" bandRow="0"/>
              <a:tblGrid>
                <a:gridCol w="6286500"/>
                <a:gridCol w="4838700"/>
              </a:tblGrid>
              <a:tr h="490538">
                <a:tc>
                  <a:txBody>
                    <a:bodyPr lIns="114300" tIns="76200" rIns="114300" bIns="76200"/>
                    <a:lstStyle/>
                    <a:p>
                      <a:r>
                        <a:rPr sz="1575" b="1">
                          <a:solidFill>
                            <a:srgbClr val="172D43"/>
                          </a:solidFill>
                          <a:latin typeface="Arial"/>
                          <a:ea typeface="Arial"/>
                          <a:cs typeface="Arial"/>
                        </a:rPr>
                        <a:t>Matched comparison</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Evaluation</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490538">
                <a:tc>
                  <a:txBody>
                    <a:bodyPr lIns="114300" tIns="76200" rIns="114300" bIns="76200"/>
                    <a:lstStyle/>
                    <a:p>
                      <a:r>
                        <a:rPr sz="1725" b="0">
                          <a:solidFill>
                            <a:srgbClr val="172D43"/>
                          </a:solidFill>
                          <a:latin typeface="Arial"/>
                          <a:ea typeface="Arial"/>
                          <a:cs typeface="Arial"/>
                        </a:rPr>
                        <a:t>Same state, camera images and first prediction</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LIBERO task-success criterion</a:t>
                      </a:r>
                    </a:p>
                  </a:txBody>
                  <a:tcPr marL="91440" marR="91440" marT="45720" marB="45720" anchor="ctr">
                    <a:lnR w="0">
                      <a:solidFill>
                        <a:srgbClr val="FFFFFF"/>
                      </a:solidFill>
                    </a:lnR>
                    <a:lnB w="0">
                      <a:solidFill>
                        <a:srgbClr val="FFFFFF"/>
                      </a:solidFill>
                    </a:lnB>
                    <a:solidFill>
                      <a:srgbClr val="FFFFFF"/>
                    </a:solidFill>
                  </a:tcPr>
                </a:tc>
              </a:tr>
              <a:tr h="490538">
                <a:tc>
                  <a:txBody>
                    <a:bodyPr lIns="114300" tIns="76200" rIns="114300" bIns="76200"/>
                    <a:lstStyle/>
                    <a:p>
                      <a:r>
                        <a:rPr sz="1725" b="0">
                          <a:solidFill>
                            <a:srgbClr val="172D43"/>
                          </a:solidFill>
                          <a:latin typeface="Arial"/>
                          <a:ea typeface="Arial"/>
                          <a:cs typeface="Arial"/>
                        </a:rPr>
                        <a:t>Same weights, H=50, M=10, FP32 and seed 11</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Mean model calls include failures</a:t>
                      </a:r>
                    </a:p>
                  </a:txBody>
                  <a:tcPr marL="91440" marR="91440" marT="45720" marB="45720" anchor="ctr">
                    <a:lnR w="0">
                      <a:solidFill>
                        <a:srgbClr val="FFFFFF"/>
                      </a:solidFill>
                    </a:lnR>
                    <a:lnB w="0">
                      <a:solidFill>
                        <a:srgbClr val="FFFFFF"/>
                      </a:solidFill>
                    </a:lnB>
                    <a:solidFill>
                      <a:srgbClr val="F7F9FB"/>
                    </a:solidFill>
                  </a:tcPr>
                </a:tc>
              </a:tr>
              <a:tr h="490538">
                <a:tc>
                  <a:txBody>
                    <a:bodyPr lIns="114300" tIns="76200" rIns="114300" bIns="76200"/>
                    <a:lstStyle/>
                    <a:p>
                      <a:r>
                        <a:rPr sz="1725" b="0">
                          <a:solidFill>
                            <a:srgbClr val="172D43"/>
                          </a:solidFill>
                          <a:latin typeface="Arial"/>
                          <a:ea typeface="Arial"/>
                          <a:cs typeface="Arial"/>
                        </a:rPr>
                        <a:t>Same 20 Hz control and task step limits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280 / 300 steps per episode</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Tree>
    <p:extLst>
      <p:ext uri="{BB962C8B-B14F-4D97-AF65-F5344CB8AC3E}">
        <p14:creationId xmlns:p14="http://schemas.microsoft.com/office/powerpoint/2010/main" val="11431469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E7F324D-877E-4757-954C-DF01C962CB02}"/>
              </a:ext>
            </a:extLst>
          </p:cNvPr>
          <p:cNvPicPr>
            <a:picLocks xmlns:a="http://schemas.openxmlformats.org/drawingml/2006/main" noChangeAspect="1"/>
          </p:cNvPicPr>
          <p:nvPr/>
        </p:nvPicPr>
        <p:blipFill>
          <a:blip xmlns:r="http://schemas.openxmlformats.org/officeDocument/2006/relationships" xmlns:a="http://schemas.openxmlformats.org/drawingml/2006/main" r:embed="R49ca39ae3e7f46b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7532194"/>
      </p:ext>
    </p:extLst>
  </p:cSld>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1" name="Slide title">
            <a:extLst>
              <a:ext uri="{FF2B5EF4-FFF2-40B4-BE49-F238E27FC236}">
                <a16:creationId id="{B9289D7A-5BC2-40B5-945A-BE0EF57C8EE6}"/>
              </a:ext>
            </a:extLst>
          </p:cNvPr>
          <p:cNvSpPr>
            <a:spLocks noGrp="1"/>
          </p:cNvSpPr>
          <p:nvPr/>
        </p:nvSpPr>
        <p:spPr>
          <a:xfrm>
            <a:off x="533400" y="409575"/>
            <a:ext cx="11125200" cy="952500"/>
          </a:xfrm>
          <a:prstGeom prst="rect">
            <a:avLst/>
          </a:prstGeom>
          <a:noFill/>
          <a:ln w="0">
            <a:noFill/>
          </a:ln>
        </p:spPr>
        <p:txBody>
          <a:bodyPr wrap="square" lIns="0" tIns="0" rIns="0" bIns="0" anchor="t">
            <a:noAutofit/>
          </a:bodyPr>
          <a:lstStyle>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a:pPr algn="l">
              <a:defRPr sz="3150" b="1">
                <a:solidFill>
                  <a:srgbClr val="172D43"/>
                </a:solidFill>
                <a:latin typeface="Arial"/>
                <a:ea typeface="Arial"/>
                <a:cs typeface="Arial"/>
              </a:defRPr>
            </a:pPr>
            <a:r>
              <a:rPr sz="3150" b="1">
                <a:solidFill>
                  <a:srgbClr val="172D43"/>
                </a:solidFill>
                <a:latin typeface="Arial"/>
                <a:ea typeface="Arial"/>
                <a:cs typeface="Arial"/>
              </a:rPr>
              <a:t>The same cap can produce opposite outcomes</a:t>
            </a:r>
          </a:p>
        </p:txBody>
      </p:sp>
      <p:sp>
        <p:nvSpPr>
          <p:cNvPr id="2" name="09">
            <a:extLst>
              <a:ext uri="{FF2B5EF4-FFF2-40B4-BE49-F238E27FC236}">
                <a16:creationId id="{E8F3ED9F-547D-467E-8062-108AD5CD75BD}"/>
              </a:ext>
            </a:extLst>
          </p:cNvPr>
          <p:cNvSpPr>
            <a:spLocks noGrp="1"/>
          </p:cNvSpPr>
          <p:nvPr/>
        </p:nvSpPr>
        <p:spPr>
          <a:xfrm>
            <a:off x="11334750" y="6372225"/>
            <a:ext cx="381000" cy="228600"/>
          </a:xfrm>
          <a:prstGeom prst="rect">
            <a:avLst/>
          </a:prstGeom>
          <a:noFill/>
          <a:ln w="0">
            <a:noFill/>
          </a:ln>
        </p:spPr>
        <p:txBody>
          <a:bodyPr wrap="square" lIns="0" tIns="0" rIns="0" bIns="0" anchor="t">
            <a:noAutofit/>
          </a:bodyPr>
          <a:lstStyle>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a:pPr algn="l">
              <a:defRPr sz="1200" b="0">
                <a:solidFill>
                  <a:srgbClr val="536779"/>
                </a:solidFill>
                <a:latin typeface="Arial"/>
                <a:ea typeface="Arial"/>
                <a:cs typeface="Arial"/>
              </a:defRPr>
            </a:pPr>
            <a:r>
              <a:rPr sz="1200" b="0">
                <a:solidFill>
                  <a:srgbClr val="536779"/>
                </a:solidFill>
                <a:latin typeface="Arial"/>
                <a:ea typeface="Arial"/>
                <a:cs typeface="Arial"/>
              </a:rPr>
              <a:t>09</a:t>
            </a:r>
          </a:p>
        </p:txBody>
      </p:sp>
      <p:sp>
        <p:nvSpPr>
          <p:cNvPr id="3" name="Soup transfer">
            <a:extLst>
              <a:ext uri="{FF2B5EF4-FFF2-40B4-BE49-F238E27FC236}">
                <a16:creationId id="{6D311100-86F2-4B96-8340-D82889233EAD}"/>
              </a:ext>
            </a:extLst>
          </p:cNvPr>
          <p:cNvSpPr>
            <a:spLocks noGrp="1"/>
          </p:cNvSpPr>
          <p:nvPr/>
        </p:nvSpPr>
        <p:spPr>
          <a:xfrm>
            <a:off x="533400" y="1571625"/>
            <a:ext cx="5257800" cy="352425"/>
          </a:xfrm>
          <a:prstGeom prst="rect">
            <a:avLst/>
          </a:prstGeom>
          <a:noFill/>
          <a:ln w="0">
            <a:noFill/>
          </a:ln>
        </p:spPr>
        <p:txBody>
          <a:bodyPr wrap="square" lIns="0" tIns="0" rIns="0" bIns="0" anchor="t">
            <a:noAutofit/>
          </a:bodyPr>
          <a:lstStyle>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a:pPr algn="l">
              <a:defRPr sz="2175" b="1">
                <a:solidFill>
                  <a:srgbClr val="2563A5"/>
                </a:solidFill>
                <a:latin typeface="Arial"/>
                <a:ea typeface="Arial"/>
                <a:cs typeface="Arial"/>
              </a:defRPr>
            </a:pPr>
            <a:r>
              <a:rPr sz="2175" b="1">
                <a:solidFill>
                  <a:srgbClr val="2563A5"/>
                </a:solidFill>
                <a:latin typeface="Arial"/>
                <a:ea typeface="Arial"/>
                <a:cs typeface="Arial"/>
              </a:rPr>
              <a:t>Soup transfer</a:t>
            </a:r>
          </a:p>
        </p:txBody>
      </p:sp>
      <p:sp>
        <p:nvSpPr>
          <p:cNvPr id="4" name="Bowl placement">
            <a:extLst>
              <a:ext uri="{FF2B5EF4-FFF2-40B4-BE49-F238E27FC236}">
                <a16:creationId id="{D169F72E-B8C9-47FF-8671-AA7359823E04}"/>
              </a:ext>
            </a:extLst>
          </p:cNvPr>
          <p:cNvSpPr>
            <a:spLocks noGrp="1"/>
          </p:cNvSpPr>
          <p:nvPr/>
        </p:nvSpPr>
        <p:spPr>
          <a:xfrm>
            <a:off x="6400800" y="1571625"/>
            <a:ext cx="5257800" cy="352425"/>
          </a:xfrm>
          <a:prstGeom prst="rect">
            <a:avLst/>
          </a:prstGeom>
          <a:noFill/>
          <a:ln w="0">
            <a:noFill/>
          </a:ln>
        </p:spPr>
        <p:txBody>
          <a:bodyPr wrap="square" lIns="0" tIns="0" rIns="0" bIns="0" anchor="t">
            <a:noAutofit/>
          </a:bodyPr>
          <a:lstStyle>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a:pPr algn="l">
              <a:defRPr sz="2175" b="1">
                <a:solidFill>
                  <a:srgbClr val="2563A5"/>
                </a:solidFill>
                <a:latin typeface="Arial"/>
                <a:ea typeface="Arial"/>
                <a:cs typeface="Arial"/>
              </a:defRPr>
            </a:pPr>
            <a:r>
              <a:rPr sz="2175" b="1">
                <a:solidFill>
                  <a:srgbClr val="2563A5"/>
                </a:solidFill>
                <a:latin typeface="Arial"/>
                <a:ea typeface="Arial"/>
                <a:cs typeface="Arial"/>
              </a:rPr>
              <a:t>Bowl placement</a:t>
            </a:r>
          </a:p>
        </p:txBody>
      </p:sp>
      <p:pic>
        <p:nvPicPr>
          <p:cNvPr id="5" name="VIDEO_case_soup_caps_en" descr="case_soup_caps_en">
            <a:hlinkClick action="ppaction://media"/>
            <a:extLst>
              <a:ext uri="{FF2B5EF4-FFF2-40B4-BE49-F238E27FC236}">
                <a16:creationId id="{ED6877C5-D9AC-4160-9754-9107C0510309}"/>
              </a:ext>
            </a:extLst>
          </p:cNvPr>
          <p:cNvPicPr>
            <a:picLocks noChangeAspect="1"/>
          </p:cNvPicPr>
          <p:nvPr>
            <a:videoFile r:link="rIdPreservedVideo_case_soup_caps_en"/>
            <p:extLst>
              <p:ext uri="{DAA4B4D4-6D71-4841-9C94-3DE7FCFB9230}">
                <p14:media r:embed="rIdPreservedMedia_case_soup_caps_en"/>
              </p:ext>
            </p:extLst>
          </p:nvPr>
        </p:nvPicPr>
        <p:blipFill>
          <a:blip r:embed="Rdda33d38b3844199"/>
          <a:stretch/>
        </p:blipFill>
        <p:spPr>
          <a:xfrm>
            <a:off x="533400" y="2105025"/>
            <a:ext cx="5257800" cy="3012281"/>
          </a:xfrm>
          <a:prstGeom prst="rect">
            <a:avLst/>
          </a:prstGeom>
        </p:spPr>
      </p:pic>
      <p:pic>
        <p:nvPicPr>
          <p:cNvPr id="6" name="VIDEO_case_bowl_caps_en" descr="case_bowl_caps_en">
            <a:hlinkClick action="ppaction://media"/>
            <a:extLst>
              <a:ext uri="{FF2B5EF4-FFF2-40B4-BE49-F238E27FC236}">
                <a16:creationId id="{82AE302C-CD07-40BA-B903-112A2ED2B8B2}"/>
              </a:ext>
            </a:extLst>
          </p:cNvPr>
          <p:cNvPicPr>
            <a:picLocks noChangeAspect="1"/>
          </p:cNvPicPr>
          <p:nvPr>
            <a:videoFile r:link="rIdPreservedVideo_case_bowl_caps_en"/>
            <p:extLst>
              <p:ext uri="{DAA4B4D4-6D71-4841-9C94-3DE7FCFB9230}">
                <p14:media r:embed="rIdPreservedMedia_case_bowl_caps_en"/>
              </p:ext>
            </p:extLst>
          </p:nvPr>
        </p:nvPicPr>
        <p:blipFill>
          <a:blip r:embed="R030b9d90798f43a1"/>
          <a:stretch/>
        </p:blipFill>
        <p:spPr>
          <a:xfrm>
            <a:off x="6400800" y="2105025"/>
            <a:ext cx="5257800" cy="3012281"/>
          </a:xfrm>
          <a:prstGeom prst="rect">
            <a:avLst/>
          </a:prstGeom>
        </p:spPr>
      </p:pic>
      <p:sp>
        <p:nvSpPr>
          <p:cNvPr id="7" name="C=10 succeeds at step 143">
            <a:extLst>
              <a:ext uri="{FF2B5EF4-FFF2-40B4-BE49-F238E27FC236}">
                <a16:creationId id="{C4BAD546-BC7B-4333-8B86-12E3FF4EB013}"/>
              </a:ext>
            </a:extLst>
          </p:cNvPr>
          <p:cNvSpPr>
            <a:spLocks noGrp="1"/>
          </p:cNvSpPr>
          <p:nvPr/>
        </p:nvSpPr>
        <p:spPr>
          <a:xfrm>
            <a:off x="533400" y="5362575"/>
            <a:ext cx="5257800" cy="342900"/>
          </a:xfrm>
          <a:prstGeom prst="rect">
            <a:avLst/>
          </a:prstGeom>
          <a:noFill/>
          <a:ln w="0">
            <a:noFill/>
          </a:ln>
        </p:spPr>
        <p:txBody>
          <a:bodyPr wrap="square" lIns="0" tIns="0" rIns="0" bIns="0" anchor="t">
            <a:noAutofit/>
          </a:bodyPr>
          <a:lstStyle>
            <a:defPPr algn="l">
              <a:defRPr sz="2025" b="1">
                <a:solidFill>
                  <a:srgbClr val="172D43"/>
                </a:solidFill>
                <a:latin typeface="Arial"/>
                <a:ea typeface="Arial"/>
                <a:cs typeface="Arial"/>
              </a:defRPr>
            </a:defPPr>
            <a:lvl1pPr algn="l">
              <a:defRPr sz="2025" b="1">
                <a:solidFill>
                  <a:srgbClr val="172D43"/>
                </a:solidFill>
                <a:latin typeface="Arial"/>
                <a:ea typeface="Arial"/>
                <a:cs typeface="Arial"/>
              </a:defRPr>
            </a:lvl1pPr>
            <a:lvl2pPr algn="l">
              <a:defRPr sz="2025" b="1">
                <a:solidFill>
                  <a:srgbClr val="172D43"/>
                </a:solidFill>
                <a:latin typeface="Arial"/>
                <a:ea typeface="Arial"/>
                <a:cs typeface="Arial"/>
              </a:defRPr>
            </a:lvl2pPr>
            <a:lvl3pPr algn="l">
              <a:defRPr sz="2025" b="1">
                <a:solidFill>
                  <a:srgbClr val="172D43"/>
                </a:solidFill>
                <a:latin typeface="Arial"/>
                <a:ea typeface="Arial"/>
                <a:cs typeface="Arial"/>
              </a:defRPr>
            </a:lvl3pPr>
            <a:lvl4pPr algn="l">
              <a:defRPr sz="2025" b="1">
                <a:solidFill>
                  <a:srgbClr val="172D43"/>
                </a:solidFill>
                <a:latin typeface="Arial"/>
                <a:ea typeface="Arial"/>
                <a:cs typeface="Arial"/>
              </a:defRPr>
            </a:lvl4pPr>
            <a:lvl5pPr algn="l">
              <a:defRPr sz="2025" b="1">
                <a:solidFill>
                  <a:srgbClr val="172D43"/>
                </a:solidFill>
                <a:latin typeface="Arial"/>
                <a:ea typeface="Arial"/>
                <a:cs typeface="Arial"/>
              </a:defRPr>
            </a:lvl5pPr>
            <a:lvl6pPr algn="l">
              <a:defRPr sz="2025" b="1">
                <a:solidFill>
                  <a:srgbClr val="172D43"/>
                </a:solidFill>
                <a:latin typeface="Arial"/>
                <a:ea typeface="Arial"/>
                <a:cs typeface="Arial"/>
              </a:defRPr>
            </a:lvl6pPr>
            <a:lvl7pPr algn="l">
              <a:defRPr sz="2025" b="1">
                <a:solidFill>
                  <a:srgbClr val="172D43"/>
                </a:solidFill>
                <a:latin typeface="Arial"/>
                <a:ea typeface="Arial"/>
                <a:cs typeface="Arial"/>
              </a:defRPr>
            </a:lvl7pPr>
            <a:lvl8pPr algn="l">
              <a:defRPr sz="2025" b="1">
                <a:solidFill>
                  <a:srgbClr val="172D43"/>
                </a:solidFill>
                <a:latin typeface="Arial"/>
                <a:ea typeface="Arial"/>
                <a:cs typeface="Arial"/>
              </a:defRPr>
            </a:lvl8pPr>
            <a:lvl9pPr algn="l">
              <a:defRPr sz="2025" b="1">
                <a:solidFill>
                  <a:srgbClr val="172D43"/>
                </a:solidFill>
                <a:latin typeface="Arial"/>
                <a:ea typeface="Arial"/>
                <a:cs typeface="Arial"/>
              </a:defRPr>
            </a:lvl9pPr>
          </a:lstStyle>
          <a:p>
            <a:pPr algn="l">
              <a:defRPr sz="2025" b="1">
                <a:solidFill>
                  <a:srgbClr val="172D43"/>
                </a:solidFill>
                <a:latin typeface="Arial"/>
                <a:ea typeface="Arial"/>
                <a:cs typeface="Arial"/>
              </a:defRPr>
            </a:pPr>
            <a:r>
              <a:rPr sz="2025" b="1">
                <a:solidFill>
                  <a:srgbClr val="172D43"/>
                </a:solidFill>
                <a:latin typeface="Arial"/>
                <a:ea typeface="Arial"/>
                <a:cs typeface="Arial"/>
              </a:rPr>
              <a:t>C=10 succeeds at step 143</a:t>
            </a:r>
          </a:p>
        </p:txBody>
      </p:sp>
      <p:sp>
        <p:nvSpPr>
          <p:cNvPr id="8" name="C=50 moves an empty gripper and fails.">
            <a:extLst>
              <a:ext uri="{FF2B5EF4-FFF2-40B4-BE49-F238E27FC236}">
                <a16:creationId id="{99A2046D-5015-4AC1-ADE9-94017284634F}"/>
              </a:ext>
            </a:extLst>
          </p:cNvPr>
          <p:cNvSpPr>
            <a:spLocks noGrp="1"/>
          </p:cNvSpPr>
          <p:nvPr/>
        </p:nvSpPr>
        <p:spPr>
          <a:xfrm>
            <a:off x="533400" y="5791200"/>
            <a:ext cx="5257800" cy="590550"/>
          </a:xfrm>
          <a:prstGeom prst="rect">
            <a:avLst/>
          </a:prstGeom>
          <a:noFill/>
          <a:ln w="0">
            <a:noFill/>
          </a:ln>
        </p:spPr>
        <p:txBody>
          <a:bodyPr wrap="square" lIns="0" tIns="0" rIns="0" bIns="0" anchor="t">
            <a:noAutofit/>
          </a:bodyPr>
          <a:lstStyle>
            <a:defPPr algn="l">
              <a:defRPr sz="1725" b="0">
                <a:solidFill>
                  <a:srgbClr val="536779"/>
                </a:solidFill>
                <a:latin typeface="Arial"/>
                <a:ea typeface="Arial"/>
                <a:cs typeface="Arial"/>
              </a:defRPr>
            </a:defPPr>
            <a:lvl1pPr algn="l">
              <a:defRPr sz="1725" b="0">
                <a:solidFill>
                  <a:srgbClr val="536779"/>
                </a:solidFill>
                <a:latin typeface="Arial"/>
                <a:ea typeface="Arial"/>
                <a:cs typeface="Arial"/>
              </a:defRPr>
            </a:lvl1pPr>
            <a:lvl2pPr algn="l">
              <a:defRPr sz="1725" b="0">
                <a:solidFill>
                  <a:srgbClr val="536779"/>
                </a:solidFill>
                <a:latin typeface="Arial"/>
                <a:ea typeface="Arial"/>
                <a:cs typeface="Arial"/>
              </a:defRPr>
            </a:lvl2pPr>
            <a:lvl3pPr algn="l">
              <a:defRPr sz="1725" b="0">
                <a:solidFill>
                  <a:srgbClr val="536779"/>
                </a:solidFill>
                <a:latin typeface="Arial"/>
                <a:ea typeface="Arial"/>
                <a:cs typeface="Arial"/>
              </a:defRPr>
            </a:lvl3pPr>
            <a:lvl4pPr algn="l">
              <a:defRPr sz="1725" b="0">
                <a:solidFill>
                  <a:srgbClr val="536779"/>
                </a:solidFill>
                <a:latin typeface="Arial"/>
                <a:ea typeface="Arial"/>
                <a:cs typeface="Arial"/>
              </a:defRPr>
            </a:lvl4pPr>
            <a:lvl5pPr algn="l">
              <a:defRPr sz="1725" b="0">
                <a:solidFill>
                  <a:srgbClr val="536779"/>
                </a:solidFill>
                <a:latin typeface="Arial"/>
                <a:ea typeface="Arial"/>
                <a:cs typeface="Arial"/>
              </a:defRPr>
            </a:lvl5pPr>
            <a:lvl6pPr algn="l">
              <a:defRPr sz="1725" b="0">
                <a:solidFill>
                  <a:srgbClr val="536779"/>
                </a:solidFill>
                <a:latin typeface="Arial"/>
                <a:ea typeface="Arial"/>
                <a:cs typeface="Arial"/>
              </a:defRPr>
            </a:lvl6pPr>
            <a:lvl7pPr algn="l">
              <a:defRPr sz="1725" b="0">
                <a:solidFill>
                  <a:srgbClr val="536779"/>
                </a:solidFill>
                <a:latin typeface="Arial"/>
                <a:ea typeface="Arial"/>
                <a:cs typeface="Arial"/>
              </a:defRPr>
            </a:lvl7pPr>
            <a:lvl8pPr algn="l">
              <a:defRPr sz="1725" b="0">
                <a:solidFill>
                  <a:srgbClr val="536779"/>
                </a:solidFill>
                <a:latin typeface="Arial"/>
                <a:ea typeface="Arial"/>
                <a:cs typeface="Arial"/>
              </a:defRPr>
            </a:lvl8pPr>
            <a:lvl9pPr algn="l">
              <a:defRPr sz="1725" b="0">
                <a:solidFill>
                  <a:srgbClr val="536779"/>
                </a:solidFill>
                <a:latin typeface="Arial"/>
                <a:ea typeface="Arial"/>
                <a:cs typeface="Arial"/>
              </a:defRPr>
            </a:lvl9pPr>
          </a:lstStyle>
          <a:p>
            <a:pPr algn="l">
              <a:defRPr sz="1725" b="0">
                <a:solidFill>
                  <a:srgbClr val="536779"/>
                </a:solidFill>
                <a:latin typeface="Arial"/>
                <a:ea typeface="Arial"/>
                <a:cs typeface="Arial"/>
              </a:defRPr>
            </a:pPr>
            <a:r>
              <a:rPr sz="1725" b="0">
                <a:solidFill>
                  <a:srgbClr val="536779"/>
                </a:solidFill>
                <a:latin typeface="Arial"/>
                <a:ea typeface="Arial"/>
                <a:cs typeface="Arial"/>
              </a:rPr>
              <a:t>C=50 moves an empty gripper and fails.</a:t>
            </a:r>
          </a:p>
        </p:txBody>
      </p:sp>
      <p:sp>
        <p:nvSpPr>
          <p:cNvPr id="9" name="C=50 succeeds at step 81">
            <a:extLst>
              <a:ext uri="{FF2B5EF4-FFF2-40B4-BE49-F238E27FC236}">
                <a16:creationId id="{8203B0BA-DDF8-40EE-A97F-36A07195649E}"/>
              </a:ext>
            </a:extLst>
          </p:cNvPr>
          <p:cNvSpPr>
            <a:spLocks noGrp="1"/>
          </p:cNvSpPr>
          <p:nvPr/>
        </p:nvSpPr>
        <p:spPr>
          <a:xfrm>
            <a:off x="6400800" y="5362575"/>
            <a:ext cx="5257800" cy="342900"/>
          </a:xfrm>
          <a:prstGeom prst="rect">
            <a:avLst/>
          </a:prstGeom>
          <a:noFill/>
          <a:ln w="0">
            <a:noFill/>
          </a:ln>
        </p:spPr>
        <p:txBody>
          <a:bodyPr wrap="square" lIns="0" tIns="0" rIns="0" bIns="0" anchor="t">
            <a:noAutofit/>
          </a:bodyPr>
          <a:lstStyle>
            <a:defPPr algn="l">
              <a:defRPr sz="2025" b="1">
                <a:solidFill>
                  <a:srgbClr val="172D43"/>
                </a:solidFill>
                <a:latin typeface="Arial"/>
                <a:ea typeface="Arial"/>
                <a:cs typeface="Arial"/>
              </a:defRPr>
            </a:defPPr>
            <a:lvl1pPr algn="l">
              <a:defRPr sz="2025" b="1">
                <a:solidFill>
                  <a:srgbClr val="172D43"/>
                </a:solidFill>
                <a:latin typeface="Arial"/>
                <a:ea typeface="Arial"/>
                <a:cs typeface="Arial"/>
              </a:defRPr>
            </a:lvl1pPr>
            <a:lvl2pPr algn="l">
              <a:defRPr sz="2025" b="1">
                <a:solidFill>
                  <a:srgbClr val="172D43"/>
                </a:solidFill>
                <a:latin typeface="Arial"/>
                <a:ea typeface="Arial"/>
                <a:cs typeface="Arial"/>
              </a:defRPr>
            </a:lvl2pPr>
            <a:lvl3pPr algn="l">
              <a:defRPr sz="2025" b="1">
                <a:solidFill>
                  <a:srgbClr val="172D43"/>
                </a:solidFill>
                <a:latin typeface="Arial"/>
                <a:ea typeface="Arial"/>
                <a:cs typeface="Arial"/>
              </a:defRPr>
            </a:lvl3pPr>
            <a:lvl4pPr algn="l">
              <a:defRPr sz="2025" b="1">
                <a:solidFill>
                  <a:srgbClr val="172D43"/>
                </a:solidFill>
                <a:latin typeface="Arial"/>
                <a:ea typeface="Arial"/>
                <a:cs typeface="Arial"/>
              </a:defRPr>
            </a:lvl4pPr>
            <a:lvl5pPr algn="l">
              <a:defRPr sz="2025" b="1">
                <a:solidFill>
                  <a:srgbClr val="172D43"/>
                </a:solidFill>
                <a:latin typeface="Arial"/>
                <a:ea typeface="Arial"/>
                <a:cs typeface="Arial"/>
              </a:defRPr>
            </a:lvl5pPr>
            <a:lvl6pPr algn="l">
              <a:defRPr sz="2025" b="1">
                <a:solidFill>
                  <a:srgbClr val="172D43"/>
                </a:solidFill>
                <a:latin typeface="Arial"/>
                <a:ea typeface="Arial"/>
                <a:cs typeface="Arial"/>
              </a:defRPr>
            </a:lvl6pPr>
            <a:lvl7pPr algn="l">
              <a:defRPr sz="2025" b="1">
                <a:solidFill>
                  <a:srgbClr val="172D43"/>
                </a:solidFill>
                <a:latin typeface="Arial"/>
                <a:ea typeface="Arial"/>
                <a:cs typeface="Arial"/>
              </a:defRPr>
            </a:lvl7pPr>
            <a:lvl8pPr algn="l">
              <a:defRPr sz="2025" b="1">
                <a:solidFill>
                  <a:srgbClr val="172D43"/>
                </a:solidFill>
                <a:latin typeface="Arial"/>
                <a:ea typeface="Arial"/>
                <a:cs typeface="Arial"/>
              </a:defRPr>
            </a:lvl8pPr>
            <a:lvl9pPr algn="l">
              <a:defRPr sz="2025" b="1">
                <a:solidFill>
                  <a:srgbClr val="172D43"/>
                </a:solidFill>
                <a:latin typeface="Arial"/>
                <a:ea typeface="Arial"/>
                <a:cs typeface="Arial"/>
              </a:defRPr>
            </a:lvl9pPr>
          </a:lstStyle>
          <a:p>
            <a:pPr algn="l">
              <a:defRPr sz="2025" b="1">
                <a:solidFill>
                  <a:srgbClr val="172D43"/>
                </a:solidFill>
                <a:latin typeface="Arial"/>
                <a:ea typeface="Arial"/>
                <a:cs typeface="Arial"/>
              </a:defRPr>
            </a:pPr>
            <a:r>
              <a:rPr sz="2025" b="1">
                <a:solidFill>
                  <a:srgbClr val="172D43"/>
                </a:solidFill>
                <a:latin typeface="Arial"/>
                <a:ea typeface="Arial"/>
                <a:cs typeface="Arial"/>
              </a:rPr>
              <a:t>C=50 succeeds at step 81</a:t>
            </a:r>
          </a:p>
        </p:txBody>
      </p:sp>
      <p:sp>
        <p:nvSpPr>
          <p:cNvPr id="10" name="C=10 keeps repositioning and fails.">
            <a:extLst>
              <a:ext uri="{FF2B5EF4-FFF2-40B4-BE49-F238E27FC236}">
                <a16:creationId id="{7914CBC6-DBBC-4145-9C6E-EC05CB8EB050}"/>
              </a:ext>
            </a:extLst>
          </p:cNvPr>
          <p:cNvSpPr>
            <a:spLocks noGrp="1"/>
          </p:cNvSpPr>
          <p:nvPr/>
        </p:nvSpPr>
        <p:spPr>
          <a:xfrm>
            <a:off x="6400800" y="5791200"/>
            <a:ext cx="5257800" cy="590550"/>
          </a:xfrm>
          <a:prstGeom prst="rect">
            <a:avLst/>
          </a:prstGeom>
          <a:noFill/>
          <a:ln w="0">
            <a:noFill/>
          </a:ln>
        </p:spPr>
        <p:txBody>
          <a:bodyPr wrap="square" lIns="0" tIns="0" rIns="0" bIns="0" anchor="t">
            <a:noAutofit/>
          </a:bodyPr>
          <a:lstStyle>
            <a:defPPr algn="l">
              <a:defRPr sz="1725" b="0">
                <a:solidFill>
                  <a:srgbClr val="536779"/>
                </a:solidFill>
                <a:latin typeface="Arial"/>
                <a:ea typeface="Arial"/>
                <a:cs typeface="Arial"/>
              </a:defRPr>
            </a:defPPr>
            <a:lvl1pPr algn="l">
              <a:defRPr sz="1725" b="0">
                <a:solidFill>
                  <a:srgbClr val="536779"/>
                </a:solidFill>
                <a:latin typeface="Arial"/>
                <a:ea typeface="Arial"/>
                <a:cs typeface="Arial"/>
              </a:defRPr>
            </a:lvl1pPr>
            <a:lvl2pPr algn="l">
              <a:defRPr sz="1725" b="0">
                <a:solidFill>
                  <a:srgbClr val="536779"/>
                </a:solidFill>
                <a:latin typeface="Arial"/>
                <a:ea typeface="Arial"/>
                <a:cs typeface="Arial"/>
              </a:defRPr>
            </a:lvl2pPr>
            <a:lvl3pPr algn="l">
              <a:defRPr sz="1725" b="0">
                <a:solidFill>
                  <a:srgbClr val="536779"/>
                </a:solidFill>
                <a:latin typeface="Arial"/>
                <a:ea typeface="Arial"/>
                <a:cs typeface="Arial"/>
              </a:defRPr>
            </a:lvl3pPr>
            <a:lvl4pPr algn="l">
              <a:defRPr sz="1725" b="0">
                <a:solidFill>
                  <a:srgbClr val="536779"/>
                </a:solidFill>
                <a:latin typeface="Arial"/>
                <a:ea typeface="Arial"/>
                <a:cs typeface="Arial"/>
              </a:defRPr>
            </a:lvl4pPr>
            <a:lvl5pPr algn="l">
              <a:defRPr sz="1725" b="0">
                <a:solidFill>
                  <a:srgbClr val="536779"/>
                </a:solidFill>
                <a:latin typeface="Arial"/>
                <a:ea typeface="Arial"/>
                <a:cs typeface="Arial"/>
              </a:defRPr>
            </a:lvl5pPr>
            <a:lvl6pPr algn="l">
              <a:defRPr sz="1725" b="0">
                <a:solidFill>
                  <a:srgbClr val="536779"/>
                </a:solidFill>
                <a:latin typeface="Arial"/>
                <a:ea typeface="Arial"/>
                <a:cs typeface="Arial"/>
              </a:defRPr>
            </a:lvl6pPr>
            <a:lvl7pPr algn="l">
              <a:defRPr sz="1725" b="0">
                <a:solidFill>
                  <a:srgbClr val="536779"/>
                </a:solidFill>
                <a:latin typeface="Arial"/>
                <a:ea typeface="Arial"/>
                <a:cs typeface="Arial"/>
              </a:defRPr>
            </a:lvl7pPr>
            <a:lvl8pPr algn="l">
              <a:defRPr sz="1725" b="0">
                <a:solidFill>
                  <a:srgbClr val="536779"/>
                </a:solidFill>
                <a:latin typeface="Arial"/>
                <a:ea typeface="Arial"/>
                <a:cs typeface="Arial"/>
              </a:defRPr>
            </a:lvl8pPr>
            <a:lvl9pPr algn="l">
              <a:defRPr sz="1725" b="0">
                <a:solidFill>
                  <a:srgbClr val="536779"/>
                </a:solidFill>
                <a:latin typeface="Arial"/>
                <a:ea typeface="Arial"/>
                <a:cs typeface="Arial"/>
              </a:defRPr>
            </a:lvl9pPr>
          </a:lstStyle>
          <a:p>
            <a:pPr algn="l">
              <a:defRPr sz="1725" b="0">
                <a:solidFill>
                  <a:srgbClr val="536779"/>
                </a:solidFill>
                <a:latin typeface="Arial"/>
                <a:ea typeface="Arial"/>
                <a:cs typeface="Arial"/>
              </a:defRPr>
            </a:pPr>
            <a:r>
              <a:rPr sz="1725" b="0">
                <a:solidFill>
                  <a:srgbClr val="536779"/>
                </a:solidFill>
                <a:latin typeface="Arial"/>
                <a:ea typeface="Arial"/>
                <a:cs typeface="Arial"/>
              </a:rPr>
              <a:t>C=10 keeps repositioning and fails.</a:t>
            </a:r>
          </a:p>
        </p:txBody>
      </p:sp>
    </p:spTree>
    <p:extLst>
      <p:ext uri="{BB962C8B-B14F-4D97-AF65-F5344CB8AC3E}">
        <p14:creationId val="923172139"/>
      </p:ext>
    </p:extLst>
  </p:cSld>
  <p:timing>
    <p:tnLst>
      <p:par>
        <p:cTn id="1" dur="indefinite" restart="never" nodeType="tmRoot">
          <p:childTnLst>
            <p:video>
              <p:cMediaNode vol="0" mute="1" showWhenStopped="1">
                <p:cTn id="2" fill="hold" display="0">
                  <p:stCondLst>
                    <p:cond delay="0"/>
                  </p:stCondLst>
                </p:cTn>
                <p:tgtEl>
                  <p:spTgt spid="5"/>
                </p:tgtEl>
              </p:cMediaNode>
            </p:video>
            <p:video>
              <p:cMediaNode vol="0" mute="1" showWhenStopped="1">
                <p:cTn id="3" fill="hold" display="0">
                  <p:stCondLst>
                    <p:cond delay="0"/>
                  </p:stCondLst>
                </p:cTn>
                <p:tgtEl>
                  <p:spTgt spid="6"/>
                </p:tgtEl>
              </p:cMediaNode>
            </p:video>
          </p:childTnLst>
        </p:cTn>
      </p:par>
    </p:tnLst>
  </p:timing>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1" name="Slide title">
            <a:extLst>
              <a:ext uri="{FF2B5EF4-FFF2-40B4-BE49-F238E27FC236}">
                <a16:creationId id="{C1F204D1-37D5-4B37-923A-99D605AFCB67}"/>
              </a:ext>
            </a:extLst>
          </p:cNvPr>
          <p:cNvSpPr>
            <a:spLocks noGrp="1"/>
          </p:cNvSpPr>
          <p:nvPr/>
        </p:nvSpPr>
        <p:spPr>
          <a:xfrm>
            <a:off x="533400" y="409575"/>
            <a:ext cx="11125200" cy="952500"/>
          </a:xfrm>
          <a:prstGeom prst="rect">
            <a:avLst/>
          </a:prstGeom>
          <a:noFill/>
          <a:ln w="0">
            <a:noFill/>
          </a:ln>
        </p:spPr>
        <p:txBody>
          <a:bodyPr wrap="square" lIns="0" tIns="0" rIns="0" bIns="0" anchor="t">
            <a:noAutofit/>
          </a:bodyPr>
          <a:lstStyle>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a:pPr algn="l">
              <a:defRPr sz="3150" b="1">
                <a:solidFill>
                  <a:srgbClr val="172D43"/>
                </a:solidFill>
                <a:latin typeface="Arial"/>
                <a:ea typeface="Arial"/>
                <a:cs typeface="Arial"/>
              </a:defRPr>
            </a:pPr>
            <a:r>
              <a:rPr sz="3150" b="1">
                <a:solidFill>
                  <a:srgbClr val="172D43"/>
                </a:solidFill>
                <a:latin typeface="Arial"/>
                <a:ea typeface="Arial"/>
                <a:cs typeface="Arial"/>
              </a:rPr>
              <a:t>Additional tests: new starts and disturbances</a:t>
            </a:r>
          </a:p>
        </p:txBody>
      </p:sp>
      <p:sp>
        <p:nvSpPr>
          <p:cNvPr id="2" name="10">
            <a:extLst>
              <a:ext uri="{FF2B5EF4-FFF2-40B4-BE49-F238E27FC236}">
                <a16:creationId id="{18230AE7-E2AD-4F32-87AA-ADDDE8005AED}"/>
              </a:ext>
            </a:extLst>
          </p:cNvPr>
          <p:cNvSpPr>
            <a:spLocks noGrp="1"/>
          </p:cNvSpPr>
          <p:nvPr/>
        </p:nvSpPr>
        <p:spPr>
          <a:xfrm>
            <a:off x="11334750" y="6372225"/>
            <a:ext cx="381000" cy="228600"/>
          </a:xfrm>
          <a:prstGeom prst="rect">
            <a:avLst/>
          </a:prstGeom>
          <a:noFill/>
          <a:ln w="0">
            <a:noFill/>
          </a:ln>
        </p:spPr>
        <p:txBody>
          <a:bodyPr wrap="square" lIns="0" tIns="0" rIns="0" bIns="0" anchor="t">
            <a:noAutofit/>
          </a:bodyPr>
          <a:lstStyle>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a:pPr algn="l">
              <a:defRPr sz="1200" b="0">
                <a:solidFill>
                  <a:srgbClr val="536779"/>
                </a:solidFill>
                <a:latin typeface="Arial"/>
                <a:ea typeface="Arial"/>
                <a:cs typeface="Arial"/>
              </a:defRPr>
            </a:pPr>
            <a:r>
              <a:rPr sz="1200" b="0">
                <a:solidFill>
                  <a:srgbClr val="536779"/>
                </a:solidFill>
                <a:latin typeface="Arial"/>
                <a:ea typeface="Arial"/>
                <a:cs typeface="Arial"/>
              </a:rPr>
              <a:t>10</a:t>
            </a:r>
          </a:p>
        </p:txBody>
      </p:sp>
      <p:sp>
        <p:nvSpPr>
          <p:cNvPr id="3" name="New initial states">
            <a:extLst>
              <a:ext uri="{FF2B5EF4-FFF2-40B4-BE49-F238E27FC236}">
                <a16:creationId id="{82DFE1D2-CDD1-471C-8775-A6E8DFF44184}"/>
              </a:ext>
            </a:extLst>
          </p:cNvPr>
          <p:cNvSpPr>
            <a:spLocks noGrp="1"/>
          </p:cNvSpPr>
          <p:nvPr/>
        </p:nvSpPr>
        <p:spPr>
          <a:xfrm>
            <a:off x="533400" y="1495425"/>
            <a:ext cx="5143500" cy="381000"/>
          </a:xfrm>
          <a:prstGeom prst="rect">
            <a:avLst/>
          </a:prstGeom>
          <a:noFill/>
          <a:ln w="0">
            <a:noFill/>
          </a:ln>
        </p:spPr>
        <p:txBody>
          <a:bodyPr wrap="square" lIns="0" tIns="0" rIns="0" bIns="0" anchor="t">
            <a:noAutofit/>
          </a:bodyPr>
          <a:lstStyle>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a:pPr algn="l">
              <a:defRPr sz="2175" b="1">
                <a:solidFill>
                  <a:srgbClr val="2563A5"/>
                </a:solidFill>
                <a:latin typeface="Arial"/>
                <a:ea typeface="Arial"/>
                <a:cs typeface="Arial"/>
              </a:defRPr>
            </a:pPr>
            <a:r>
              <a:rPr sz="2175" b="1">
                <a:solidFill>
                  <a:srgbClr val="2563A5"/>
                </a:solidFill>
                <a:latin typeface="Arial"/>
                <a:ea typeface="Arial"/>
                <a:cs typeface="Arial"/>
              </a:rPr>
              <a:t>New initial states</a:t>
            </a:r>
          </a:p>
        </p:txBody>
      </p:sp>
      <p:sp>
        <p:nvSpPr>
          <p:cNvPr id="4" name="48 episodes">
            <a:extLst>
              <a:ext uri="{FF2B5EF4-FFF2-40B4-BE49-F238E27FC236}">
                <a16:creationId id="{C5837EA7-57AC-4437-A75E-950D35817626}"/>
              </a:ext>
            </a:extLst>
          </p:cNvPr>
          <p:cNvSpPr>
            <a:spLocks noGrp="1"/>
          </p:cNvSpPr>
          <p:nvPr/>
        </p:nvSpPr>
        <p:spPr>
          <a:xfrm>
            <a:off x="533400" y="1914525"/>
            <a:ext cx="5143500" cy="285750"/>
          </a:xfrm>
          <a:prstGeom prst="rect">
            <a:avLst/>
          </a:prstGeom>
          <a:noFill/>
          <a:ln w="0">
            <a:noFill/>
          </a:ln>
        </p:spPr>
        <p:txBody>
          <a:bodyPr wrap="square" lIns="0" tIns="0" rIns="0" bIns="0" anchor="t">
            <a:noAutofit/>
          </a:bodyPr>
          <a:lstStyle>
            <a:defPPr algn="l">
              <a:defRPr sz="1575" b="0">
                <a:solidFill>
                  <a:srgbClr val="536779"/>
                </a:solidFill>
                <a:latin typeface="Arial"/>
                <a:ea typeface="Arial"/>
                <a:cs typeface="Arial"/>
              </a:defRPr>
            </a:defPPr>
            <a:lvl1pPr algn="l">
              <a:defRPr sz="1575" b="0">
                <a:solidFill>
                  <a:srgbClr val="536779"/>
                </a:solidFill>
                <a:latin typeface="Arial"/>
                <a:ea typeface="Arial"/>
                <a:cs typeface="Arial"/>
              </a:defRPr>
            </a:lvl1pPr>
            <a:lvl2pPr algn="l">
              <a:defRPr sz="1575" b="0">
                <a:solidFill>
                  <a:srgbClr val="536779"/>
                </a:solidFill>
                <a:latin typeface="Arial"/>
                <a:ea typeface="Arial"/>
                <a:cs typeface="Arial"/>
              </a:defRPr>
            </a:lvl2pPr>
            <a:lvl3pPr algn="l">
              <a:defRPr sz="1575" b="0">
                <a:solidFill>
                  <a:srgbClr val="536779"/>
                </a:solidFill>
                <a:latin typeface="Arial"/>
                <a:ea typeface="Arial"/>
                <a:cs typeface="Arial"/>
              </a:defRPr>
            </a:lvl3pPr>
            <a:lvl4pPr algn="l">
              <a:defRPr sz="1575" b="0">
                <a:solidFill>
                  <a:srgbClr val="536779"/>
                </a:solidFill>
                <a:latin typeface="Arial"/>
                <a:ea typeface="Arial"/>
                <a:cs typeface="Arial"/>
              </a:defRPr>
            </a:lvl4pPr>
            <a:lvl5pPr algn="l">
              <a:defRPr sz="1575" b="0">
                <a:solidFill>
                  <a:srgbClr val="536779"/>
                </a:solidFill>
                <a:latin typeface="Arial"/>
                <a:ea typeface="Arial"/>
                <a:cs typeface="Arial"/>
              </a:defRPr>
            </a:lvl5pPr>
            <a:lvl6pPr algn="l">
              <a:defRPr sz="1575" b="0">
                <a:solidFill>
                  <a:srgbClr val="536779"/>
                </a:solidFill>
                <a:latin typeface="Arial"/>
                <a:ea typeface="Arial"/>
                <a:cs typeface="Arial"/>
              </a:defRPr>
            </a:lvl6pPr>
            <a:lvl7pPr algn="l">
              <a:defRPr sz="1575" b="0">
                <a:solidFill>
                  <a:srgbClr val="536779"/>
                </a:solidFill>
                <a:latin typeface="Arial"/>
                <a:ea typeface="Arial"/>
                <a:cs typeface="Arial"/>
              </a:defRPr>
            </a:lvl7pPr>
            <a:lvl8pPr algn="l">
              <a:defRPr sz="1575" b="0">
                <a:solidFill>
                  <a:srgbClr val="536779"/>
                </a:solidFill>
                <a:latin typeface="Arial"/>
                <a:ea typeface="Arial"/>
                <a:cs typeface="Arial"/>
              </a:defRPr>
            </a:lvl8pPr>
            <a:lvl9pPr algn="l">
              <a:defRPr sz="1575" b="0">
                <a:solidFill>
                  <a:srgbClr val="536779"/>
                </a:solidFill>
                <a:latin typeface="Arial"/>
                <a:ea typeface="Arial"/>
                <a:cs typeface="Arial"/>
              </a:defRPr>
            </a:lvl9pPr>
          </a:lstStyle>
          <a:p>
            <a:pPr algn="l">
              <a:defRPr sz="1575" b="0">
                <a:solidFill>
                  <a:srgbClr val="536779"/>
                </a:solidFill>
                <a:latin typeface="Arial"/>
                <a:ea typeface="Arial"/>
                <a:cs typeface="Arial"/>
              </a:defRPr>
            </a:pPr>
            <a:r>
              <a:rPr sz="1575" b="0">
                <a:solidFill>
                  <a:srgbClr val="536779"/>
                </a:solidFill>
                <a:latin typeface="Arial"/>
                <a:ea typeface="Arial"/>
                <a:cs typeface="Arial"/>
              </a:rPr>
              <a:t>48 episodes</a:t>
            </a:r>
          </a:p>
        </p:txBody>
      </p:sp>
      <p:graphicFrame>
        <p:nvGraphicFramePr>
          <p:cNvPr id="5" name="">
            <a:extLst>
              <a:ext uri="{FF2B5EF4-FFF2-40B4-BE49-F238E27FC236}">
                <a16:creationId id="{4EC564F6-1CB7-483F-B84D-E7509409F40D}"/>
              </a:ext>
            </a:extLst>
          </p:cNvPr>
          <p:cNvGraphicFramePr/>
          <p:nvPr/>
        </p:nvGraphicFramePr>
        <p:xfrm>
          <a:off x="533400" y="2371725"/>
          <a:ext cx="5143500" cy="2667000"/>
        </p:xfrm>
        <a:graphic>
          <a:graphicData uri="http://schemas.openxmlformats.org/drawingml/2006/table">
            <a:tbl>
              <a:tblPr firstRow="0" bandRow="0"/>
              <a:tblGrid>
                <a:gridCol w="2143125"/>
                <a:gridCol w="1476375"/>
                <a:gridCol w="1524000"/>
              </a:tblGrid>
              <a:tr h="533400">
                <a:tc>
                  <a:txBody>
                    <a:bodyPr lIns="114300" tIns="76200" rIns="114300" bIns="76200"/>
                    <a:lstStyle/>
                    <a:p>
                      <a:r>
                        <a:rPr sz="1725" b="1">
                          <a:solidFill>
                            <a:srgbClr val="172D43"/>
                          </a:solidFill>
                          <a:latin typeface="Arial"/>
                          <a:ea typeface="Arial"/>
                          <a:cs typeface="Arial"/>
                        </a:rPr>
                        <a:t>Method</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725" b="1">
                          <a:solidFill>
                            <a:srgbClr val="172D43"/>
                          </a:solidFill>
                          <a:latin typeface="Arial"/>
                          <a:ea typeface="Arial"/>
                          <a:cs typeface="Arial"/>
                        </a:rPr>
                        <a:t>Success</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725" b="1">
                          <a:solidFill>
                            <a:srgbClr val="172D43"/>
                          </a:solidFill>
                          <a:latin typeface="Arial"/>
                          <a:ea typeface="Arial"/>
                          <a:cs typeface="Arial"/>
                        </a:rPr>
                        <a:t>Calls</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533400">
                <a:tc>
                  <a:txBody>
                    <a:bodyPr lIns="114300" tIns="76200" rIns="114300" bIns="76200"/>
                    <a:lstStyle/>
                    <a:p>
                      <a:r>
                        <a:rPr sz="1875" b="0">
                          <a:solidFill>
                            <a:srgbClr val="172D43"/>
                          </a:solidFill>
                          <a:latin typeface="Arial"/>
                          <a:ea typeface="Arial"/>
                          <a:cs typeface="Arial"/>
                        </a:rPr>
                        <a:t>K=5</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875" b="0">
                          <a:solidFill>
                            <a:srgbClr val="172D43"/>
                          </a:solidFill>
                          <a:latin typeface="Arial"/>
                          <a:ea typeface="Arial"/>
                          <a:cs typeface="Arial"/>
                        </a:rPr>
                        <a:t>11/12</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875" b="0">
                          <a:solidFill>
                            <a:srgbClr val="172D43"/>
                          </a:solidFill>
                          <a:latin typeface="Arial"/>
                          <a:ea typeface="Arial"/>
                          <a:cs typeface="Arial"/>
                        </a:rPr>
                        <a:t>28.2</a:t>
                      </a:r>
                    </a:p>
                  </a:txBody>
                  <a:tcPr marL="91440" marR="91440" marT="45720" marB="45720" anchor="ctr">
                    <a:lnR w="0">
                      <a:solidFill>
                        <a:srgbClr val="FFFFFF"/>
                      </a:solidFill>
                    </a:lnR>
                    <a:lnB w="0">
                      <a:solidFill>
                        <a:srgbClr val="FFFFFF"/>
                      </a:solidFill>
                    </a:lnB>
                    <a:solidFill>
                      <a:srgbClr val="FFFFFF"/>
                    </a:solidFill>
                  </a:tcPr>
                </a:tc>
              </a:tr>
              <a:tr h="533400">
                <a:tc>
                  <a:txBody>
                    <a:bodyPr lIns="114300" tIns="76200" rIns="114300" bIns="76200"/>
                    <a:lstStyle/>
                    <a:p>
                      <a:r>
                        <a:rPr sz="1875" b="0">
                          <a:solidFill>
                            <a:srgbClr val="172D43"/>
                          </a:solidFill>
                          <a:latin typeface="Arial"/>
                          <a:ea typeface="Arial"/>
                          <a:cs typeface="Arial"/>
                        </a:rPr>
                        <a:t>K=10</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875" b="0">
                          <a:solidFill>
                            <a:srgbClr val="172D43"/>
                          </a:solidFill>
                          <a:latin typeface="Arial"/>
                          <a:ea typeface="Arial"/>
                          <a:cs typeface="Arial"/>
                        </a:rPr>
                        <a:t>9/12</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875" b="0">
                          <a:solidFill>
                            <a:srgbClr val="172D43"/>
                          </a:solidFill>
                          <a:latin typeface="Arial"/>
                          <a:ea typeface="Arial"/>
                          <a:cs typeface="Arial"/>
                        </a:rPr>
                        <a:t>16.2</a:t>
                      </a:r>
                    </a:p>
                  </a:txBody>
                  <a:tcPr marL="91440" marR="91440" marT="45720" marB="45720" anchor="ctr">
                    <a:lnR w="0">
                      <a:solidFill>
                        <a:srgbClr val="FFFFFF"/>
                      </a:solidFill>
                    </a:lnR>
                    <a:lnB w="0">
                      <a:solidFill>
                        <a:srgbClr val="FFFFFF"/>
                      </a:solidFill>
                    </a:lnB>
                    <a:solidFill>
                      <a:srgbClr val="F7F9FB"/>
                    </a:solidFill>
                  </a:tcPr>
                </a:tc>
              </a:tr>
              <a:tr h="533400">
                <a:tc>
                  <a:txBody>
                    <a:bodyPr lIns="114300" tIns="76200" rIns="114300" bIns="76200"/>
                    <a:lstStyle/>
                    <a:p>
                      <a:r>
                        <a:rPr sz="1875" b="0">
                          <a:solidFill>
                            <a:srgbClr val="172D43"/>
                          </a:solidFill>
                          <a:latin typeface="Arial"/>
                          <a:ea typeface="Arial"/>
                          <a:cs typeface="Arial"/>
                        </a:rPr>
                        <a:t>K=25</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875" b="0">
                          <a:solidFill>
                            <a:srgbClr val="172D43"/>
                          </a:solidFill>
                          <a:latin typeface="Arial"/>
                          <a:ea typeface="Arial"/>
                          <a:cs typeface="Arial"/>
                        </a:rPr>
                        <a:t>6/12</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875" b="0">
                          <a:solidFill>
                            <a:srgbClr val="172D43"/>
                          </a:solidFill>
                          <a:latin typeface="Arial"/>
                          <a:ea typeface="Arial"/>
                          <a:cs typeface="Arial"/>
                        </a:rPr>
                        <a:t>8.6</a:t>
                      </a:r>
                    </a:p>
                  </a:txBody>
                  <a:tcPr marL="91440" marR="91440" marT="45720" marB="45720" anchor="ctr">
                    <a:lnR w="0">
                      <a:solidFill>
                        <a:srgbClr val="FFFFFF"/>
                      </a:solidFill>
                    </a:lnR>
                    <a:lnB w="0">
                      <a:solidFill>
                        <a:srgbClr val="FFFFFF"/>
                      </a:solidFill>
                    </a:lnB>
                    <a:solidFill>
                      <a:srgbClr val="FFFFFF"/>
                    </a:solidFill>
                  </a:tcPr>
                </a:tc>
              </a:tr>
              <a:tr h="533400">
                <a:tc>
                  <a:txBody>
                    <a:bodyPr lIns="114300" tIns="76200" rIns="114300" bIns="76200"/>
                    <a:lstStyle/>
                    <a:p>
                      <a:r>
                        <a:rPr sz="1875" b="1">
                          <a:solidFill>
                            <a:srgbClr val="2563A5"/>
                          </a:solidFill>
                          <a:latin typeface="Arial"/>
                          <a:ea typeface="Arial"/>
                          <a:cs typeface="Arial"/>
                        </a:rPr>
                        <a:t>DVAC</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875" b="1">
                          <a:solidFill>
                            <a:srgbClr val="2563A5"/>
                          </a:solidFill>
                          <a:latin typeface="Arial"/>
                          <a:ea typeface="Arial"/>
                          <a:cs typeface="Arial"/>
                        </a:rPr>
                        <a:t>9/12</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875" b="1">
                          <a:solidFill>
                            <a:srgbClr val="2563A5"/>
                          </a:solidFill>
                          <a:latin typeface="Arial"/>
                          <a:ea typeface="Arial"/>
                          <a:cs typeface="Arial"/>
                        </a:rPr>
                        <a:t>10.2</a:t>
                      </a:r>
                    </a:p>
                  </a:txBody>
                  <a:tcPr marL="91440" marR="91440" marT="45720" marB="45720" anchor="ctr">
                    <a:lnR w="0">
                      <a:solidFill>
                        <a:srgbClr val="FFFFFF"/>
                      </a:solidFill>
                    </a:lnR>
                    <a:lnB w="0">
                      <a:solidFill>
                        <a:srgbClr val="FFFFFF"/>
                      </a:solidFill>
                    </a:lnB>
                    <a:solidFill>
                      <a:srgbClr val="F7F9FB"/>
                    </a:solidFill>
                  </a:tcPr>
                </a:tc>
              </a:tr>
            </a:tbl>
          </a:graphicData>
        </a:graphic>
      </p:graphicFrame>
      <p:sp>
        <p:nvSpPr>
          <p:cNvPr id="6" name="3 tasks, 6 physical settings, 2 policy seeds.&#10;DV">
            <a:extLst>
              <a:ext uri="{FF2B5EF4-FFF2-40B4-BE49-F238E27FC236}">
                <a16:creationId id="{4DD96FCB-0741-4029-ACC9-2606C40A74C2}"/>
              </a:ext>
            </a:extLst>
          </p:cNvPr>
          <p:cNvSpPr>
            <a:spLocks noGrp="1"/>
          </p:cNvSpPr>
          <p:nvPr/>
        </p:nvSpPr>
        <p:spPr>
          <a:xfrm>
            <a:off x="533400" y="5334000"/>
            <a:ext cx="5257800" cy="962025"/>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3 tasks, 6 physical settings, 2 policy seeds.</a:t>
            </a:r>
          </a:p>
          <a:p>
            <a:pPr algn="l">
              <a:defRPr sz="1650" b="0">
                <a:solidFill>
                  <a:srgbClr val="536779"/>
                </a:solidFill>
                <a:latin typeface="Arial"/>
                <a:ea typeface="Arial"/>
                <a:cs typeface="Arial"/>
              </a:defRPr>
            </a:pPr>
            <a:r>
              <a:rPr sz="1650" b="0">
                <a:solidFill>
                  <a:srgbClr val="536779"/>
                </a:solidFill>
                <a:latin typeface="Arial"/>
                <a:ea typeface="Arial"/>
                <a:cs typeface="Arial"/>
              </a:rPr>
              <a:t>DVAC and K=10 each complete 9/12.</a:t>
            </a:r>
          </a:p>
          <a:p>
            <a:pPr algn="l">
              <a:defRPr sz="1650" b="0">
                <a:solidFill>
                  <a:srgbClr val="536779"/>
                </a:solidFill>
                <a:latin typeface="Arial"/>
                <a:ea typeface="Arial"/>
                <a:cs typeface="Arial"/>
              </a:defRPr>
            </a:pPr>
            <a:r>
              <a:rPr sz="1650" b="0">
                <a:solidFill>
                  <a:srgbClr val="536779"/>
                </a:solidFill>
                <a:latin typeface="Arial"/>
                <a:ea typeface="Arial"/>
                <a:cs typeface="Arial"/>
              </a:rPr>
              <a:t>Equal totals do not establish equal reliability.</a:t>
            </a:r>
          </a:p>
        </p:txBody>
      </p:sp>
      <p:sp>
        <p:nvSpPr>
          <p:cNvPr id="7" name="Target-force disturbances">
            <a:extLst>
              <a:ext uri="{FF2B5EF4-FFF2-40B4-BE49-F238E27FC236}">
                <a16:creationId id="{437CD582-FE81-4426-BB67-A486D23C280E}"/>
              </a:ext>
            </a:extLst>
          </p:cNvPr>
          <p:cNvSpPr>
            <a:spLocks noGrp="1"/>
          </p:cNvSpPr>
          <p:nvPr/>
        </p:nvSpPr>
        <p:spPr>
          <a:xfrm>
            <a:off x="6419850" y="1495425"/>
            <a:ext cx="5238750" cy="381000"/>
          </a:xfrm>
          <a:prstGeom prst="rect">
            <a:avLst/>
          </a:prstGeom>
          <a:noFill/>
          <a:ln w="0">
            <a:noFill/>
          </a:ln>
        </p:spPr>
        <p:txBody>
          <a:bodyPr wrap="square" lIns="0" tIns="0" rIns="0" bIns="0" anchor="t">
            <a:noAutofit/>
          </a:bodyPr>
          <a:lstStyle>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a:pPr algn="l">
              <a:defRPr sz="2175" b="1">
                <a:solidFill>
                  <a:srgbClr val="2563A5"/>
                </a:solidFill>
                <a:latin typeface="Arial"/>
                <a:ea typeface="Arial"/>
                <a:cs typeface="Arial"/>
              </a:defRPr>
            </a:pPr>
            <a:r>
              <a:rPr sz="2175" b="1">
                <a:solidFill>
                  <a:srgbClr val="2563A5"/>
                </a:solidFill>
                <a:latin typeface="Arial"/>
                <a:ea typeface="Arial"/>
                <a:cs typeface="Arial"/>
              </a:rPr>
              <a:t>Target-force disturbances</a:t>
            </a:r>
          </a:p>
        </p:txBody>
      </p:sp>
      <p:sp>
        <p:nvSpPr>
          <p:cNvPr id="8" name="135 episodes">
            <a:extLst>
              <a:ext uri="{FF2B5EF4-FFF2-40B4-BE49-F238E27FC236}">
                <a16:creationId id="{A3435D45-A645-426E-B2AE-EBE4014B03D7}"/>
              </a:ext>
            </a:extLst>
          </p:cNvPr>
          <p:cNvSpPr>
            <a:spLocks noGrp="1"/>
          </p:cNvSpPr>
          <p:nvPr/>
        </p:nvSpPr>
        <p:spPr>
          <a:xfrm>
            <a:off x="6419850" y="1914525"/>
            <a:ext cx="5238750" cy="285750"/>
          </a:xfrm>
          <a:prstGeom prst="rect">
            <a:avLst/>
          </a:prstGeom>
          <a:noFill/>
          <a:ln w="0">
            <a:noFill/>
          </a:ln>
        </p:spPr>
        <p:txBody>
          <a:bodyPr wrap="square" lIns="0" tIns="0" rIns="0" bIns="0" anchor="t">
            <a:noAutofit/>
          </a:bodyPr>
          <a:lstStyle>
            <a:defPPr algn="l">
              <a:defRPr sz="1575" b="0">
                <a:solidFill>
                  <a:srgbClr val="536779"/>
                </a:solidFill>
                <a:latin typeface="Arial"/>
                <a:ea typeface="Arial"/>
                <a:cs typeface="Arial"/>
              </a:defRPr>
            </a:defPPr>
            <a:lvl1pPr algn="l">
              <a:defRPr sz="1575" b="0">
                <a:solidFill>
                  <a:srgbClr val="536779"/>
                </a:solidFill>
                <a:latin typeface="Arial"/>
                <a:ea typeface="Arial"/>
                <a:cs typeface="Arial"/>
              </a:defRPr>
            </a:lvl1pPr>
            <a:lvl2pPr algn="l">
              <a:defRPr sz="1575" b="0">
                <a:solidFill>
                  <a:srgbClr val="536779"/>
                </a:solidFill>
                <a:latin typeface="Arial"/>
                <a:ea typeface="Arial"/>
                <a:cs typeface="Arial"/>
              </a:defRPr>
            </a:lvl2pPr>
            <a:lvl3pPr algn="l">
              <a:defRPr sz="1575" b="0">
                <a:solidFill>
                  <a:srgbClr val="536779"/>
                </a:solidFill>
                <a:latin typeface="Arial"/>
                <a:ea typeface="Arial"/>
                <a:cs typeface="Arial"/>
              </a:defRPr>
            </a:lvl3pPr>
            <a:lvl4pPr algn="l">
              <a:defRPr sz="1575" b="0">
                <a:solidFill>
                  <a:srgbClr val="536779"/>
                </a:solidFill>
                <a:latin typeface="Arial"/>
                <a:ea typeface="Arial"/>
                <a:cs typeface="Arial"/>
              </a:defRPr>
            </a:lvl4pPr>
            <a:lvl5pPr algn="l">
              <a:defRPr sz="1575" b="0">
                <a:solidFill>
                  <a:srgbClr val="536779"/>
                </a:solidFill>
                <a:latin typeface="Arial"/>
                <a:ea typeface="Arial"/>
                <a:cs typeface="Arial"/>
              </a:defRPr>
            </a:lvl5pPr>
            <a:lvl6pPr algn="l">
              <a:defRPr sz="1575" b="0">
                <a:solidFill>
                  <a:srgbClr val="536779"/>
                </a:solidFill>
                <a:latin typeface="Arial"/>
                <a:ea typeface="Arial"/>
                <a:cs typeface="Arial"/>
              </a:defRPr>
            </a:lvl6pPr>
            <a:lvl7pPr algn="l">
              <a:defRPr sz="1575" b="0">
                <a:solidFill>
                  <a:srgbClr val="536779"/>
                </a:solidFill>
                <a:latin typeface="Arial"/>
                <a:ea typeface="Arial"/>
                <a:cs typeface="Arial"/>
              </a:defRPr>
            </a:lvl7pPr>
            <a:lvl8pPr algn="l">
              <a:defRPr sz="1575" b="0">
                <a:solidFill>
                  <a:srgbClr val="536779"/>
                </a:solidFill>
                <a:latin typeface="Arial"/>
                <a:ea typeface="Arial"/>
                <a:cs typeface="Arial"/>
              </a:defRPr>
            </a:lvl8pPr>
            <a:lvl9pPr algn="l">
              <a:defRPr sz="1575" b="0">
                <a:solidFill>
                  <a:srgbClr val="536779"/>
                </a:solidFill>
                <a:latin typeface="Arial"/>
                <a:ea typeface="Arial"/>
                <a:cs typeface="Arial"/>
              </a:defRPr>
            </a:lvl9pPr>
          </a:lstStyle>
          <a:p>
            <a:pPr algn="l">
              <a:defRPr sz="1575" b="0">
                <a:solidFill>
                  <a:srgbClr val="536779"/>
                </a:solidFill>
                <a:latin typeface="Arial"/>
                <a:ea typeface="Arial"/>
                <a:cs typeface="Arial"/>
              </a:defRPr>
            </a:pPr>
            <a:r>
              <a:rPr sz="1575" b="0">
                <a:solidFill>
                  <a:srgbClr val="536779"/>
                </a:solidFill>
                <a:latin typeface="Arial"/>
                <a:ea typeface="Arial"/>
                <a:cs typeface="Arial"/>
              </a:rPr>
              <a:t>135 episodes</a:t>
            </a:r>
          </a:p>
        </p:txBody>
      </p:sp>
      <p:graphicFrame>
        <p:nvGraphicFramePr>
          <p:cNvPr id="9" name="">
            <a:extLst>
              <a:ext uri="{FF2B5EF4-FFF2-40B4-BE49-F238E27FC236}">
                <a16:creationId id="{394ADD41-7056-46AF-AD18-3C291344E386}"/>
              </a:ext>
            </a:extLst>
          </p:cNvPr>
          <p:cNvGraphicFramePr/>
          <p:nvPr/>
        </p:nvGraphicFramePr>
        <p:xfrm>
          <a:off x="6419850" y="2295525"/>
          <a:ext cx="5238750" cy="2133600"/>
        </p:xfrm>
        <a:graphic>
          <a:graphicData uri="http://schemas.openxmlformats.org/drawingml/2006/table">
            <a:tbl>
              <a:tblPr firstRow="0" bandRow="0"/>
              <a:tblGrid>
                <a:gridCol w="1781175"/>
                <a:gridCol w="1152525"/>
                <a:gridCol w="1152525"/>
                <a:gridCol w="1152525"/>
              </a:tblGrid>
              <a:tr h="533400">
                <a:tc>
                  <a:txBody>
                    <a:bodyPr lIns="114300" tIns="76200" rIns="114300" bIns="76200"/>
                    <a:lstStyle/>
                    <a:p>
                      <a:r>
                        <a:rPr sz="1575" b="1">
                          <a:solidFill>
                            <a:srgbClr val="172D43"/>
                          </a:solidFill>
                          <a:latin typeface="Arial"/>
                          <a:ea typeface="Arial"/>
                          <a:cs typeface="Arial"/>
                        </a:rPr>
                        <a:t>Condition</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K=5</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K=10</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575" b="1">
                          <a:solidFill>
                            <a:srgbClr val="172D43"/>
                          </a:solidFill>
                          <a:latin typeface="Arial"/>
                          <a:ea typeface="Arial"/>
                          <a:cs typeface="Arial"/>
                        </a:rPr>
                        <a:t>K=50</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533400">
                <a:tc>
                  <a:txBody>
                    <a:bodyPr lIns="114300" tIns="76200" rIns="114300" bIns="76200"/>
                    <a:lstStyle/>
                    <a:p>
                      <a:r>
                        <a:rPr sz="1725" b="0">
                          <a:solidFill>
                            <a:srgbClr val="172D43"/>
                          </a:solidFill>
                          <a:latin typeface="Arial"/>
                          <a:ea typeface="Arial"/>
                          <a:cs typeface="Arial"/>
                        </a:rPr>
                        <a:t>Static</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12/15</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13/15</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6/15</a:t>
                      </a:r>
                    </a:p>
                  </a:txBody>
                  <a:tcPr marL="91440" marR="91440" marT="45720" marB="45720" anchor="ctr">
                    <a:lnR w="0">
                      <a:solidFill>
                        <a:srgbClr val="FFFFFF"/>
                      </a:solidFill>
                    </a:lnR>
                    <a:lnB w="0">
                      <a:solidFill>
                        <a:srgbClr val="FFFFFF"/>
                      </a:solidFill>
                    </a:lnB>
                    <a:solidFill>
                      <a:srgbClr val="FFFFFF"/>
                    </a:solidFill>
                  </a:tcPr>
                </a:tc>
              </a:tr>
              <a:tr h="533400">
                <a:tc>
                  <a:txBody>
                    <a:bodyPr lIns="114300" tIns="76200" rIns="114300" bIns="76200"/>
                    <a:lstStyle/>
                    <a:p>
                      <a:r>
                        <a:rPr sz="1725" b="0">
                          <a:solidFill>
                            <a:srgbClr val="172D43"/>
                          </a:solidFill>
                          <a:latin typeface="Arial"/>
                          <a:ea typeface="Arial"/>
                          <a:cs typeface="Arial"/>
                        </a:rPr>
                        <a:t>Slow</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8/15</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13/15</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725" b="0">
                          <a:solidFill>
                            <a:srgbClr val="172D43"/>
                          </a:solidFill>
                          <a:latin typeface="Arial"/>
                          <a:ea typeface="Arial"/>
                          <a:cs typeface="Arial"/>
                        </a:rPr>
                        <a:t>5/15</a:t>
                      </a:r>
                    </a:p>
                  </a:txBody>
                  <a:tcPr marL="91440" marR="91440" marT="45720" marB="45720" anchor="ctr">
                    <a:lnR w="0">
                      <a:solidFill>
                        <a:srgbClr val="FFFFFF"/>
                      </a:solidFill>
                    </a:lnR>
                    <a:lnB w="0">
                      <a:solidFill>
                        <a:srgbClr val="FFFFFF"/>
                      </a:solidFill>
                    </a:lnB>
                    <a:solidFill>
                      <a:srgbClr val="F7F9FB"/>
                    </a:solidFill>
                  </a:tcPr>
                </a:tc>
              </a:tr>
              <a:tr h="533400">
                <a:tc>
                  <a:txBody>
                    <a:bodyPr lIns="114300" tIns="76200" rIns="114300" bIns="76200"/>
                    <a:lstStyle/>
                    <a:p>
                      <a:r>
                        <a:rPr sz="1725" b="0">
                          <a:solidFill>
                            <a:srgbClr val="172D43"/>
                          </a:solidFill>
                          <a:latin typeface="Arial"/>
                          <a:ea typeface="Arial"/>
                          <a:cs typeface="Arial"/>
                        </a:rPr>
                        <a:t>Fast</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13/15</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15/15</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725" b="0">
                          <a:solidFill>
                            <a:srgbClr val="172D43"/>
                          </a:solidFill>
                          <a:latin typeface="Arial"/>
                          <a:ea typeface="Arial"/>
                          <a:cs typeface="Arial"/>
                        </a:rPr>
                        <a:t>6/15</a:t>
                      </a:r>
                    </a:p>
                  </a:txBody>
                  <a:tcPr marL="91440" marR="91440" marT="45720" marB="45720" anchor="ctr">
                    <a:lnR w="0">
                      <a:solidFill>
                        <a:srgbClr val="FFFFFF"/>
                      </a:solidFill>
                    </a:lnR>
                    <a:lnB w="0">
                      <a:solidFill>
                        <a:srgbClr val="FFFFFF"/>
                      </a:solidFill>
                    </a:lnB>
                    <a:solidFill>
                      <a:srgbClr val="FFFFFF"/>
                    </a:solidFill>
                  </a:tcPr>
                </a:tc>
              </a:tr>
            </a:tbl>
          </a:graphicData>
        </a:graphic>
      </p:graphicFrame>
      <p:pic>
        <p:nvPicPr>
          <p:cNvPr id="10" name="VIDEO_case_moving_en" descr="case_moving_en">
            <a:hlinkClick action="ppaction://media"/>
            <a:extLst>
              <a:ext uri="{FF2B5EF4-FFF2-40B4-BE49-F238E27FC236}">
                <a16:creationId id="{D7F7EC57-ABE7-46A4-A902-F5D1BEA94ED2}"/>
              </a:ext>
            </a:extLst>
          </p:cNvPr>
          <p:cNvPicPr>
            <a:picLocks noChangeAspect="1"/>
          </p:cNvPicPr>
          <p:nvPr>
            <a:videoFile r:link="rIdPreservedVideo_case_moving_en"/>
            <p:extLst>
              <p:ext uri="{DAA4B4D4-6D71-4841-9C94-3DE7FCFB9230}">
                <p14:media r:embed="rIdPreservedMedia_case_moving_en"/>
              </p:ext>
            </p:extLst>
          </p:nvPr>
        </p:nvPicPr>
        <p:blipFill>
          <a:blip r:embed="R72def6028f094081"/>
          <a:stretch/>
        </p:blipFill>
        <p:spPr>
          <a:xfrm>
            <a:off x="6419898" y="4572000"/>
            <a:ext cx="5238655" cy="1746218"/>
          </a:xfrm>
          <a:prstGeom prst="rect">
            <a:avLst/>
          </a:prstGeom>
        </p:spPr>
      </p:pic>
    </p:spTree>
    <p:extLst>
      <p:ext uri="{BB962C8B-B14F-4D97-AF65-F5344CB8AC3E}">
        <p14:creationId val="1403453442"/>
      </p:ext>
    </p:extLst>
  </p:cSld>
  <p:timing>
    <p:tnLst>
      <p:par>
        <p:cTn id="1" dur="indefinite" restart="never" nodeType="tmRoot">
          <p:childTnLst>
            <p:video>
              <p:cMediaNode vol="0" mute="1" showWhenStopped="1">
                <p:cTn id="2" fill="hold" display="0">
                  <p:stCondLst>
                    <p:cond delay="0"/>
                  </p:stCondLst>
                </p:cTn>
                <p:tgtEl>
                  <p:spTgt spid="10"/>
                </p:tgtEl>
              </p:cMediaNode>
            </p:video>
          </p:childTnLst>
        </p:cTn>
      </p:par>
    </p:tnLst>
  </p:timing>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2" name="Slide title">
            <a:extLst>
              <a:ext uri="{FF2B5EF4-FFF2-40B4-BE49-F238E27FC236}">
                <a16:creationId id="{270FE354-68E0-40E2-A952-ACBDDD8E4AEE}"/>
              </a:ext>
            </a:extLst>
          </p:cNvPr>
          <p:cNvSpPr>
            <a:spLocks noGrp="1"/>
          </p:cNvSpPr>
          <p:nvPr/>
        </p:nvSpPr>
        <p:spPr>
          <a:xfrm>
            <a:off x="533400" y="409575"/>
            <a:ext cx="11125200" cy="952500"/>
          </a:xfrm>
          <a:prstGeom prst="rect">
            <a:avLst/>
          </a:prstGeom>
          <a:noFill/>
          <a:ln w="0">
            <a:noFill/>
          </a:ln>
        </p:spPr>
        <p:txBody>
          <a:bodyPr wrap="square" lIns="0" tIns="0" rIns="0" bIns="0" anchor="t">
            <a:noAutofit/>
          </a:bodyPr>
          <a:lstStyle>
            <a:defPPr algn="l">
              <a:defRPr sz="3150" b="1">
                <a:solidFill>
                  <a:srgbClr val="172D43"/>
                </a:solidFill>
                <a:latin typeface="Arial"/>
                <a:ea typeface="Arial"/>
                <a:cs typeface="Arial"/>
              </a:defRPr>
            </a:defPPr>
            <a:lvl1pPr algn="l">
              <a:defRPr sz="3150" b="1">
                <a:solidFill>
                  <a:srgbClr val="172D43"/>
                </a:solidFill>
                <a:latin typeface="Arial"/>
                <a:ea typeface="Arial"/>
                <a:cs typeface="Arial"/>
              </a:defRPr>
            </a:lvl1pPr>
            <a:lvl2pPr algn="l">
              <a:defRPr sz="3150" b="1">
                <a:solidFill>
                  <a:srgbClr val="172D43"/>
                </a:solidFill>
                <a:latin typeface="Arial"/>
                <a:ea typeface="Arial"/>
                <a:cs typeface="Arial"/>
              </a:defRPr>
            </a:lvl2pPr>
            <a:lvl3pPr algn="l">
              <a:defRPr sz="3150" b="1">
                <a:solidFill>
                  <a:srgbClr val="172D43"/>
                </a:solidFill>
                <a:latin typeface="Arial"/>
                <a:ea typeface="Arial"/>
                <a:cs typeface="Arial"/>
              </a:defRPr>
            </a:lvl3pPr>
            <a:lvl4pPr algn="l">
              <a:defRPr sz="3150" b="1">
                <a:solidFill>
                  <a:srgbClr val="172D43"/>
                </a:solidFill>
                <a:latin typeface="Arial"/>
                <a:ea typeface="Arial"/>
                <a:cs typeface="Arial"/>
              </a:defRPr>
            </a:lvl4pPr>
            <a:lvl5pPr algn="l">
              <a:defRPr sz="3150" b="1">
                <a:solidFill>
                  <a:srgbClr val="172D43"/>
                </a:solidFill>
                <a:latin typeface="Arial"/>
                <a:ea typeface="Arial"/>
                <a:cs typeface="Arial"/>
              </a:defRPr>
            </a:lvl5pPr>
            <a:lvl6pPr algn="l">
              <a:defRPr sz="3150" b="1">
                <a:solidFill>
                  <a:srgbClr val="172D43"/>
                </a:solidFill>
                <a:latin typeface="Arial"/>
                <a:ea typeface="Arial"/>
                <a:cs typeface="Arial"/>
              </a:defRPr>
            </a:lvl6pPr>
            <a:lvl7pPr algn="l">
              <a:defRPr sz="3150" b="1">
                <a:solidFill>
                  <a:srgbClr val="172D43"/>
                </a:solidFill>
                <a:latin typeface="Arial"/>
                <a:ea typeface="Arial"/>
                <a:cs typeface="Arial"/>
              </a:defRPr>
            </a:lvl7pPr>
            <a:lvl8pPr algn="l">
              <a:defRPr sz="3150" b="1">
                <a:solidFill>
                  <a:srgbClr val="172D43"/>
                </a:solidFill>
                <a:latin typeface="Arial"/>
                <a:ea typeface="Arial"/>
                <a:cs typeface="Arial"/>
              </a:defRPr>
            </a:lvl8pPr>
            <a:lvl9pPr algn="l">
              <a:defRPr sz="3150" b="1">
                <a:solidFill>
                  <a:srgbClr val="172D43"/>
                </a:solidFill>
                <a:latin typeface="Arial"/>
                <a:ea typeface="Arial"/>
                <a:cs typeface="Arial"/>
              </a:defRPr>
            </a:lvl9pPr>
          </a:lstStyle>
          <a:p>
            <a:pPr algn="l">
              <a:defRPr sz="3150" b="1">
                <a:solidFill>
                  <a:srgbClr val="172D43"/>
                </a:solidFill>
                <a:latin typeface="Arial"/>
                <a:ea typeface="Arial"/>
                <a:cs typeface="Arial"/>
              </a:defRPr>
            </a:pPr>
            <a:r>
              <a:rPr sz="3150" b="1">
                <a:solidFill>
                  <a:srgbClr val="172D43"/>
                </a:solidFill>
                <a:latin typeface="Arial"/>
                <a:ea typeface="Arial"/>
                <a:cs typeface="Arial"/>
              </a:rPr>
              <a:t>Additional controls did not resolve the failures</a:t>
            </a:r>
          </a:p>
        </p:txBody>
      </p:sp>
      <p:sp>
        <p:nvSpPr>
          <p:cNvPr id="2" name="11">
            <a:extLst>
              <a:ext uri="{FF2B5EF4-FFF2-40B4-BE49-F238E27FC236}">
                <a16:creationId id="{8EB76F49-A53C-4F25-A79F-51361D59C82D}"/>
              </a:ext>
            </a:extLst>
          </p:cNvPr>
          <p:cNvSpPr>
            <a:spLocks noGrp="1"/>
          </p:cNvSpPr>
          <p:nvPr/>
        </p:nvSpPr>
        <p:spPr>
          <a:xfrm>
            <a:off x="11334750" y="6372225"/>
            <a:ext cx="381000" cy="228600"/>
          </a:xfrm>
          <a:prstGeom prst="rect">
            <a:avLst/>
          </a:prstGeom>
          <a:noFill/>
          <a:ln w="0">
            <a:noFill/>
          </a:ln>
        </p:spPr>
        <p:txBody>
          <a:bodyPr wrap="square" lIns="0" tIns="0" rIns="0" bIns="0" anchor="t">
            <a:noAutofit/>
          </a:bodyPr>
          <a:lstStyle>
            <a:defPPr algn="l">
              <a:defRPr sz="1200" b="0">
                <a:solidFill>
                  <a:srgbClr val="536779"/>
                </a:solidFill>
                <a:latin typeface="Arial"/>
                <a:ea typeface="Arial"/>
                <a:cs typeface="Arial"/>
              </a:defRPr>
            </a:defPPr>
            <a:lvl1pPr algn="l">
              <a:defRPr sz="1200" b="0">
                <a:solidFill>
                  <a:srgbClr val="536779"/>
                </a:solidFill>
                <a:latin typeface="Arial"/>
                <a:ea typeface="Arial"/>
                <a:cs typeface="Arial"/>
              </a:defRPr>
            </a:lvl1pPr>
            <a:lvl2pPr algn="l">
              <a:defRPr sz="1200" b="0">
                <a:solidFill>
                  <a:srgbClr val="536779"/>
                </a:solidFill>
                <a:latin typeface="Arial"/>
                <a:ea typeface="Arial"/>
                <a:cs typeface="Arial"/>
              </a:defRPr>
            </a:lvl2pPr>
            <a:lvl3pPr algn="l">
              <a:defRPr sz="1200" b="0">
                <a:solidFill>
                  <a:srgbClr val="536779"/>
                </a:solidFill>
                <a:latin typeface="Arial"/>
                <a:ea typeface="Arial"/>
                <a:cs typeface="Arial"/>
              </a:defRPr>
            </a:lvl3pPr>
            <a:lvl4pPr algn="l">
              <a:defRPr sz="1200" b="0">
                <a:solidFill>
                  <a:srgbClr val="536779"/>
                </a:solidFill>
                <a:latin typeface="Arial"/>
                <a:ea typeface="Arial"/>
                <a:cs typeface="Arial"/>
              </a:defRPr>
            </a:lvl4pPr>
            <a:lvl5pPr algn="l">
              <a:defRPr sz="1200" b="0">
                <a:solidFill>
                  <a:srgbClr val="536779"/>
                </a:solidFill>
                <a:latin typeface="Arial"/>
                <a:ea typeface="Arial"/>
                <a:cs typeface="Arial"/>
              </a:defRPr>
            </a:lvl5pPr>
            <a:lvl6pPr algn="l">
              <a:defRPr sz="1200" b="0">
                <a:solidFill>
                  <a:srgbClr val="536779"/>
                </a:solidFill>
                <a:latin typeface="Arial"/>
                <a:ea typeface="Arial"/>
                <a:cs typeface="Arial"/>
              </a:defRPr>
            </a:lvl6pPr>
            <a:lvl7pPr algn="l">
              <a:defRPr sz="1200" b="0">
                <a:solidFill>
                  <a:srgbClr val="536779"/>
                </a:solidFill>
                <a:latin typeface="Arial"/>
                <a:ea typeface="Arial"/>
                <a:cs typeface="Arial"/>
              </a:defRPr>
            </a:lvl7pPr>
            <a:lvl8pPr algn="l">
              <a:defRPr sz="1200" b="0">
                <a:solidFill>
                  <a:srgbClr val="536779"/>
                </a:solidFill>
                <a:latin typeface="Arial"/>
                <a:ea typeface="Arial"/>
                <a:cs typeface="Arial"/>
              </a:defRPr>
            </a:lvl8pPr>
            <a:lvl9pPr algn="l">
              <a:defRPr sz="1200" b="0">
                <a:solidFill>
                  <a:srgbClr val="536779"/>
                </a:solidFill>
                <a:latin typeface="Arial"/>
                <a:ea typeface="Arial"/>
                <a:cs typeface="Arial"/>
              </a:defRPr>
            </a:lvl9pPr>
          </a:lstStyle>
          <a:p>
            <a:pPr algn="l">
              <a:defRPr sz="1200" b="0">
                <a:solidFill>
                  <a:srgbClr val="536779"/>
                </a:solidFill>
                <a:latin typeface="Arial"/>
                <a:ea typeface="Arial"/>
                <a:cs typeface="Arial"/>
              </a:defRPr>
            </a:pPr>
            <a:r>
              <a:rPr sz="1200" b="0">
                <a:solidFill>
                  <a:srgbClr val="536779"/>
                </a:solidFill>
                <a:latin typeface="Arial"/>
                <a:ea typeface="Arial"/>
                <a:cs typeface="Arial"/>
              </a:rPr>
              <a:t>11</a:t>
            </a:r>
          </a:p>
        </p:txBody>
      </p:sp>
      <p:sp>
        <p:nvSpPr>
          <p:cNvPr id="3" name="Action-based heuristic">
            <a:extLst>
              <a:ext uri="{FF2B5EF4-FFF2-40B4-BE49-F238E27FC236}">
                <a16:creationId id="{7997BF11-5DD6-4992-8D0C-B364E047C659}"/>
              </a:ext>
            </a:extLst>
          </p:cNvPr>
          <p:cNvSpPr>
            <a:spLocks noGrp="1"/>
          </p:cNvSpPr>
          <p:nvPr/>
        </p:nvSpPr>
        <p:spPr>
          <a:xfrm>
            <a:off x="533400" y="1495425"/>
            <a:ext cx="5238750" cy="371475"/>
          </a:xfrm>
          <a:prstGeom prst="rect">
            <a:avLst/>
          </a:prstGeom>
          <a:noFill/>
          <a:ln w="0">
            <a:noFill/>
          </a:ln>
        </p:spPr>
        <p:txBody>
          <a:bodyPr wrap="square" lIns="0" tIns="0" rIns="0" bIns="0" anchor="t">
            <a:noAutofit/>
          </a:bodyPr>
          <a:lstStyle>
            <a:defPPr algn="l">
              <a:defRPr sz="2175" b="1">
                <a:solidFill>
                  <a:srgbClr val="2563A5"/>
                </a:solidFill>
                <a:latin typeface="Arial"/>
                <a:ea typeface="Arial"/>
                <a:cs typeface="Arial"/>
              </a:defRPr>
            </a:defPPr>
            <a:lvl1pPr algn="l">
              <a:defRPr sz="2175" b="1">
                <a:solidFill>
                  <a:srgbClr val="2563A5"/>
                </a:solidFill>
                <a:latin typeface="Arial"/>
                <a:ea typeface="Arial"/>
                <a:cs typeface="Arial"/>
              </a:defRPr>
            </a:lvl1pPr>
            <a:lvl2pPr algn="l">
              <a:defRPr sz="2175" b="1">
                <a:solidFill>
                  <a:srgbClr val="2563A5"/>
                </a:solidFill>
                <a:latin typeface="Arial"/>
                <a:ea typeface="Arial"/>
                <a:cs typeface="Arial"/>
              </a:defRPr>
            </a:lvl2pPr>
            <a:lvl3pPr algn="l">
              <a:defRPr sz="2175" b="1">
                <a:solidFill>
                  <a:srgbClr val="2563A5"/>
                </a:solidFill>
                <a:latin typeface="Arial"/>
                <a:ea typeface="Arial"/>
                <a:cs typeface="Arial"/>
              </a:defRPr>
            </a:lvl3pPr>
            <a:lvl4pPr algn="l">
              <a:defRPr sz="2175" b="1">
                <a:solidFill>
                  <a:srgbClr val="2563A5"/>
                </a:solidFill>
                <a:latin typeface="Arial"/>
                <a:ea typeface="Arial"/>
                <a:cs typeface="Arial"/>
              </a:defRPr>
            </a:lvl4pPr>
            <a:lvl5pPr algn="l">
              <a:defRPr sz="2175" b="1">
                <a:solidFill>
                  <a:srgbClr val="2563A5"/>
                </a:solidFill>
                <a:latin typeface="Arial"/>
                <a:ea typeface="Arial"/>
                <a:cs typeface="Arial"/>
              </a:defRPr>
            </a:lvl5pPr>
            <a:lvl6pPr algn="l">
              <a:defRPr sz="2175" b="1">
                <a:solidFill>
                  <a:srgbClr val="2563A5"/>
                </a:solidFill>
                <a:latin typeface="Arial"/>
                <a:ea typeface="Arial"/>
                <a:cs typeface="Arial"/>
              </a:defRPr>
            </a:lvl6pPr>
            <a:lvl7pPr algn="l">
              <a:defRPr sz="2175" b="1">
                <a:solidFill>
                  <a:srgbClr val="2563A5"/>
                </a:solidFill>
                <a:latin typeface="Arial"/>
                <a:ea typeface="Arial"/>
                <a:cs typeface="Arial"/>
              </a:defRPr>
            </a:lvl7pPr>
            <a:lvl8pPr algn="l">
              <a:defRPr sz="2175" b="1">
                <a:solidFill>
                  <a:srgbClr val="2563A5"/>
                </a:solidFill>
                <a:latin typeface="Arial"/>
                <a:ea typeface="Arial"/>
                <a:cs typeface="Arial"/>
              </a:defRPr>
            </a:lvl8pPr>
            <a:lvl9pPr algn="l">
              <a:defRPr sz="2175" b="1">
                <a:solidFill>
                  <a:srgbClr val="2563A5"/>
                </a:solidFill>
                <a:latin typeface="Arial"/>
                <a:ea typeface="Arial"/>
                <a:cs typeface="Arial"/>
              </a:defRPr>
            </a:lvl9pPr>
          </a:lstStyle>
          <a:p>
            <a:pPr algn="l">
              <a:defRPr sz="2175" b="1">
                <a:solidFill>
                  <a:srgbClr val="2563A5"/>
                </a:solidFill>
                <a:latin typeface="Arial"/>
                <a:ea typeface="Arial"/>
                <a:cs typeface="Arial"/>
              </a:defRPr>
            </a:pPr>
            <a:r>
              <a:rPr sz="2175" b="1">
                <a:solidFill>
                  <a:srgbClr val="2563A5"/>
                </a:solidFill>
                <a:latin typeface="Arial"/>
                <a:ea typeface="Arial"/>
                <a:cs typeface="Arial"/>
              </a:rPr>
              <a:t>Action-based heuristic</a:t>
            </a:r>
          </a:p>
        </p:txBody>
      </p:sp>
      <p:sp>
        <p:nvSpPr>
          <p:cNvPr id="4" name="K=5 near gripper or direction changes.&#10;Otherwise">
            <a:extLst>
              <a:ext uri="{FF2B5EF4-FFF2-40B4-BE49-F238E27FC236}">
                <a16:creationId id="{C6F8E8AB-DFFD-45BB-86FC-811FCA34E1BF}"/>
              </a:ext>
            </a:extLst>
          </p:cNvPr>
          <p:cNvSpPr>
            <a:spLocks noGrp="1"/>
          </p:cNvSpPr>
          <p:nvPr/>
        </p:nvSpPr>
        <p:spPr>
          <a:xfrm>
            <a:off x="533400" y="1952625"/>
            <a:ext cx="5238750" cy="714375"/>
          </a:xfrm>
          <a:prstGeom prst="rect">
            <a:avLst/>
          </a:prstGeom>
          <a:noFill/>
          <a:ln w="0">
            <a:noFill/>
          </a:ln>
        </p:spPr>
        <p:txBody>
          <a:bodyPr wrap="square" lIns="0" tIns="0" rIns="0" bIns="0" anchor="t">
            <a:noAutofit/>
          </a:bodyPr>
          <a:lstStyle>
            <a:defPPr algn="l">
              <a:defRPr sz="1650" b="0">
                <a:solidFill>
                  <a:srgbClr val="172D43"/>
                </a:solidFill>
                <a:latin typeface="Arial"/>
                <a:ea typeface="Arial"/>
                <a:cs typeface="Arial"/>
              </a:defRPr>
            </a:defPPr>
            <a:lvl1pPr algn="l">
              <a:defRPr sz="1650" b="0">
                <a:solidFill>
                  <a:srgbClr val="172D43"/>
                </a:solidFill>
                <a:latin typeface="Arial"/>
                <a:ea typeface="Arial"/>
                <a:cs typeface="Arial"/>
              </a:defRPr>
            </a:lvl1pPr>
            <a:lvl2pPr algn="l">
              <a:defRPr sz="1650" b="0">
                <a:solidFill>
                  <a:srgbClr val="172D43"/>
                </a:solidFill>
                <a:latin typeface="Arial"/>
                <a:ea typeface="Arial"/>
                <a:cs typeface="Arial"/>
              </a:defRPr>
            </a:lvl2pPr>
            <a:lvl3pPr algn="l">
              <a:defRPr sz="1650" b="0">
                <a:solidFill>
                  <a:srgbClr val="172D43"/>
                </a:solidFill>
                <a:latin typeface="Arial"/>
                <a:ea typeface="Arial"/>
                <a:cs typeface="Arial"/>
              </a:defRPr>
            </a:lvl3pPr>
            <a:lvl4pPr algn="l">
              <a:defRPr sz="1650" b="0">
                <a:solidFill>
                  <a:srgbClr val="172D43"/>
                </a:solidFill>
                <a:latin typeface="Arial"/>
                <a:ea typeface="Arial"/>
                <a:cs typeface="Arial"/>
              </a:defRPr>
            </a:lvl4pPr>
            <a:lvl5pPr algn="l">
              <a:defRPr sz="1650" b="0">
                <a:solidFill>
                  <a:srgbClr val="172D43"/>
                </a:solidFill>
                <a:latin typeface="Arial"/>
                <a:ea typeface="Arial"/>
                <a:cs typeface="Arial"/>
              </a:defRPr>
            </a:lvl5pPr>
            <a:lvl6pPr algn="l">
              <a:defRPr sz="1650" b="0">
                <a:solidFill>
                  <a:srgbClr val="172D43"/>
                </a:solidFill>
                <a:latin typeface="Arial"/>
                <a:ea typeface="Arial"/>
                <a:cs typeface="Arial"/>
              </a:defRPr>
            </a:lvl6pPr>
            <a:lvl7pPr algn="l">
              <a:defRPr sz="1650" b="0">
                <a:solidFill>
                  <a:srgbClr val="172D43"/>
                </a:solidFill>
                <a:latin typeface="Arial"/>
                <a:ea typeface="Arial"/>
                <a:cs typeface="Arial"/>
              </a:defRPr>
            </a:lvl7pPr>
            <a:lvl8pPr algn="l">
              <a:defRPr sz="1650" b="0">
                <a:solidFill>
                  <a:srgbClr val="172D43"/>
                </a:solidFill>
                <a:latin typeface="Arial"/>
                <a:ea typeface="Arial"/>
                <a:cs typeface="Arial"/>
              </a:defRPr>
            </a:lvl8pPr>
            <a:lvl9pPr algn="l">
              <a:defRPr sz="1650" b="0">
                <a:solidFill>
                  <a:srgbClr val="172D43"/>
                </a:solidFill>
                <a:latin typeface="Arial"/>
                <a:ea typeface="Arial"/>
                <a:cs typeface="Arial"/>
              </a:defRPr>
            </a:lvl9pPr>
          </a:lstStyle>
          <a:p>
            <a:pPr algn="l">
              <a:defRPr sz="1650" b="0">
                <a:solidFill>
                  <a:srgbClr val="172D43"/>
                </a:solidFill>
                <a:latin typeface="Arial"/>
                <a:ea typeface="Arial"/>
                <a:cs typeface="Arial"/>
              </a:defRPr>
            </a:pPr>
            <a:r>
              <a:rPr sz="1650" b="0">
                <a:solidFill>
                  <a:srgbClr val="172D43"/>
                </a:solidFill>
                <a:latin typeface="Arial"/>
                <a:ea typeface="Arial"/>
                <a:cs typeface="Arial"/>
              </a:rPr>
              <a:t>K=5 near gripper or direction changes.</a:t>
            </a:r>
          </a:p>
          <a:p>
            <a:pPr algn="l">
              <a:defRPr sz="1650" b="0">
                <a:solidFill>
                  <a:srgbClr val="172D43"/>
                </a:solidFill>
                <a:latin typeface="Arial"/>
                <a:ea typeface="Arial"/>
                <a:cs typeface="Arial"/>
              </a:defRPr>
            </a:pPr>
            <a:r>
              <a:rPr sz="1650" b="0">
                <a:solidFill>
                  <a:srgbClr val="172D43"/>
                </a:solidFill>
                <a:latin typeface="Arial"/>
                <a:ea typeface="Arial"/>
                <a:cs typeface="Arial"/>
              </a:rPr>
              <a:t>Otherwise K=10 while closing, K=25 while opening.</a:t>
            </a:r>
          </a:p>
        </p:txBody>
      </p:sp>
      <p:graphicFrame>
        <p:nvGraphicFramePr>
          <p:cNvPr id="5" name="">
            <a:extLst>
              <a:ext uri="{FF2B5EF4-FFF2-40B4-BE49-F238E27FC236}">
                <a16:creationId id="{53BD8E97-2983-438B-8BE6-5D75AA34E76B}"/>
              </a:ext>
            </a:extLst>
          </p:cNvPr>
          <p:cNvGraphicFramePr/>
          <p:nvPr/>
        </p:nvGraphicFramePr>
        <p:xfrm>
          <a:off x="533400" y="2886075"/>
          <a:ext cx="5238750" cy="1581150"/>
        </p:xfrm>
        <a:graphic>
          <a:graphicData uri="http://schemas.openxmlformats.org/drawingml/2006/table">
            <a:tbl>
              <a:tblPr firstRow="0" bandRow="0"/>
              <a:tblGrid>
                <a:gridCol w="2209800"/>
                <a:gridCol w="1514475"/>
                <a:gridCol w="1514475"/>
              </a:tblGrid>
              <a:tr h="527050">
                <a:tc>
                  <a:txBody>
                    <a:bodyPr lIns="114300" tIns="76200" rIns="114300" bIns="76200"/>
                    <a:lstStyle/>
                    <a:p>
                      <a:r>
                        <a:rPr sz="1650" b="1">
                          <a:solidFill>
                            <a:srgbClr val="172D43"/>
                          </a:solidFill>
                          <a:latin typeface="Arial"/>
                          <a:ea typeface="Arial"/>
                          <a:cs typeface="Arial"/>
                        </a:rPr>
                        <a:t>Cohort</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650" b="1">
                          <a:solidFill>
                            <a:srgbClr val="172D43"/>
                          </a:solidFill>
                          <a:latin typeface="Arial"/>
                          <a:ea typeface="Arial"/>
                          <a:cs typeface="Arial"/>
                        </a:rPr>
                        <a:t>Heuristic</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650" b="1">
                          <a:solidFill>
                            <a:srgbClr val="172D43"/>
                          </a:solidFill>
                          <a:latin typeface="Arial"/>
                          <a:ea typeface="Arial"/>
                          <a:cs typeface="Arial"/>
                        </a:rPr>
                        <a:t>K=10</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527050">
                <a:tc>
                  <a:txBody>
                    <a:bodyPr lIns="114300" tIns="76200" rIns="114300" bIns="76200"/>
                    <a:lstStyle/>
                    <a:p>
                      <a:r>
                        <a:rPr sz="1800" b="0">
                          <a:solidFill>
                            <a:srgbClr val="172D43"/>
                          </a:solidFill>
                          <a:latin typeface="Arial"/>
                          <a:ea typeface="Arial"/>
                          <a:cs typeface="Arial"/>
                        </a:rPr>
                        <a:t>Primary</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800" b="0">
                          <a:solidFill>
                            <a:srgbClr val="172D43"/>
                          </a:solidFill>
                          <a:latin typeface="Arial"/>
                          <a:ea typeface="Arial"/>
                          <a:cs typeface="Arial"/>
                        </a:rPr>
                        <a:t>6/12</a:t>
                      </a:r>
                    </a:p>
                  </a:txBody>
                  <a:tcPr marL="91440" marR="91440" marT="45720" marB="45720" anchor="ctr">
                    <a:lnR w="0">
                      <a:solidFill>
                        <a:srgbClr val="FFFFFF"/>
                      </a:solidFill>
                    </a:lnR>
                    <a:lnB w="0">
                      <a:solidFill>
                        <a:srgbClr val="FFFFFF"/>
                      </a:solidFill>
                    </a:lnB>
                    <a:solidFill>
                      <a:srgbClr val="FFFFFF"/>
                    </a:solidFill>
                  </a:tcPr>
                </a:tc>
                <a:tc>
                  <a:txBody>
                    <a:bodyPr lIns="114300" tIns="76200" rIns="114300" bIns="76200"/>
                    <a:lstStyle/>
                    <a:p>
                      <a:r>
                        <a:rPr sz="1800" b="0">
                          <a:solidFill>
                            <a:srgbClr val="172D43"/>
                          </a:solidFill>
                          <a:latin typeface="Arial"/>
                          <a:ea typeface="Arial"/>
                          <a:cs typeface="Arial"/>
                        </a:rPr>
                        <a:t>9/12</a:t>
                      </a:r>
                    </a:p>
                  </a:txBody>
                  <a:tcPr marL="91440" marR="91440" marT="45720" marB="45720" anchor="ctr">
                    <a:lnR w="0">
                      <a:solidFill>
                        <a:srgbClr val="FFFFFF"/>
                      </a:solidFill>
                    </a:lnR>
                    <a:lnB w="0">
                      <a:solidFill>
                        <a:srgbClr val="FFFFFF"/>
                      </a:solidFill>
                    </a:lnB>
                    <a:solidFill>
                      <a:srgbClr val="FFFFFF"/>
                    </a:solidFill>
                  </a:tcPr>
                </a:tc>
              </a:tr>
              <a:tr h="527050">
                <a:tc>
                  <a:txBody>
                    <a:bodyPr lIns="114300" tIns="76200" rIns="114300" bIns="76200"/>
                    <a:lstStyle/>
                    <a:p>
                      <a:r>
                        <a:rPr sz="1800" b="0">
                          <a:solidFill>
                            <a:srgbClr val="172D43"/>
                          </a:solidFill>
                          <a:latin typeface="Arial"/>
                          <a:ea typeface="Arial"/>
                          <a:cs typeface="Arial"/>
                        </a:rPr>
                        <a:t>Replication</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800" b="0">
                          <a:solidFill>
                            <a:srgbClr val="172D43"/>
                          </a:solidFill>
                          <a:latin typeface="Arial"/>
                          <a:ea typeface="Arial"/>
                          <a:cs typeface="Arial"/>
                        </a:rPr>
                        <a:t>7/12</a:t>
                      </a:r>
                    </a:p>
                  </a:txBody>
                  <a:tcPr marL="91440" marR="91440" marT="45720" marB="45720" anchor="ctr">
                    <a:lnR w="0">
                      <a:solidFill>
                        <a:srgbClr val="FFFFFF"/>
                      </a:solidFill>
                    </a:lnR>
                    <a:lnB w="0">
                      <a:solidFill>
                        <a:srgbClr val="FFFFFF"/>
                      </a:solidFill>
                    </a:lnB>
                    <a:solidFill>
                      <a:srgbClr val="F7F9FB"/>
                    </a:solidFill>
                  </a:tcPr>
                </a:tc>
                <a:tc>
                  <a:txBody>
                    <a:bodyPr lIns="114300" tIns="76200" rIns="114300" bIns="76200"/>
                    <a:lstStyle/>
                    <a:p>
                      <a:r>
                        <a:rPr sz="1800" b="0">
                          <a:solidFill>
                            <a:srgbClr val="172D43"/>
                          </a:solidFill>
                          <a:latin typeface="Arial"/>
                          <a:ea typeface="Arial"/>
                          <a:cs typeface="Arial"/>
                        </a:rPr>
                        <a:t>10/12</a:t>
                      </a:r>
                    </a:p>
                  </a:txBody>
                  <a:tcPr marL="91440" marR="91440" marT="45720" marB="45720" anchor="ctr">
                    <a:lnR w="0">
                      <a:solidFill>
                        <a:srgbClr val="FFFFFF"/>
                      </a:solidFill>
                    </a:lnR>
                    <a:lnB w="0">
                      <a:solidFill>
                        <a:srgbClr val="FFFFFF"/>
                      </a:solidFill>
                    </a:lnB>
                    <a:solidFill>
                      <a:srgbClr val="F7F9FB"/>
                    </a:solidFill>
                  </a:tcPr>
                </a:tc>
              </a:tr>
            </a:tbl>
          </a:graphicData>
        </a:graphic>
      </p:graphicFrame>
      <p:sp>
        <p:nvSpPr>
          <p:cNvPr id="6" name="No improvement in either cohort.&#10;Separate Apple ">
            <a:extLst>
              <a:ext uri="{FF2B5EF4-FFF2-40B4-BE49-F238E27FC236}">
                <a16:creationId id="{0AA8E675-0454-40C5-B376-BE2D72834E72}"/>
              </a:ext>
            </a:extLst>
          </p:cNvPr>
          <p:cNvSpPr>
            <a:spLocks noGrp="1"/>
          </p:cNvSpPr>
          <p:nvPr/>
        </p:nvSpPr>
        <p:spPr>
          <a:xfrm>
            <a:off x="533400" y="4676775"/>
            <a:ext cx="5238750" cy="666750"/>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No improvement in either cohort.</a:t>
            </a:r>
          </a:p>
          <a:p>
            <a:pPr algn="l">
              <a:defRPr sz="1650" b="0">
                <a:solidFill>
                  <a:srgbClr val="536779"/>
                </a:solidFill>
                <a:latin typeface="Arial"/>
                <a:ea typeface="Arial"/>
                <a:cs typeface="Arial"/>
              </a:defRPr>
            </a:pPr>
            <a:r>
              <a:rPr sz="1650" b="0">
                <a:solidFill>
                  <a:srgbClr val="536779"/>
                </a:solidFill>
                <a:latin typeface="Arial"/>
                <a:ea typeface="Arial"/>
                <a:cs typeface="Arial"/>
              </a:rPr>
              <a:t>Separate Apple Silicon / MPS evaluation.</a:t>
            </a:r>
          </a:p>
        </p:txBody>
      </p:sp>
      <p:sp>
        <p:nvSpPr>
          <p:cNvPr id="7" name="Release check: 50/50 successful replays&#10;retain t">
            <a:extLst>
              <a:ext uri="{FF2B5EF4-FFF2-40B4-BE49-F238E27FC236}">
                <a16:creationId id="{A51E9E9E-33AD-45C9-B0B2-88EF97BB4ED3}"/>
              </a:ext>
            </a:extLst>
          </p:cNvPr>
          <p:cNvSpPr>
            <a:spLocks noGrp="1"/>
          </p:cNvSpPr>
          <p:nvPr/>
        </p:nvSpPr>
        <p:spPr>
          <a:xfrm>
            <a:off x="533400" y="5676900"/>
            <a:ext cx="5238750" cy="619125"/>
          </a:xfrm>
          <a:prstGeom prst="rect">
            <a:avLst/>
          </a:prstGeom>
          <a:noFill/>
          <a:ln w="0">
            <a:noFill/>
          </a:ln>
        </p:spPr>
        <p:txBody>
          <a:bodyPr wrap="square" lIns="0" tIns="0" rIns="0" bIns="0" anchor="t">
            <a:noAutofit/>
          </a:bodyPr>
          <a:lstStyle>
            <a:defPPr algn="l">
              <a:defRPr sz="1650" b="0">
                <a:solidFill>
                  <a:srgbClr val="172D43"/>
                </a:solidFill>
                <a:latin typeface="Arial"/>
                <a:ea typeface="Arial"/>
                <a:cs typeface="Arial"/>
              </a:defRPr>
            </a:defPPr>
            <a:lvl1pPr algn="l">
              <a:defRPr sz="1650" b="0">
                <a:solidFill>
                  <a:srgbClr val="172D43"/>
                </a:solidFill>
                <a:latin typeface="Arial"/>
                <a:ea typeface="Arial"/>
                <a:cs typeface="Arial"/>
              </a:defRPr>
            </a:lvl1pPr>
            <a:lvl2pPr algn="l">
              <a:defRPr sz="1650" b="0">
                <a:solidFill>
                  <a:srgbClr val="172D43"/>
                </a:solidFill>
                <a:latin typeface="Arial"/>
                <a:ea typeface="Arial"/>
                <a:cs typeface="Arial"/>
              </a:defRPr>
            </a:lvl2pPr>
            <a:lvl3pPr algn="l">
              <a:defRPr sz="1650" b="0">
                <a:solidFill>
                  <a:srgbClr val="172D43"/>
                </a:solidFill>
                <a:latin typeface="Arial"/>
                <a:ea typeface="Arial"/>
                <a:cs typeface="Arial"/>
              </a:defRPr>
            </a:lvl3pPr>
            <a:lvl4pPr algn="l">
              <a:defRPr sz="1650" b="0">
                <a:solidFill>
                  <a:srgbClr val="172D43"/>
                </a:solidFill>
                <a:latin typeface="Arial"/>
                <a:ea typeface="Arial"/>
                <a:cs typeface="Arial"/>
              </a:defRPr>
            </a:lvl4pPr>
            <a:lvl5pPr algn="l">
              <a:defRPr sz="1650" b="0">
                <a:solidFill>
                  <a:srgbClr val="172D43"/>
                </a:solidFill>
                <a:latin typeface="Arial"/>
                <a:ea typeface="Arial"/>
                <a:cs typeface="Arial"/>
              </a:defRPr>
            </a:lvl5pPr>
            <a:lvl6pPr algn="l">
              <a:defRPr sz="1650" b="0">
                <a:solidFill>
                  <a:srgbClr val="172D43"/>
                </a:solidFill>
                <a:latin typeface="Arial"/>
                <a:ea typeface="Arial"/>
                <a:cs typeface="Arial"/>
              </a:defRPr>
            </a:lvl6pPr>
            <a:lvl7pPr algn="l">
              <a:defRPr sz="1650" b="0">
                <a:solidFill>
                  <a:srgbClr val="172D43"/>
                </a:solidFill>
                <a:latin typeface="Arial"/>
                <a:ea typeface="Arial"/>
                <a:cs typeface="Arial"/>
              </a:defRPr>
            </a:lvl7pPr>
            <a:lvl8pPr algn="l">
              <a:defRPr sz="1650" b="0">
                <a:solidFill>
                  <a:srgbClr val="172D43"/>
                </a:solidFill>
                <a:latin typeface="Arial"/>
                <a:ea typeface="Arial"/>
                <a:cs typeface="Arial"/>
              </a:defRPr>
            </a:lvl8pPr>
            <a:lvl9pPr algn="l">
              <a:defRPr sz="1650" b="0">
                <a:solidFill>
                  <a:srgbClr val="172D43"/>
                </a:solidFill>
                <a:latin typeface="Arial"/>
                <a:ea typeface="Arial"/>
                <a:cs typeface="Arial"/>
              </a:defRPr>
            </a:lvl9pPr>
          </a:lstStyle>
          <a:p>
            <a:pPr algn="l">
              <a:defRPr sz="1650" b="0">
                <a:solidFill>
                  <a:srgbClr val="172D43"/>
                </a:solidFill>
                <a:latin typeface="Arial"/>
                <a:ea typeface="Arial"/>
                <a:cs typeface="Arial"/>
              </a:defRPr>
            </a:pPr>
            <a:r>
              <a:rPr sz="1650" b="0">
                <a:solidFill>
                  <a:srgbClr val="172D43"/>
                </a:solidFill>
                <a:latin typeface="Arial"/>
                <a:ea typeface="Arial"/>
                <a:cs typeface="Arial"/>
              </a:rPr>
              <a:t>Release check: 50/50 successful replays</a:t>
            </a:r>
          </a:p>
          <a:p>
            <a:pPr algn="l">
              <a:defRPr sz="1650" b="0">
                <a:solidFill>
                  <a:srgbClr val="172D43"/>
                </a:solidFill>
                <a:latin typeface="Arial"/>
                <a:ea typeface="Arial"/>
                <a:cs typeface="Arial"/>
              </a:defRPr>
            </a:pPr>
            <a:r>
              <a:rPr sz="1650" b="0">
                <a:solidFill>
                  <a:srgbClr val="172D43"/>
                </a:solidFill>
                <a:latin typeface="Arial"/>
                <a:ea typeface="Arial"/>
                <a:cs typeface="Arial"/>
              </a:rPr>
              <a:t>retain the goal after forced gripper opening.</a:t>
            </a:r>
          </a:p>
        </p:txBody>
      </p:sp>
      <p:sp>
        <p:nvSpPr>
          <p:cNvPr id="8" name="Continuation from exactly step 80">
            <a:extLst>
              <a:ext uri="{FF2B5EF4-FFF2-40B4-BE49-F238E27FC236}">
                <a16:creationId id="{B03AD108-355C-457E-A3D7-0A8DDD35E36E}"/>
              </a:ext>
            </a:extLst>
          </p:cNvPr>
          <p:cNvSpPr>
            <a:spLocks noGrp="1"/>
          </p:cNvSpPr>
          <p:nvPr/>
        </p:nvSpPr>
        <p:spPr>
          <a:xfrm>
            <a:off x="6419850" y="1495425"/>
            <a:ext cx="5238750" cy="371475"/>
          </a:xfrm>
          <a:prstGeom prst="rect">
            <a:avLst/>
          </a:prstGeom>
          <a:noFill/>
          <a:ln w="0">
            <a:noFill/>
          </a:ln>
        </p:spPr>
        <p:txBody>
          <a:bodyPr wrap="square" lIns="0" tIns="0" rIns="0" bIns="0" anchor="t">
            <a:noAutofit/>
          </a:bodyPr>
          <a:lstStyle>
            <a:defPPr algn="l">
              <a:defRPr sz="2100" b="1">
                <a:solidFill>
                  <a:srgbClr val="2563A5"/>
                </a:solidFill>
                <a:latin typeface="Arial"/>
                <a:ea typeface="Arial"/>
                <a:cs typeface="Arial"/>
              </a:defRPr>
            </a:defPPr>
            <a:lvl1pPr algn="l">
              <a:defRPr sz="2100" b="1">
                <a:solidFill>
                  <a:srgbClr val="2563A5"/>
                </a:solidFill>
                <a:latin typeface="Arial"/>
                <a:ea typeface="Arial"/>
                <a:cs typeface="Arial"/>
              </a:defRPr>
            </a:lvl1pPr>
            <a:lvl2pPr algn="l">
              <a:defRPr sz="2100" b="1">
                <a:solidFill>
                  <a:srgbClr val="2563A5"/>
                </a:solidFill>
                <a:latin typeface="Arial"/>
                <a:ea typeface="Arial"/>
                <a:cs typeface="Arial"/>
              </a:defRPr>
            </a:lvl2pPr>
            <a:lvl3pPr algn="l">
              <a:defRPr sz="2100" b="1">
                <a:solidFill>
                  <a:srgbClr val="2563A5"/>
                </a:solidFill>
                <a:latin typeface="Arial"/>
                <a:ea typeface="Arial"/>
                <a:cs typeface="Arial"/>
              </a:defRPr>
            </a:lvl3pPr>
            <a:lvl4pPr algn="l">
              <a:defRPr sz="2100" b="1">
                <a:solidFill>
                  <a:srgbClr val="2563A5"/>
                </a:solidFill>
                <a:latin typeface="Arial"/>
                <a:ea typeface="Arial"/>
                <a:cs typeface="Arial"/>
              </a:defRPr>
            </a:lvl4pPr>
            <a:lvl5pPr algn="l">
              <a:defRPr sz="2100" b="1">
                <a:solidFill>
                  <a:srgbClr val="2563A5"/>
                </a:solidFill>
                <a:latin typeface="Arial"/>
                <a:ea typeface="Arial"/>
                <a:cs typeface="Arial"/>
              </a:defRPr>
            </a:lvl5pPr>
            <a:lvl6pPr algn="l">
              <a:defRPr sz="2100" b="1">
                <a:solidFill>
                  <a:srgbClr val="2563A5"/>
                </a:solidFill>
                <a:latin typeface="Arial"/>
                <a:ea typeface="Arial"/>
                <a:cs typeface="Arial"/>
              </a:defRPr>
            </a:lvl6pPr>
            <a:lvl7pPr algn="l">
              <a:defRPr sz="2100" b="1">
                <a:solidFill>
                  <a:srgbClr val="2563A5"/>
                </a:solidFill>
                <a:latin typeface="Arial"/>
                <a:ea typeface="Arial"/>
                <a:cs typeface="Arial"/>
              </a:defRPr>
            </a:lvl7pPr>
            <a:lvl8pPr algn="l">
              <a:defRPr sz="2100" b="1">
                <a:solidFill>
                  <a:srgbClr val="2563A5"/>
                </a:solidFill>
                <a:latin typeface="Arial"/>
                <a:ea typeface="Arial"/>
                <a:cs typeface="Arial"/>
              </a:defRPr>
            </a:lvl8pPr>
            <a:lvl9pPr algn="l">
              <a:defRPr sz="2100" b="1">
                <a:solidFill>
                  <a:srgbClr val="2563A5"/>
                </a:solidFill>
                <a:latin typeface="Arial"/>
                <a:ea typeface="Arial"/>
                <a:cs typeface="Arial"/>
              </a:defRPr>
            </a:lvl9pPr>
          </a:lstStyle>
          <a:p>
            <a:pPr algn="l">
              <a:defRPr sz="2100" b="1">
                <a:solidFill>
                  <a:srgbClr val="2563A5"/>
                </a:solidFill>
                <a:latin typeface="Arial"/>
                <a:ea typeface="Arial"/>
                <a:cs typeface="Arial"/>
              </a:defRPr>
            </a:pPr>
            <a:r>
              <a:rPr sz="2100" b="1">
                <a:solidFill>
                  <a:srgbClr val="2563A5"/>
                </a:solidFill>
                <a:latin typeface="Arial"/>
                <a:ea typeface="Arial"/>
                <a:cs typeface="Arial"/>
              </a:rPr>
              <a:t>Continuation from exactly step 80</a:t>
            </a:r>
          </a:p>
        </p:txBody>
      </p:sp>
      <p:graphicFrame>
        <p:nvGraphicFramePr>
          <p:cNvPr id="9" name="">
            <a:extLst>
              <a:ext uri="{FF2B5EF4-FFF2-40B4-BE49-F238E27FC236}">
                <a16:creationId id="{A23AE2BC-BB72-435F-8C2D-05B4E15E70D1}"/>
              </a:ext>
            </a:extLst>
          </p:cNvPr>
          <p:cNvGraphicFramePr/>
          <p:nvPr/>
        </p:nvGraphicFramePr>
        <p:xfrm>
          <a:off x="6419850" y="2076450"/>
          <a:ext cx="5238750" cy="2133600"/>
        </p:xfrm>
        <a:graphic>
          <a:graphicData uri="http://schemas.openxmlformats.org/drawingml/2006/table">
            <a:tbl>
              <a:tblPr firstRow="0" bandRow="0"/>
              <a:tblGrid>
                <a:gridCol w="3609975"/>
                <a:gridCol w="1628775"/>
              </a:tblGrid>
              <a:tr h="533400">
                <a:tc>
                  <a:txBody>
                    <a:bodyPr lIns="114300" tIns="76200" rIns="114300" bIns="76200"/>
                    <a:lstStyle/>
                    <a:p>
                      <a:r>
                        <a:rPr sz="1650" b="1">
                          <a:solidFill>
                            <a:srgbClr val="172D43"/>
                          </a:solidFill>
                          <a:latin typeface="Arial"/>
                          <a:ea typeface="Arial"/>
                          <a:cs typeface="Arial"/>
                        </a:rPr>
                        <a:t>Continuation</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EDF2F6"/>
                    </a:solidFill>
                  </a:tcPr>
                </a:tc>
                <a:tc>
                  <a:txBody>
                    <a:bodyPr lIns="114300" tIns="76200" rIns="114300" bIns="76200"/>
                    <a:lstStyle/>
                    <a:p>
                      <a:r>
                        <a:rPr sz="1650" b="1">
                          <a:solidFill>
                            <a:srgbClr val="172D43"/>
                          </a:solidFill>
                          <a:latin typeface="Arial"/>
                          <a:ea typeface="Arial"/>
                          <a:cs typeface="Arial"/>
                        </a:rPr>
                        <a:t>Success</a:t>
                      </a:r>
                    </a:p>
                  </a:txBody>
                  <a:tcPr marL="91440" marR="91440" marT="45720" marB="45720" anchor="ctr">
                    <a:lnR w="0">
                      <a:solidFill>
                        <a:srgbClr val="FFFFFF"/>
                      </a:solidFill>
                    </a:lnR>
                    <a:lnT w="0">
                      <a:solidFill>
                        <a:srgbClr val="FFFFFF"/>
                      </a:solidFill>
                    </a:lnT>
                    <a:lnB w="0">
                      <a:solidFill>
                        <a:srgbClr val="FFFFFF"/>
                      </a:solidFill>
                    </a:lnB>
                    <a:solidFill>
                      <a:srgbClr val="EDF2F6"/>
                    </a:solidFill>
                  </a:tcPr>
                </a:tc>
              </a:tr>
              <a:tr h="533400">
                <a:tc>
                  <a:txBody>
                    <a:bodyPr lIns="114300" tIns="76200" rIns="114300" bIns="76200"/>
                    <a:lstStyle/>
                    <a:p>
                      <a:r>
                        <a:rPr sz="1800" b="0">
                          <a:solidFill>
                            <a:srgbClr val="172D43"/>
                          </a:solidFill>
                          <a:latin typeface="Arial"/>
                          <a:ea typeface="Arial"/>
                          <a:cs typeface="Arial"/>
                        </a:rPr>
                        <a:t>Original K=1</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800" b="0">
                          <a:solidFill>
                            <a:srgbClr val="172D43"/>
                          </a:solidFill>
                          <a:latin typeface="Arial"/>
                          <a:ea typeface="Arial"/>
                          <a:cs typeface="Arial"/>
                        </a:rPr>
                        <a:t>5/7</a:t>
                      </a:r>
                    </a:p>
                  </a:txBody>
                  <a:tcPr marL="91440" marR="91440" marT="45720" marB="45720" anchor="ctr">
                    <a:lnR w="0">
                      <a:solidFill>
                        <a:srgbClr val="FFFFFF"/>
                      </a:solidFill>
                    </a:lnR>
                    <a:lnB w="0">
                      <a:solidFill>
                        <a:srgbClr val="FFFFFF"/>
                      </a:solidFill>
                    </a:lnB>
                    <a:solidFill>
                      <a:srgbClr val="FFFFFF"/>
                    </a:solidFill>
                  </a:tcPr>
                </a:tc>
              </a:tr>
              <a:tr h="533400">
                <a:tc>
                  <a:txBody>
                    <a:bodyPr lIns="114300" tIns="76200" rIns="114300" bIns="76200"/>
                    <a:lstStyle/>
                    <a:p>
                      <a:r>
                        <a:rPr sz="1800" b="0">
                          <a:solidFill>
                            <a:srgbClr val="172D43"/>
                          </a:solidFill>
                          <a:latin typeface="Arial"/>
                          <a:ea typeface="Arial"/>
                          <a:cs typeface="Arial"/>
                        </a:rPr>
                        <a:t>Fixed sampling noise</a:t>
                      </a:r>
                    </a:p>
                  </a:txBody>
                  <a:tcPr marL="91440" marR="91440" marT="45720" marB="45720" anchor="ctr">
                    <a:lnL w="0">
                      <a:solidFill>
                        <a:srgbClr val="FFFFFF"/>
                      </a:solidFill>
                    </a:lnL>
                    <a:lnR w="0">
                      <a:solidFill>
                        <a:srgbClr val="FFFFFF"/>
                      </a:solidFill>
                    </a:lnR>
                    <a:lnB w="0">
                      <a:solidFill>
                        <a:srgbClr val="FFFFFF"/>
                      </a:solidFill>
                    </a:lnB>
                    <a:solidFill>
                      <a:srgbClr val="F7F9FB"/>
                    </a:solidFill>
                  </a:tcPr>
                </a:tc>
                <a:tc>
                  <a:txBody>
                    <a:bodyPr lIns="114300" tIns="76200" rIns="114300" bIns="76200"/>
                    <a:lstStyle/>
                    <a:p>
                      <a:r>
                        <a:rPr sz="1800" b="0">
                          <a:solidFill>
                            <a:srgbClr val="172D43"/>
                          </a:solidFill>
                          <a:latin typeface="Arial"/>
                          <a:ea typeface="Arial"/>
                          <a:cs typeface="Arial"/>
                        </a:rPr>
                        <a:t>3/7</a:t>
                      </a:r>
                    </a:p>
                  </a:txBody>
                  <a:tcPr marL="91440" marR="91440" marT="45720" marB="45720" anchor="ctr">
                    <a:lnR w="0">
                      <a:solidFill>
                        <a:srgbClr val="FFFFFF"/>
                      </a:solidFill>
                    </a:lnR>
                    <a:lnB w="0">
                      <a:solidFill>
                        <a:srgbClr val="FFFFFF"/>
                      </a:solidFill>
                    </a:lnB>
                    <a:solidFill>
                      <a:srgbClr val="F7F9FB"/>
                    </a:solidFill>
                  </a:tcPr>
                </a:tc>
              </a:tr>
              <a:tr h="533400">
                <a:tc>
                  <a:txBody>
                    <a:bodyPr lIns="114300" tIns="76200" rIns="114300" bIns="76200"/>
                    <a:lstStyle/>
                    <a:p>
                      <a:r>
                        <a:rPr sz="1800" b="0">
                          <a:solidFill>
                            <a:srgbClr val="172D43"/>
                          </a:solidFill>
                          <a:latin typeface="Arial"/>
                          <a:ea typeface="Arial"/>
                          <a:cs typeface="Arial"/>
                        </a:rPr>
                        <a:t>Execute 10 actions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14300" tIns="76200" rIns="114300" bIns="76200"/>
                    <a:lstStyle/>
                    <a:p>
                      <a:r>
                        <a:rPr sz="1800" b="0">
                          <a:solidFill>
                            <a:srgbClr val="172D43"/>
                          </a:solidFill>
                          <a:latin typeface="Arial"/>
                          <a:ea typeface="Arial"/>
                          <a:cs typeface="Arial"/>
                        </a:rPr>
                        <a:t>4/7</a:t>
                      </a:r>
                    </a:p>
                  </a:txBody>
                  <a:tcPr marL="91440" marR="91440" marT="45720" marB="45720" anchor="ctr">
                    <a:lnR w="0">
                      <a:solidFill>
                        <a:srgbClr val="FFFFFF"/>
                      </a:solidFill>
                    </a:lnR>
                    <a:lnB w="0">
                      <a:solidFill>
                        <a:srgbClr val="FFFFFF"/>
                      </a:solidFill>
                    </a:lnB>
                    <a:solidFill>
                      <a:srgbClr val="FFFFFF"/>
                    </a:solidFill>
                  </a:tcPr>
                </a:tc>
              </a:tr>
            </a:tbl>
          </a:graphicData>
        </a:graphic>
      </p:graphicFrame>
      <p:pic>
        <p:nvPicPr>
          <p:cNvPr id="10" name="VIDEO_case_causal_en" descr="case_causal_en">
            <a:hlinkClick action="ppaction://media"/>
            <a:extLst>
              <a:ext uri="{FF2B5EF4-FFF2-40B4-BE49-F238E27FC236}">
                <a16:creationId id="{423808CA-C0F0-4692-9869-223F39C5114D}"/>
              </a:ext>
            </a:extLst>
          </p:cNvPr>
          <p:cNvPicPr>
            <a:picLocks noChangeAspect="1"/>
          </p:cNvPicPr>
          <p:nvPr>
            <a:videoFile r:link="rIdPreservedVideo_case_causal_en"/>
            <p:extLst>
              <p:ext uri="{DAA4B4D4-6D71-4841-9C94-3DE7FCFB9230}">
                <p14:media r:embed="rIdPreservedMedia_case_causal_en"/>
              </p:ext>
            </p:extLst>
          </p:nvPr>
        </p:nvPicPr>
        <p:blipFill>
          <a:blip r:embed="R584b10094fa5490e"/>
          <a:stretch/>
        </p:blipFill>
        <p:spPr>
          <a:xfrm>
            <a:off x="6419898" y="4505325"/>
            <a:ext cx="5238655" cy="1164146"/>
          </a:xfrm>
          <a:prstGeom prst="rect">
            <a:avLst/>
          </a:prstGeom>
        </p:spPr>
      </p:pic>
      <p:sp>
        <p:nvSpPr>
          <p:cNvPr id="11" name="Neither intervention rescues the two&#10;original K=">
            <a:extLst>
              <a:ext uri="{FF2B5EF4-FFF2-40B4-BE49-F238E27FC236}">
                <a16:creationId id="{D9A8032C-4B7C-478B-93DE-A21C91FAB089}"/>
              </a:ext>
            </a:extLst>
          </p:cNvPr>
          <p:cNvSpPr>
            <a:spLocks noGrp="1"/>
          </p:cNvSpPr>
          <p:nvPr/>
        </p:nvSpPr>
        <p:spPr>
          <a:xfrm>
            <a:off x="6419850" y="5915025"/>
            <a:ext cx="5238750" cy="561975"/>
          </a:xfrm>
          <a:prstGeom prst="rect">
            <a:avLst/>
          </a:prstGeom>
          <a:noFill/>
          <a:ln w="0">
            <a:noFill/>
          </a:ln>
        </p:spPr>
        <p:txBody>
          <a:bodyPr wrap="square" lIns="0" tIns="0" rIns="0" bIns="0" anchor="t">
            <a:noAutofit/>
          </a:bodyPr>
          <a:lstStyle>
            <a:defPPr algn="l">
              <a:defRPr sz="1650" b="0">
                <a:solidFill>
                  <a:srgbClr val="536779"/>
                </a:solidFill>
                <a:latin typeface="Arial"/>
                <a:ea typeface="Arial"/>
                <a:cs typeface="Arial"/>
              </a:defRPr>
            </a:defPPr>
            <a:lvl1pPr algn="l">
              <a:defRPr sz="1650" b="0">
                <a:solidFill>
                  <a:srgbClr val="536779"/>
                </a:solidFill>
                <a:latin typeface="Arial"/>
                <a:ea typeface="Arial"/>
                <a:cs typeface="Arial"/>
              </a:defRPr>
            </a:lvl1pPr>
            <a:lvl2pPr algn="l">
              <a:defRPr sz="1650" b="0">
                <a:solidFill>
                  <a:srgbClr val="536779"/>
                </a:solidFill>
                <a:latin typeface="Arial"/>
                <a:ea typeface="Arial"/>
                <a:cs typeface="Arial"/>
              </a:defRPr>
            </a:lvl2pPr>
            <a:lvl3pPr algn="l">
              <a:defRPr sz="1650" b="0">
                <a:solidFill>
                  <a:srgbClr val="536779"/>
                </a:solidFill>
                <a:latin typeface="Arial"/>
                <a:ea typeface="Arial"/>
                <a:cs typeface="Arial"/>
              </a:defRPr>
            </a:lvl3pPr>
            <a:lvl4pPr algn="l">
              <a:defRPr sz="1650" b="0">
                <a:solidFill>
                  <a:srgbClr val="536779"/>
                </a:solidFill>
                <a:latin typeface="Arial"/>
                <a:ea typeface="Arial"/>
                <a:cs typeface="Arial"/>
              </a:defRPr>
            </a:lvl4pPr>
            <a:lvl5pPr algn="l">
              <a:defRPr sz="1650" b="0">
                <a:solidFill>
                  <a:srgbClr val="536779"/>
                </a:solidFill>
                <a:latin typeface="Arial"/>
                <a:ea typeface="Arial"/>
                <a:cs typeface="Arial"/>
              </a:defRPr>
            </a:lvl5pPr>
            <a:lvl6pPr algn="l">
              <a:defRPr sz="1650" b="0">
                <a:solidFill>
                  <a:srgbClr val="536779"/>
                </a:solidFill>
                <a:latin typeface="Arial"/>
                <a:ea typeface="Arial"/>
                <a:cs typeface="Arial"/>
              </a:defRPr>
            </a:lvl6pPr>
            <a:lvl7pPr algn="l">
              <a:defRPr sz="1650" b="0">
                <a:solidFill>
                  <a:srgbClr val="536779"/>
                </a:solidFill>
                <a:latin typeface="Arial"/>
                <a:ea typeface="Arial"/>
                <a:cs typeface="Arial"/>
              </a:defRPr>
            </a:lvl7pPr>
            <a:lvl8pPr algn="l">
              <a:defRPr sz="1650" b="0">
                <a:solidFill>
                  <a:srgbClr val="536779"/>
                </a:solidFill>
                <a:latin typeface="Arial"/>
                <a:ea typeface="Arial"/>
                <a:cs typeface="Arial"/>
              </a:defRPr>
            </a:lvl8pPr>
            <a:lvl9pPr algn="l">
              <a:defRPr sz="1650" b="0">
                <a:solidFill>
                  <a:srgbClr val="536779"/>
                </a:solidFill>
                <a:latin typeface="Arial"/>
                <a:ea typeface="Arial"/>
                <a:cs typeface="Arial"/>
              </a:defRPr>
            </a:lvl9pPr>
          </a:lstStyle>
          <a:p>
            <a:pPr algn="l">
              <a:defRPr sz="1650" b="0">
                <a:solidFill>
                  <a:srgbClr val="536779"/>
                </a:solidFill>
                <a:latin typeface="Arial"/>
                <a:ea typeface="Arial"/>
                <a:cs typeface="Arial"/>
              </a:defRPr>
            </a:pPr>
            <a:r>
              <a:rPr sz="1650" b="0">
                <a:solidFill>
                  <a:srgbClr val="536779"/>
                </a:solidFill>
                <a:latin typeface="Arial"/>
                <a:ea typeface="Arial"/>
                <a:cs typeface="Arial"/>
              </a:rPr>
              <a:t>Neither intervention rescues the two</a:t>
            </a:r>
          </a:p>
          <a:p>
            <a:pPr algn="l">
              <a:defRPr sz="1650" b="0">
                <a:solidFill>
                  <a:srgbClr val="536779"/>
                </a:solidFill>
                <a:latin typeface="Arial"/>
                <a:ea typeface="Arial"/>
                <a:cs typeface="Arial"/>
              </a:defRPr>
            </a:pPr>
            <a:r>
              <a:rPr sz="1650" b="0">
                <a:solidFill>
                  <a:srgbClr val="536779"/>
                </a:solidFill>
                <a:latin typeface="Arial"/>
                <a:ea typeface="Arial"/>
                <a:cs typeface="Arial"/>
              </a:rPr>
              <a:t>original K=1 failures.</a:t>
            </a:r>
          </a:p>
        </p:txBody>
      </p:sp>
    </p:spTree>
    <p:extLst>
      <p:ext uri="{BB962C8B-B14F-4D97-AF65-F5344CB8AC3E}">
        <p14:creationId val="279455207"/>
      </p:ext>
    </p:extLst>
  </p:cSld>
  <p:timing>
    <p:tnLst>
      <p:par>
        <p:cTn id="1" dur="indefinite" restart="never" nodeType="tmRoot">
          <p:childTnLst>
            <p:video>
              <p:cMediaNode vol="0" mute="1" showWhenStopped="1">
                <p:cTn id="2" fill="hold" display="0">
                  <p:stCondLst>
                    <p:cond delay="0"/>
                  </p:stCondLst>
                </p:cTn>
                <p:tgtEl>
                  <p:spTgt spid="10"/>
                </p:tgtEl>
              </p:cMediaNode>
            </p:video>
          </p:childTnLst>
        </p:cTn>
      </p:par>
    </p:tnLst>
  </p:timing>
</p:sld>
</file>

<file path=ppt/slides/slide10.xml><?xml version="1.0" encoding="utf-8"?>
<p:sld xmlns:p="http://schemas.openxmlformats.org/presentationml/2006/main">
  <p:cSld>
    <p:bg>
      <p:bgPr>
        <a:solidFill xmlns:a="http://schemas.openxmlformats.org/drawingml/2006/main">
          <a:srgbClr val="11283F"/>
        </a:solidFill>
      </p:bgPr>
    </p:bg>
    <p:spTree>
      <p:nvGrpSpPr>
        <p:cNvPr id="1" name=""/>
        <p:cNvGrpSpPr/>
        <p:nvPr/>
      </p:nvGrpSpPr>
      <p:grpSpPr>
        <a:xfrm xmlns:a="http://schemas.openxmlformats.org/drawingml/2006/main"/>
      </p:grpSpPr>
      <p:sp>
        <p:nvSpPr>
          <p:cNvPr id="7" name="OUR ANSWER">
            <a:extLst xmlns:a="http://schemas.openxmlformats.org/drawingml/2006/main">
              <a:ext uri="{FF2B5EF4-FFF2-40B4-BE49-F238E27FC236}">
                <a16:creationId xmlns:a16="http://schemas.microsoft.com/office/drawing/2014/main" id="{EC13CDCB-C225-406E-9D16-C74C97B0B1EF}"/>
              </a:ext>
            </a:extLst>
          </p:cNvPr>
          <p:cNvSpPr>
            <a:spLocks xmlns:a="http://schemas.openxmlformats.org/drawingml/2006/main" noGrp="1"/>
          </p:cNvSpPr>
          <p:nvPr/>
        </p:nvSpPr>
        <p:spPr>
          <a:xfrm xmlns:a="http://schemas.openxmlformats.org/drawingml/2006/main">
            <a:off x="609600" y="4572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F2AA70"/>
                </a:solidFill>
                <a:latin typeface="Arial"/>
                <a:ea typeface="Arial"/>
                <a:cs typeface="Arial"/>
              </a:defRPr>
            </a:defPPr>
            <a:lvl1pPr algn="l">
              <a:defRPr sz="1425" b="1">
                <a:solidFill>
                  <a:srgbClr val="F2AA70"/>
                </a:solidFill>
                <a:latin typeface="Arial"/>
                <a:ea typeface="Arial"/>
                <a:cs typeface="Arial"/>
              </a:defRPr>
            </a:lvl1pPr>
            <a:lvl2pPr algn="l">
              <a:defRPr sz="1425" b="1">
                <a:solidFill>
                  <a:srgbClr val="F2AA70"/>
                </a:solidFill>
                <a:latin typeface="Arial"/>
                <a:ea typeface="Arial"/>
                <a:cs typeface="Arial"/>
              </a:defRPr>
            </a:lvl2pPr>
            <a:lvl3pPr algn="l">
              <a:defRPr sz="1425" b="1">
                <a:solidFill>
                  <a:srgbClr val="F2AA70"/>
                </a:solidFill>
                <a:latin typeface="Arial"/>
                <a:ea typeface="Arial"/>
                <a:cs typeface="Arial"/>
              </a:defRPr>
            </a:lvl3pPr>
            <a:lvl4pPr algn="l">
              <a:defRPr sz="1425" b="1">
                <a:solidFill>
                  <a:srgbClr val="F2AA70"/>
                </a:solidFill>
                <a:latin typeface="Arial"/>
                <a:ea typeface="Arial"/>
                <a:cs typeface="Arial"/>
              </a:defRPr>
            </a:lvl4pPr>
            <a:lvl5pPr algn="l">
              <a:defRPr sz="1425" b="1">
                <a:solidFill>
                  <a:srgbClr val="F2AA70"/>
                </a:solidFill>
                <a:latin typeface="Arial"/>
                <a:ea typeface="Arial"/>
                <a:cs typeface="Arial"/>
              </a:defRPr>
            </a:lvl5pPr>
            <a:lvl6pPr algn="l">
              <a:defRPr sz="1425" b="1">
                <a:solidFill>
                  <a:srgbClr val="F2AA70"/>
                </a:solidFill>
                <a:latin typeface="Arial"/>
                <a:ea typeface="Arial"/>
                <a:cs typeface="Arial"/>
              </a:defRPr>
            </a:lvl6pPr>
            <a:lvl7pPr algn="l">
              <a:defRPr sz="1425" b="1">
                <a:solidFill>
                  <a:srgbClr val="F2AA70"/>
                </a:solidFill>
                <a:latin typeface="Arial"/>
                <a:ea typeface="Arial"/>
                <a:cs typeface="Arial"/>
              </a:defRPr>
            </a:lvl7pPr>
            <a:lvl8pPr algn="l">
              <a:defRPr sz="1425" b="1">
                <a:solidFill>
                  <a:srgbClr val="F2AA70"/>
                </a:solidFill>
                <a:latin typeface="Arial"/>
                <a:ea typeface="Arial"/>
                <a:cs typeface="Arial"/>
              </a:defRPr>
            </a:lvl8pPr>
            <a:lvl9pPr algn="l">
              <a:defRPr sz="1425" b="1">
                <a:solidFill>
                  <a:srgbClr val="F2AA70"/>
                </a:solidFill>
                <a:latin typeface="Arial"/>
                <a:ea typeface="Arial"/>
                <a:cs typeface="Arial"/>
              </a:defRPr>
            </a:lvl9pPr>
          </a:lstStyle>
          <a:p xmlns:a="http://schemas.openxmlformats.org/drawingml/2006/main">
            <a:pPr algn="l">
              <a:defRPr sz="1425" b="1">
                <a:solidFill>
                  <a:srgbClr val="F2AA70"/>
                </a:solidFill>
                <a:latin typeface="Arial"/>
                <a:ea typeface="Arial"/>
                <a:cs typeface="Arial"/>
              </a:defRPr>
            </a:pPr>
            <a:r>
              <a:rPr sz="1425" b="1">
                <a:solidFill>
                  <a:srgbClr val="F2AA70"/>
                </a:solidFill>
                <a:latin typeface="Arial"/>
                <a:ea typeface="Arial"/>
                <a:cs typeface="Arial"/>
              </a:rPr>
              <a:t>OUR ANSWER</a:t>
            </a:r>
          </a:p>
        </p:txBody>
      </p:sp>
      <p:sp>
        <p:nvSpPr>
          <p:cNvPr id="2" name="Slide title">
            <a:extLst xmlns:a="http://schemas.openxmlformats.org/drawingml/2006/main">
              <a:ext uri="{FF2B5EF4-FFF2-40B4-BE49-F238E27FC236}">
                <a16:creationId xmlns:a16="http://schemas.microsoft.com/office/drawing/2014/main" id="{5B6C5C46-44BC-4E4D-B77F-D6587B0FA481}"/>
              </a:ext>
            </a:extLst>
          </p:cNvPr>
          <p:cNvSpPr>
            <a:spLocks xmlns:a="http://schemas.openxmlformats.org/drawingml/2006/main" noGrp="1"/>
          </p:cNvSpPr>
          <p:nvPr/>
        </p:nvSpPr>
        <p:spPr>
          <a:xfrm xmlns:a="http://schemas.openxmlformats.org/drawingml/2006/main">
            <a:off x="609600" y="1028700"/>
            <a:ext cx="1095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FFFFF"/>
                </a:solidFill>
                <a:latin typeface="Arial"/>
                <a:ea typeface="Arial"/>
                <a:cs typeface="Arial"/>
              </a:defRPr>
            </a:defPPr>
            <a:lvl1pPr algn="l">
              <a:defRPr sz="3975" b="1">
                <a:solidFill>
                  <a:srgbClr val="FFFFFF"/>
                </a:solidFill>
                <a:latin typeface="Arial"/>
                <a:ea typeface="Arial"/>
                <a:cs typeface="Arial"/>
              </a:defRPr>
            </a:lvl1pPr>
            <a:lvl2pPr algn="l">
              <a:defRPr sz="3975" b="1">
                <a:solidFill>
                  <a:srgbClr val="FFFFFF"/>
                </a:solidFill>
                <a:latin typeface="Arial"/>
                <a:ea typeface="Arial"/>
                <a:cs typeface="Arial"/>
              </a:defRPr>
            </a:lvl2pPr>
            <a:lvl3pPr algn="l">
              <a:defRPr sz="3975" b="1">
                <a:solidFill>
                  <a:srgbClr val="FFFFFF"/>
                </a:solidFill>
                <a:latin typeface="Arial"/>
                <a:ea typeface="Arial"/>
                <a:cs typeface="Arial"/>
              </a:defRPr>
            </a:lvl3pPr>
            <a:lvl4pPr algn="l">
              <a:defRPr sz="3975" b="1">
                <a:solidFill>
                  <a:srgbClr val="FFFFFF"/>
                </a:solidFill>
                <a:latin typeface="Arial"/>
                <a:ea typeface="Arial"/>
                <a:cs typeface="Arial"/>
              </a:defRPr>
            </a:lvl4pPr>
            <a:lvl5pPr algn="l">
              <a:defRPr sz="3975" b="1">
                <a:solidFill>
                  <a:srgbClr val="FFFFFF"/>
                </a:solidFill>
                <a:latin typeface="Arial"/>
                <a:ea typeface="Arial"/>
                <a:cs typeface="Arial"/>
              </a:defRPr>
            </a:lvl5pPr>
            <a:lvl6pPr algn="l">
              <a:defRPr sz="3975" b="1">
                <a:solidFill>
                  <a:srgbClr val="FFFFFF"/>
                </a:solidFill>
                <a:latin typeface="Arial"/>
                <a:ea typeface="Arial"/>
                <a:cs typeface="Arial"/>
              </a:defRPr>
            </a:lvl6pPr>
            <a:lvl7pPr algn="l">
              <a:defRPr sz="3975" b="1">
                <a:solidFill>
                  <a:srgbClr val="FFFFFF"/>
                </a:solidFill>
                <a:latin typeface="Arial"/>
                <a:ea typeface="Arial"/>
                <a:cs typeface="Arial"/>
              </a:defRPr>
            </a:lvl7pPr>
            <a:lvl8pPr algn="l">
              <a:defRPr sz="3975" b="1">
                <a:solidFill>
                  <a:srgbClr val="FFFFFF"/>
                </a:solidFill>
                <a:latin typeface="Arial"/>
                <a:ea typeface="Arial"/>
                <a:cs typeface="Arial"/>
              </a:defRPr>
            </a:lvl8pPr>
            <a:lvl9pPr algn="l">
              <a:defRPr sz="3975" b="1">
                <a:solidFill>
                  <a:srgbClr val="FFFFFF"/>
                </a:solidFill>
                <a:latin typeface="Arial"/>
                <a:ea typeface="Arial"/>
                <a:cs typeface="Arial"/>
              </a:defRPr>
            </a:lvl9pPr>
          </a:lstStyle>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More replanning did not give</a:t>
            </a:r>
          </a:p>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the highest observed success</a:t>
            </a:r>
          </a:p>
        </p:txBody>
      </p:sp>
      <p:graphicFrame>
        <p:nvGraphicFramePr>
          <p:cNvPr id="3" name="">
            <a:extLst xmlns:a="http://schemas.openxmlformats.org/drawingml/2006/main">
              <a:ext uri="{FF2B5EF4-FFF2-40B4-BE49-F238E27FC236}">
                <a16:creationId xmlns:a16="http://schemas.microsoft.com/office/drawing/2014/main" id="{2040DC82-0AEA-4316-BCA4-A0B9E5AA8DEE}"/>
              </a:ext>
            </a:extLst>
          </p:cNvPr>
          <p:cNvGraphicFramePr/>
          <p:nvPr/>
        </p:nvGraphicFramePr>
        <p:xfrm>
          <a:off xmlns:a="http://schemas.openxmlformats.org/drawingml/2006/main" x="609600" y="2781300"/>
          <a:ext xmlns:a="http://schemas.openxmlformats.org/drawingml/2006/main" cx="10972800" cy="2286000"/>
        </p:xfrm>
        <a:graphic xmlns:a="http://schemas.openxmlformats.org/drawingml/2006/main">
          <a:graphicData uri="http://schemas.openxmlformats.org/drawingml/2006/table">
            <a:tbl>
              <a:tblPr firstRow="0" bandRow="0"/>
              <a:tblGrid>
                <a:gridCol w="4953000"/>
                <a:gridCol w="2381250"/>
                <a:gridCol w="3638550"/>
              </a:tblGrid>
              <a:tr h="571500">
                <a:tc>
                  <a:txBody>
                    <a:bodyPr lIns="114300" tIns="76200" rIns="114300" bIns="76200"/>
                    <a:lstStyle/>
                    <a:p>
                      <a:r>
                        <a:rPr sz="2175" b="1">
                          <a:solidFill>
                            <a:srgbClr val="C0D1DF"/>
                          </a:solidFill>
                          <a:latin typeface="Arial"/>
                          <a:ea typeface="Arial"/>
                          <a:cs typeface="Arial"/>
                        </a:rPr>
                        <a:t>Execution rule</a:t>
                      </a:r>
                    </a:p>
                  </a:txBody>
                  <a:tcPr marL="91440" marR="91440" marT="45720" marB="45720" anchor="ctr">
                    <a:lnL w="0">
                      <a:solidFill>
                        <a:srgbClr val="11283F"/>
                      </a:solidFill>
                    </a:lnL>
                    <a:lnR w="0">
                      <a:solidFill>
                        <a:srgbClr val="11283F"/>
                      </a:solidFill>
                    </a:lnR>
                    <a:lnT w="0">
                      <a:solidFill>
                        <a:srgbClr val="11283F"/>
                      </a:solidFill>
                    </a:lnT>
                    <a:lnB w="0">
                      <a:solidFill>
                        <a:srgbClr val="11283F"/>
                      </a:solidFill>
                    </a:lnB>
                    <a:solidFill>
                      <a:srgbClr val="11283F"/>
                    </a:solidFill>
                  </a:tcPr>
                </a:tc>
                <a:tc>
                  <a:txBody>
                    <a:bodyPr lIns="114300" tIns="76200" rIns="114300" bIns="76200"/>
                    <a:lstStyle/>
                    <a:p>
                      <a:r>
                        <a:rPr sz="2175" b="1">
                          <a:solidFill>
                            <a:srgbClr val="C0D1DF"/>
                          </a:solidFill>
                          <a:latin typeface="Arial"/>
                          <a:ea typeface="Arial"/>
                          <a:cs typeface="Arial"/>
                        </a:rPr>
                        <a:t>Successes</a:t>
                      </a:r>
                    </a:p>
                  </a:txBody>
                  <a:tcPr marL="91440" marR="91440" marT="45720" marB="45720" anchor="ctr">
                    <a:lnR w="0">
                      <a:solidFill>
                        <a:srgbClr val="11283F"/>
                      </a:solidFill>
                    </a:lnR>
                    <a:lnT w="0">
                      <a:solidFill>
                        <a:srgbClr val="11283F"/>
                      </a:solidFill>
                    </a:lnT>
                    <a:lnB w="0">
                      <a:solidFill>
                        <a:srgbClr val="11283F"/>
                      </a:solidFill>
                    </a:lnB>
                    <a:solidFill>
                      <a:srgbClr val="11283F"/>
                    </a:solidFill>
                  </a:tcPr>
                </a:tc>
                <a:tc>
                  <a:txBody>
                    <a:bodyPr lIns="114300" tIns="76200" rIns="114300" bIns="76200"/>
                    <a:lstStyle/>
                    <a:p>
                      <a:r>
                        <a:rPr sz="2175" b="1">
                          <a:solidFill>
                            <a:srgbClr val="C0D1DF"/>
                          </a:solidFill>
                          <a:latin typeface="Arial"/>
                          <a:ea typeface="Arial"/>
                          <a:cs typeface="Arial"/>
                        </a:rPr>
                        <a:t>Mean calls / episode</a:t>
                      </a:r>
                    </a:p>
                  </a:txBody>
                  <a:tcPr marL="91440" marR="91440" marT="45720" marB="45720" anchor="ctr">
                    <a:lnR w="0">
                      <a:solidFill>
                        <a:srgbClr val="11283F"/>
                      </a:solidFill>
                    </a:lnR>
                    <a:lnT w="0">
                      <a:solidFill>
                        <a:srgbClr val="11283F"/>
                      </a:solidFill>
                    </a:lnT>
                    <a:lnB w="0">
                      <a:solidFill>
                        <a:srgbClr val="11283F"/>
                      </a:solidFill>
                    </a:lnB>
                    <a:solidFill>
                      <a:srgbClr val="11283F"/>
                    </a:solidFill>
                  </a:tcPr>
                </a:tc>
              </a:tr>
              <a:tr h="571500">
                <a:tc>
                  <a:txBody>
                    <a:bodyPr lIns="114300" tIns="76200" rIns="114300" bIns="76200"/>
                    <a:lstStyle/>
                    <a:p>
                      <a:r>
                        <a:rPr sz="2325" b="0">
                          <a:solidFill>
                            <a:srgbClr val="FFFFFF"/>
                          </a:solidFill>
                          <a:latin typeface="Arial"/>
                          <a:ea typeface="Arial"/>
                          <a:cs typeface="Arial"/>
                        </a:rPr>
                        <a:t>Fixed K=1</a:t>
                      </a:r>
                    </a:p>
                  </a:txBody>
                  <a:tcPr marL="91440" marR="91440" marT="45720" marB="45720" anchor="ctr">
                    <a:lnL w="0">
                      <a:solidFill>
                        <a:srgbClr val="11283F"/>
                      </a:solidFill>
                    </a:lnL>
                    <a:lnR w="0">
                      <a:solidFill>
                        <a:srgbClr val="11283F"/>
                      </a:solidFill>
                    </a:lnR>
                    <a:lnB w="0">
                      <a:solidFill>
                        <a:srgbClr val="11283F"/>
                      </a:solidFill>
                    </a:lnB>
                    <a:solidFill>
                      <a:srgbClr val="11283F"/>
                    </a:solidFill>
                  </a:tcPr>
                </a:tc>
                <a:tc>
                  <a:txBody>
                    <a:bodyPr lIns="114300" tIns="76200" rIns="114300" bIns="76200"/>
                    <a:lstStyle/>
                    <a:p>
                      <a:r>
                        <a:rPr sz="2325" b="0">
                          <a:solidFill>
                            <a:srgbClr val="FFFFFF"/>
                          </a:solidFill>
                          <a:latin typeface="Arial"/>
                          <a:ea typeface="Arial"/>
                          <a:cs typeface="Arial"/>
                        </a:rPr>
                        <a:t>23/30</a:t>
                      </a:r>
                    </a:p>
                  </a:txBody>
                  <a:tcPr marL="91440" marR="91440" marT="45720" marB="45720" anchor="ctr">
                    <a:lnR w="0">
                      <a:solidFill>
                        <a:srgbClr val="11283F"/>
                      </a:solidFill>
                    </a:lnR>
                    <a:lnB w="0">
                      <a:solidFill>
                        <a:srgbClr val="11283F"/>
                      </a:solidFill>
                    </a:lnB>
                    <a:solidFill>
                      <a:srgbClr val="11283F"/>
                    </a:solidFill>
                  </a:tcPr>
                </a:tc>
                <a:tc>
                  <a:txBody>
                    <a:bodyPr lIns="114300" tIns="76200" rIns="114300" bIns="76200"/>
                    <a:lstStyle/>
                    <a:p>
                      <a:r>
                        <a:rPr sz="2325" b="0">
                          <a:solidFill>
                            <a:srgbClr val="FFFFFF"/>
                          </a:solidFill>
                          <a:latin typeface="Arial"/>
                          <a:ea typeface="Arial"/>
                          <a:cs typeface="Arial"/>
                        </a:rPr>
                        <a:t>162.0</a:t>
                      </a:r>
                    </a:p>
                  </a:txBody>
                  <a:tcPr marL="91440" marR="91440" marT="45720" marB="45720" anchor="ctr">
                    <a:lnR w="0">
                      <a:solidFill>
                        <a:srgbClr val="11283F"/>
                      </a:solidFill>
                    </a:lnR>
                    <a:lnB w="0">
                      <a:solidFill>
                        <a:srgbClr val="11283F"/>
                      </a:solidFill>
                    </a:lnB>
                    <a:solidFill>
                      <a:srgbClr val="11283F"/>
                    </a:solidFill>
                  </a:tcPr>
                </a:tc>
              </a:tr>
              <a:tr h="571500">
                <a:tc>
                  <a:txBody>
                    <a:bodyPr lIns="114300" tIns="76200" rIns="114300" bIns="76200"/>
                    <a:lstStyle/>
                    <a:p>
                      <a:r>
                        <a:rPr sz="2325" b="0">
                          <a:solidFill>
                            <a:srgbClr val="FFFFFF"/>
                          </a:solidFill>
                          <a:latin typeface="Arial"/>
                          <a:ea typeface="Arial"/>
                          <a:cs typeface="Arial"/>
                        </a:rPr>
                        <a:t>Fixed K=5</a:t>
                      </a:r>
                    </a:p>
                  </a:txBody>
                  <a:tcPr marL="91440" marR="91440" marT="45720" marB="45720" anchor="ctr">
                    <a:lnL w="0">
                      <a:solidFill>
                        <a:srgbClr val="11283F"/>
                      </a:solidFill>
                    </a:lnL>
                    <a:lnR w="0">
                      <a:solidFill>
                        <a:srgbClr val="11283F"/>
                      </a:solidFill>
                    </a:lnR>
                    <a:lnB w="0">
                      <a:solidFill>
                        <a:srgbClr val="11283F"/>
                      </a:solidFill>
                    </a:lnB>
                    <a:solidFill>
                      <a:srgbClr val="11283F"/>
                    </a:solidFill>
                  </a:tcPr>
                </a:tc>
                <a:tc>
                  <a:txBody>
                    <a:bodyPr lIns="114300" tIns="76200" rIns="114300" bIns="76200"/>
                    <a:lstStyle/>
                    <a:p>
                      <a:r>
                        <a:rPr sz="2325" b="0">
                          <a:solidFill>
                            <a:srgbClr val="FFFFFF"/>
                          </a:solidFill>
                          <a:latin typeface="Arial"/>
                          <a:ea typeface="Arial"/>
                          <a:cs typeface="Arial"/>
                        </a:rPr>
                        <a:t>26/30</a:t>
                      </a:r>
                    </a:p>
                  </a:txBody>
                  <a:tcPr marL="91440" marR="91440" marT="45720" marB="45720" anchor="ctr">
                    <a:lnR w="0">
                      <a:solidFill>
                        <a:srgbClr val="11283F"/>
                      </a:solidFill>
                    </a:lnR>
                    <a:lnB w="0">
                      <a:solidFill>
                        <a:srgbClr val="11283F"/>
                      </a:solidFill>
                    </a:lnB>
                    <a:solidFill>
                      <a:srgbClr val="11283F"/>
                    </a:solidFill>
                  </a:tcPr>
                </a:tc>
                <a:tc>
                  <a:txBody>
                    <a:bodyPr lIns="114300" tIns="76200" rIns="114300" bIns="76200"/>
                    <a:lstStyle/>
                    <a:p>
                      <a:r>
                        <a:rPr sz="2325" b="0">
                          <a:solidFill>
                            <a:srgbClr val="FFFFFF"/>
                          </a:solidFill>
                          <a:latin typeface="Arial"/>
                          <a:ea typeface="Arial"/>
                          <a:cs typeface="Arial"/>
                        </a:rPr>
                        <a:t>31.3</a:t>
                      </a:r>
                    </a:p>
                  </a:txBody>
                  <a:tcPr marL="91440" marR="91440" marT="45720" marB="45720" anchor="ctr">
                    <a:lnR w="0">
                      <a:solidFill>
                        <a:srgbClr val="11283F"/>
                      </a:solidFill>
                    </a:lnR>
                    <a:lnB w="0">
                      <a:solidFill>
                        <a:srgbClr val="11283F"/>
                      </a:solidFill>
                    </a:lnB>
                    <a:solidFill>
                      <a:srgbClr val="11283F"/>
                    </a:solidFill>
                  </a:tcPr>
                </a:tc>
              </a:tr>
              <a:tr h="571500">
                <a:tc>
                  <a:txBody>
                    <a:bodyPr lIns="114300" tIns="76200" rIns="114300" bIns="76200"/>
                    <a:lstStyle/>
                    <a:p>
                      <a:r>
                        <a:rPr sz="2325" b="1">
                          <a:solidFill>
                            <a:srgbClr val="F2AA70"/>
                          </a:solidFill>
                          <a:latin typeface="Arial"/>
                          <a:ea typeface="Arial"/>
                          <a:cs typeface="Arial"/>
                        </a:rPr>
                        <a:t>DVAC C=50</a:t>
                      </a:r>
                    </a:p>
                  </a:txBody>
                  <a:tcPr marL="91440" marR="91440" marT="45720" marB="45720" anchor="ctr">
                    <a:lnL w="0">
                      <a:solidFill>
                        <a:srgbClr val="11283F"/>
                      </a:solidFill>
                    </a:lnL>
                    <a:lnR w="0">
                      <a:solidFill>
                        <a:srgbClr val="11283F"/>
                      </a:solidFill>
                    </a:lnR>
                    <a:lnB w="0">
                      <a:solidFill>
                        <a:srgbClr val="11283F"/>
                      </a:solidFill>
                    </a:lnB>
                    <a:solidFill>
                      <a:srgbClr val="11283F"/>
                    </a:solidFill>
                  </a:tcPr>
                </a:tc>
                <a:tc>
                  <a:txBody>
                    <a:bodyPr lIns="114300" tIns="76200" rIns="114300" bIns="76200"/>
                    <a:lstStyle/>
                    <a:p>
                      <a:r>
                        <a:rPr sz="2325" b="1">
                          <a:solidFill>
                            <a:srgbClr val="F2AA70"/>
                          </a:solidFill>
                          <a:latin typeface="Arial"/>
                          <a:ea typeface="Arial"/>
                          <a:cs typeface="Arial"/>
                        </a:rPr>
                        <a:t>25/30</a:t>
                      </a:r>
                    </a:p>
                  </a:txBody>
                  <a:tcPr marL="91440" marR="91440" marT="45720" marB="45720" anchor="ctr">
                    <a:lnR w="0">
                      <a:solidFill>
                        <a:srgbClr val="11283F"/>
                      </a:solidFill>
                    </a:lnR>
                    <a:lnB w="0">
                      <a:solidFill>
                        <a:srgbClr val="11283F"/>
                      </a:solidFill>
                    </a:lnB>
                    <a:solidFill>
                      <a:srgbClr val="11283F"/>
                    </a:solidFill>
                  </a:tcPr>
                </a:tc>
                <a:tc>
                  <a:txBody>
                    <a:bodyPr lIns="114300" tIns="76200" rIns="114300" bIns="76200"/>
                    <a:lstStyle/>
                    <a:p>
                      <a:r>
                        <a:rPr sz="2325" b="1">
                          <a:solidFill>
                            <a:srgbClr val="F2AA70"/>
                          </a:solidFill>
                          <a:latin typeface="Arial"/>
                          <a:ea typeface="Arial"/>
                          <a:cs typeface="Arial"/>
                        </a:rPr>
                        <a:t>9.5</a:t>
                      </a:r>
                    </a:p>
                  </a:txBody>
                  <a:tcPr marL="91440" marR="91440" marT="45720" marB="45720" anchor="ctr">
                    <a:lnR w="0">
                      <a:solidFill>
                        <a:srgbClr val="11283F"/>
                      </a:solidFill>
                    </a:lnR>
                    <a:lnB w="0">
                      <a:solidFill>
                        <a:srgbClr val="11283F"/>
                      </a:solidFill>
                    </a:lnB>
                    <a:solidFill>
                      <a:srgbClr val="11283F"/>
                    </a:solidFill>
                  </a:tcPr>
                </a:tc>
              </a:tr>
            </a:tbl>
          </a:graphicData>
        </a:graphic>
      </p:graphicFrame>
      <p:sp>
        <p:nvSpPr>
          <p:cNvPr id="4" name="DVAC C=50 used about 70% fewer calls than K=5.">
            <a:extLst xmlns:a="http://schemas.openxmlformats.org/drawingml/2006/main">
              <a:ext uri="{FF2B5EF4-FFF2-40B4-BE49-F238E27FC236}">
                <a16:creationId xmlns:a16="http://schemas.microsoft.com/office/drawing/2014/main" id="{C2DE370F-E6F2-48DB-895C-CCC9A71BC832}"/>
              </a:ext>
            </a:extLst>
          </p:cNvPr>
          <p:cNvSpPr>
            <a:spLocks xmlns:a="http://schemas.openxmlformats.org/drawingml/2006/main" noGrp="1"/>
          </p:cNvSpPr>
          <p:nvPr/>
        </p:nvSpPr>
        <p:spPr>
          <a:xfrm xmlns:a="http://schemas.openxmlformats.org/drawingml/2006/main">
            <a:off x="609600" y="53721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DVAC C=50 used about 70% fewer calls than K=5.</a:t>
            </a:r>
          </a:p>
        </p:txBody>
      </p:sp>
      <p:sp>
        <p:nvSpPr>
          <p:cNvPr id="5" name="25 versus 26 successes does not establish equal ">
            <a:extLst xmlns:a="http://schemas.openxmlformats.org/drawingml/2006/main">
              <a:ext uri="{FF2B5EF4-FFF2-40B4-BE49-F238E27FC236}">
                <a16:creationId xmlns:a16="http://schemas.microsoft.com/office/drawing/2014/main" id="{47C0428A-3B5D-489E-A531-548A2274DD9B}"/>
              </a:ext>
            </a:extLst>
          </p:cNvPr>
          <p:cNvSpPr>
            <a:spLocks xmlns:a="http://schemas.openxmlformats.org/drawingml/2006/main" noGrp="1"/>
          </p:cNvSpPr>
          <p:nvPr/>
        </p:nvSpPr>
        <p:spPr>
          <a:xfrm xmlns:a="http://schemas.openxmlformats.org/drawingml/2006/main">
            <a:off x="609600" y="58293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D1DF"/>
                </a:solidFill>
                <a:latin typeface="Arial"/>
                <a:ea typeface="Arial"/>
                <a:cs typeface="Arial"/>
              </a:defRPr>
            </a:defPPr>
            <a:lvl1pPr algn="l">
              <a:defRPr sz="1725" b="0">
                <a:solidFill>
                  <a:srgbClr val="C0D1DF"/>
                </a:solidFill>
                <a:latin typeface="Arial"/>
                <a:ea typeface="Arial"/>
                <a:cs typeface="Arial"/>
              </a:defRPr>
            </a:lvl1pPr>
            <a:lvl2pPr algn="l">
              <a:defRPr sz="1725" b="0">
                <a:solidFill>
                  <a:srgbClr val="C0D1DF"/>
                </a:solidFill>
                <a:latin typeface="Arial"/>
                <a:ea typeface="Arial"/>
                <a:cs typeface="Arial"/>
              </a:defRPr>
            </a:lvl2pPr>
            <a:lvl3pPr algn="l">
              <a:defRPr sz="1725" b="0">
                <a:solidFill>
                  <a:srgbClr val="C0D1DF"/>
                </a:solidFill>
                <a:latin typeface="Arial"/>
                <a:ea typeface="Arial"/>
                <a:cs typeface="Arial"/>
              </a:defRPr>
            </a:lvl3pPr>
            <a:lvl4pPr algn="l">
              <a:defRPr sz="1725" b="0">
                <a:solidFill>
                  <a:srgbClr val="C0D1DF"/>
                </a:solidFill>
                <a:latin typeface="Arial"/>
                <a:ea typeface="Arial"/>
                <a:cs typeface="Arial"/>
              </a:defRPr>
            </a:lvl4pPr>
            <a:lvl5pPr algn="l">
              <a:defRPr sz="1725" b="0">
                <a:solidFill>
                  <a:srgbClr val="C0D1DF"/>
                </a:solidFill>
                <a:latin typeface="Arial"/>
                <a:ea typeface="Arial"/>
                <a:cs typeface="Arial"/>
              </a:defRPr>
            </a:lvl5pPr>
            <a:lvl6pPr algn="l">
              <a:defRPr sz="1725" b="0">
                <a:solidFill>
                  <a:srgbClr val="C0D1DF"/>
                </a:solidFill>
                <a:latin typeface="Arial"/>
                <a:ea typeface="Arial"/>
                <a:cs typeface="Arial"/>
              </a:defRPr>
            </a:lvl6pPr>
            <a:lvl7pPr algn="l">
              <a:defRPr sz="1725" b="0">
                <a:solidFill>
                  <a:srgbClr val="C0D1DF"/>
                </a:solidFill>
                <a:latin typeface="Arial"/>
                <a:ea typeface="Arial"/>
                <a:cs typeface="Arial"/>
              </a:defRPr>
            </a:lvl7pPr>
            <a:lvl8pPr algn="l">
              <a:defRPr sz="1725" b="0">
                <a:solidFill>
                  <a:srgbClr val="C0D1DF"/>
                </a:solidFill>
                <a:latin typeface="Arial"/>
                <a:ea typeface="Arial"/>
                <a:cs typeface="Arial"/>
              </a:defRPr>
            </a:lvl8pPr>
            <a:lvl9pPr algn="l">
              <a:defRPr sz="1725" b="0">
                <a:solidFill>
                  <a:srgbClr val="C0D1DF"/>
                </a:solidFill>
                <a:latin typeface="Arial"/>
                <a:ea typeface="Arial"/>
                <a:cs typeface="Arial"/>
              </a:defRPr>
            </a:lvl9pPr>
          </a:lstStyle>
          <a:p xmlns:a="http://schemas.openxmlformats.org/drawingml/2006/main">
            <a:pPr algn="l">
              <a:defRPr sz="1725" b="0">
                <a:solidFill>
                  <a:srgbClr val="C0D1DF"/>
                </a:solidFill>
                <a:latin typeface="Arial"/>
                <a:ea typeface="Arial"/>
                <a:cs typeface="Arial"/>
              </a:defRPr>
            </a:pPr>
            <a:r>
              <a:rPr sz="1725" b="0">
                <a:solidFill>
                  <a:srgbClr val="C0D1DF"/>
                </a:solidFill>
                <a:latin typeface="Arial"/>
                <a:ea typeface="Arial"/>
                <a:cs typeface="Arial"/>
              </a:rPr>
              <a:t>25 versus 26 successes does not establish equal reliability.</a:t>
            </a:r>
          </a:p>
        </p:txBody>
      </p:sp>
      <p:sp>
        <p:nvSpPr>
          <p:cNvPr id="6" name="Scope: 3 tasks, 30 starts, one policy seed. Simu">
            <a:extLst xmlns:a="http://schemas.openxmlformats.org/drawingml/2006/main">
              <a:ext uri="{FF2B5EF4-FFF2-40B4-BE49-F238E27FC236}">
                <a16:creationId xmlns:a16="http://schemas.microsoft.com/office/drawing/2014/main" id="{95279C47-DE59-460B-800E-62A0799A85C0}"/>
              </a:ext>
            </a:extLst>
          </p:cNvPr>
          <p:cNvSpPr>
            <a:spLocks xmlns:a="http://schemas.openxmlformats.org/drawingml/2006/main" noGrp="1"/>
          </p:cNvSpPr>
          <p:nvPr/>
        </p:nvSpPr>
        <p:spPr>
          <a:xfrm xmlns:a="http://schemas.openxmlformats.org/drawingml/2006/main">
            <a:off x="609600" y="6362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C0D1DF"/>
                </a:solidFill>
                <a:latin typeface="Arial"/>
                <a:ea typeface="Arial"/>
                <a:cs typeface="Arial"/>
              </a:defRPr>
            </a:defPPr>
            <a:lvl1pPr algn="l">
              <a:defRPr sz="1425" b="0">
                <a:solidFill>
                  <a:srgbClr val="C0D1DF"/>
                </a:solidFill>
                <a:latin typeface="Arial"/>
                <a:ea typeface="Arial"/>
                <a:cs typeface="Arial"/>
              </a:defRPr>
            </a:lvl1pPr>
            <a:lvl2pPr algn="l">
              <a:defRPr sz="1425" b="0">
                <a:solidFill>
                  <a:srgbClr val="C0D1DF"/>
                </a:solidFill>
                <a:latin typeface="Arial"/>
                <a:ea typeface="Arial"/>
                <a:cs typeface="Arial"/>
              </a:defRPr>
            </a:lvl2pPr>
            <a:lvl3pPr algn="l">
              <a:defRPr sz="1425" b="0">
                <a:solidFill>
                  <a:srgbClr val="C0D1DF"/>
                </a:solidFill>
                <a:latin typeface="Arial"/>
                <a:ea typeface="Arial"/>
                <a:cs typeface="Arial"/>
              </a:defRPr>
            </a:lvl3pPr>
            <a:lvl4pPr algn="l">
              <a:defRPr sz="1425" b="0">
                <a:solidFill>
                  <a:srgbClr val="C0D1DF"/>
                </a:solidFill>
                <a:latin typeface="Arial"/>
                <a:ea typeface="Arial"/>
                <a:cs typeface="Arial"/>
              </a:defRPr>
            </a:lvl4pPr>
            <a:lvl5pPr algn="l">
              <a:defRPr sz="1425" b="0">
                <a:solidFill>
                  <a:srgbClr val="C0D1DF"/>
                </a:solidFill>
                <a:latin typeface="Arial"/>
                <a:ea typeface="Arial"/>
                <a:cs typeface="Arial"/>
              </a:defRPr>
            </a:lvl5pPr>
            <a:lvl6pPr algn="l">
              <a:defRPr sz="1425" b="0">
                <a:solidFill>
                  <a:srgbClr val="C0D1DF"/>
                </a:solidFill>
                <a:latin typeface="Arial"/>
                <a:ea typeface="Arial"/>
                <a:cs typeface="Arial"/>
              </a:defRPr>
            </a:lvl6pPr>
            <a:lvl7pPr algn="l">
              <a:defRPr sz="1425" b="0">
                <a:solidFill>
                  <a:srgbClr val="C0D1DF"/>
                </a:solidFill>
                <a:latin typeface="Arial"/>
                <a:ea typeface="Arial"/>
                <a:cs typeface="Arial"/>
              </a:defRPr>
            </a:lvl7pPr>
            <a:lvl8pPr algn="l">
              <a:defRPr sz="1425" b="0">
                <a:solidFill>
                  <a:srgbClr val="C0D1DF"/>
                </a:solidFill>
                <a:latin typeface="Arial"/>
                <a:ea typeface="Arial"/>
                <a:cs typeface="Arial"/>
              </a:defRPr>
            </a:lvl8pPr>
            <a:lvl9pPr algn="l">
              <a:defRPr sz="1425" b="0">
                <a:solidFill>
                  <a:srgbClr val="C0D1DF"/>
                </a:solidFill>
                <a:latin typeface="Arial"/>
                <a:ea typeface="Arial"/>
                <a:cs typeface="Arial"/>
              </a:defRPr>
            </a:lvl9pPr>
          </a:lstStyle>
          <a:p xmlns:a="http://schemas.openxmlformats.org/drawingml/2006/main">
            <a:pPr algn="l">
              <a:defRPr sz="1425" b="0">
                <a:solidFill>
                  <a:srgbClr val="C0D1DF"/>
                </a:solidFill>
                <a:latin typeface="Arial"/>
                <a:ea typeface="Arial"/>
                <a:cs typeface="Arial"/>
              </a:defRPr>
            </a:pPr>
            <a:r>
              <a:rPr sz="1425" b="0">
                <a:solidFill>
                  <a:srgbClr val="C0D1DF"/>
                </a:solidFill>
                <a:latin typeface="Arial"/>
                <a:ea typeface="Arial"/>
                <a:cs typeface="Arial"/>
              </a:rPr>
              <a:t>Scope: 3 tasks, 30 starts, one policy seed. Simulation pauses during inference.</a:t>
            </a:r>
          </a:p>
        </p:txBody>
      </p:sp>
    </p:spTree>
    <p:extLst>
      <p:ext uri="{BB962C8B-B14F-4D97-AF65-F5344CB8AC3E}">
        <p14:creationId xmlns:p14="http://schemas.microsoft.com/office/powerpoint/2010/main" val="1981697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18</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2026-10-24T23:54:28.0730000Z</dcterms:created>
  <dcterms:modified xsi:type="dcterms:W3CDTF">2026-10-24T23:54:28.0730000Z</dcterms:modified>
</coreProperties>
</file>